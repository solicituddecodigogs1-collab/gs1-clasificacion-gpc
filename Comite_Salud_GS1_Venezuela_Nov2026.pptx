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s1ve.or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583680"/>
            <a:ext cx="11871655" cy="27432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26334"/>
                </a:solidFill>
                <a:latin typeface="Arial"/>
              </a:rPr>
              <a:t>GS1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515600" cy="10972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017520"/>
            <a:ext cx="1371600" cy="54864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Rastreo Inteligente con IA, Seguridad del Paciente y Eficiencia en la Cadena de Suministro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rial"/>
              </a:rPr>
              <a:t>5 Noviembre, 2026 | 8:30 am - 10:00 am | Oficina GS1 Venezuela, Los Ruices, Edif. Quorum, Piso 1, Ofic.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26334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743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002C6C"/>
                </a:solidFill>
                <a:latin typeface="Arial"/>
              </a:rPr>
              <a:t>El sector salud venezolano necesita un lenguaje común para transformar su cadena de suministro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36576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1094415" cy="18288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440680" cy="21488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5440680" cy="73152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057400"/>
            <a:ext cx="548640" cy="548640"/>
          </a:xfrm>
          <a:prstGeom prst="ellipse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2C6C"/>
                </a:solidFill>
                <a:latin typeface="Arial"/>
              </a:rPr>
              <a:t>Rastreo Inteligente: IA Aplicada a la Trazabilidad Médica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Catálogos fragmentados entre laboratorios, droguerías y clínicas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IA para homologar y anticipar fallas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783080"/>
            <a:ext cx="5440680" cy="21488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783080"/>
            <a:ext cx="5440680" cy="73152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73368" y="2057400"/>
            <a:ext cx="548640" cy="548640"/>
          </a:xfrm>
          <a:prstGeom prst="ellipse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96596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2C6C"/>
                </a:solidFill>
                <a:latin typeface="Arial"/>
              </a:rPr>
              <a:t>Seguridad del paciente, eficiencia y trazabilidad de medicamentos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2788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Control de caducidades y lotes en farmacias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Combate a ilícitos y falsificación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5440680" cy="21488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5440680" cy="73152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9768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2C6C"/>
                </a:solidFill>
                <a:latin typeface="Arial"/>
              </a:rPr>
              <a:t>GS1 News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120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Avances globales y locales de GS1 Venezuela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Códigos 2D y clasificación GPC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4114800"/>
            <a:ext cx="5440680" cy="21488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4114800"/>
            <a:ext cx="5440680" cy="73152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73368" y="4389120"/>
            <a:ext cx="548640" cy="548640"/>
          </a:xfrm>
          <a:prstGeom prst="ellipse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297680"/>
            <a:ext cx="438912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2C6C"/>
                </a:solidFill>
                <a:latin typeface="Arial"/>
              </a:rPr>
              <a:t>Ronda Abierta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51206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Prioridades del comité para 2027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Pilotos e interoperabilidad entre actores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26334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743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002C6C"/>
                </a:solidFill>
                <a:latin typeface="Arial"/>
              </a:rPr>
              <a:t>La IA sobre GTIN, GLN y GPC automatiza la homologación de catálogos y anticipa fallas de abastecimiento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36576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1094415" cy="18288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137160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3566160" cy="73152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92807"/>
            <a:ext cx="3383279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00857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383279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002C6C"/>
                </a:solidFill>
                <a:latin typeface="Arial"/>
              </a:rPr>
              <a:t>Estándares integrados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383279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GTIN · GLN · GPC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783080"/>
            <a:ext cx="3566160" cy="137160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783080"/>
            <a:ext cx="3566160" cy="73152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7" y="1892807"/>
            <a:ext cx="3383279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F26334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468880"/>
            <a:ext cx="3383279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002C6C"/>
                </a:solidFill>
                <a:latin typeface="Arial"/>
              </a:rPr>
              <a:t>Maestro único de producto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7" y="2743200"/>
            <a:ext cx="3383279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Catálogo común entre actores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1783080"/>
            <a:ext cx="3566160" cy="137160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4152" y="1783080"/>
            <a:ext cx="3566160" cy="73152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1892807"/>
            <a:ext cx="3383279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00857A"/>
                </a:solidFill>
                <a:latin typeface="Arial"/>
              </a:rP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2468880"/>
            <a:ext cx="3383279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>
                <a:solidFill>
                  <a:srgbClr val="002C6C"/>
                </a:solidFill>
                <a:latin typeface="Arial"/>
              </a:rPr>
              <a:t>Monitoreo de lotes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743200"/>
            <a:ext cx="3383279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Alertas de vencimiento y frío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83280"/>
            <a:ext cx="5486400" cy="292608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83280"/>
            <a:ext cx="73152" cy="2926080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52120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857A"/>
                </a:solidFill>
                <a:latin typeface="Arial"/>
              </a:rPr>
              <a:t>Estandarización asistida por IA en bases de datos de SKUs farmacéuticos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Homologa descripciones entre laboratorios y droguerías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Asigna GPC y valida GTIN automáticamente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Detecta duplicados y atributos faltantes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Alimenta un maestro común de productos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3383280"/>
            <a:ext cx="5486400" cy="292608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3383280"/>
            <a:ext cx="73152" cy="2926080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474720"/>
            <a:ext cx="52120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6334"/>
                </a:solidFill>
                <a:latin typeface="Arial"/>
              </a:rPr>
              <a:t>Analítica predictiva de lotes y cadena de frío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0233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Anticipa quiebres de stock por lote y GLN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Alerta caducidades próximas antes del vencimiento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Vigila desviaciones de temperatura en tránsito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Prioriza redistribución entre sedes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26334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743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002C6C"/>
                </a:solidFill>
                <a:latin typeface="Arial"/>
              </a:rPr>
              <a:t>GS1 DataMatrix en hospitales y farmacias venezolanas protege al paciente y ordena la cadena de suministro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36576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1094415" cy="18288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2697480" cy="777240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GTIN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514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>
                <a:solidFill>
                  <a:srgbClr val="00A8E1"/>
                </a:solidFill>
                <a:latin typeface="Arial"/>
              </a:rPr>
              <a:t>Producto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783080"/>
            <a:ext cx="2697480" cy="777240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01368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LOTE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94560"/>
            <a:ext cx="2514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>
                <a:solidFill>
                  <a:srgbClr val="00A8E1"/>
                </a:solidFill>
                <a:latin typeface="Arial"/>
              </a:rPr>
              <a:t>Fabricación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2697480" cy="777240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801368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VENCIMIENTO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94560"/>
            <a:ext cx="2514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>
                <a:solidFill>
                  <a:srgbClr val="00A8E1"/>
                </a:solidFill>
                <a:latin typeface="Arial"/>
              </a:rPr>
              <a:t>Caducidad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1783080"/>
            <a:ext cx="2697480" cy="777240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01368"/>
            <a:ext cx="25146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94560"/>
            <a:ext cx="251460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0">
                <a:solidFill>
                  <a:srgbClr val="00A8E1"/>
                </a:solidFill>
                <a:latin typeface="Arial"/>
              </a:rPr>
              <a:t>Unidad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88920"/>
            <a:ext cx="3611880" cy="35204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88920"/>
            <a:ext cx="73152" cy="3520440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80360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857A"/>
                </a:solidFill>
                <a:latin typeface="Arial"/>
              </a:rPr>
              <a:t>Seguridad del Paciente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3337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Verifica producto correcto antes de administrar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Reduce errores de medicación en clínicas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Bloquea medicamentos vencidos en dispensación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788920"/>
            <a:ext cx="3611880" cy="35204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788920"/>
            <a:ext cx="73152" cy="3520440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880360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6334"/>
                </a:solidFill>
                <a:latin typeface="Arial"/>
              </a:rPr>
              <a:t>Eficiencia Logística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29000"/>
            <a:ext cx="3337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Gestión FEFO en droguerías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Mejora Fill Rate y OTIF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Inventarios precisos por lote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788920"/>
            <a:ext cx="3611880" cy="35204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788920"/>
            <a:ext cx="73152" cy="352044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880360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A8E1"/>
                </a:solidFill>
                <a:latin typeface="Arial"/>
              </a:rPr>
              <a:t>Trazabilidad Unitaria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429000"/>
            <a:ext cx="3337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Identifica cada unidad con serial único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Combate contrabando y falsificación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Agiliza retiros de lotes defectuosos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26334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743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002C6C"/>
                </a:solidFill>
                <a:latin typeface="Arial"/>
              </a:rPr>
              <a:t>NHS y ANMAT demuestran que la trazabilidad con estándares GS1 reduce riesgos y costos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36576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1094415" cy="18288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0916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2286000"/>
                <a:gridCol w="304495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Indicador</a:t>
                      </a:r>
                    </a:p>
                  </a:txBody>
                  <a:tcPr anchor="ctr">
                    <a:solidFill>
                      <a:srgbClr val="002C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Programa</a:t>
                      </a:r>
                    </a:p>
                  </a:txBody>
                  <a:tcPr anchor="ctr">
                    <a:solidFill>
                      <a:srgbClr val="002C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002C6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Lección para Venezuela</a:t>
                      </a:r>
                    </a:p>
                  </a:txBody>
                  <a:tcPr anchor="ctr">
                    <a:solidFill>
                      <a:srgbClr val="002C6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Retiro de lotes defectuosos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Scan4Safety, NHS (Reino Unido)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26334"/>
                          </a:solidFill>
                          <a:latin typeface="Arial"/>
                        </a:rPr>
                        <a:t>-76% en tiempo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Retiros rápidos por lote y serial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Inventario hospitalario</a:t>
                      </a:r>
                    </a:p>
                  </a:txBody>
                  <a:tcPr anchor="ctr">
                    <a:solidFill>
                      <a:srgbClr val="F0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Scan4Safety, NHS (Reino Unido)</a:t>
                      </a:r>
                    </a:p>
                  </a:txBody>
                  <a:tcPr anchor="ctr">
                    <a:solidFill>
                      <a:srgbClr val="F0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26334"/>
                          </a:solidFill>
                          <a:latin typeface="Arial"/>
                        </a:rPr>
                        <a:t>Millones de £ ahorrados</a:t>
                      </a:r>
                    </a:p>
                  </a:txBody>
                  <a:tcPr anchor="ctr">
                    <a:solidFill>
                      <a:srgbClr val="F0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Menos sobrestock y vencidos</a:t>
                      </a:r>
                    </a:p>
                  </a:txBody>
                  <a:tcPr anchor="ctr">
                    <a:solidFill>
                      <a:srgbClr val="F0F6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Medicamentos falsificados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SNT, ANMAT (Argentina)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26334"/>
                          </a:solidFill>
                          <a:latin typeface="Arial"/>
                        </a:rPr>
                        <a:t>0% en canal legal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34155"/>
                          </a:solidFill>
                          <a:latin typeface="Arial"/>
                        </a:rPr>
                        <a:t>Verificación unitaria en el canal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02C6C"/>
                </a:solidFill>
                <a:latin typeface="Arial"/>
              </a:rPr>
              <a:t>Modelo escalonado para replicar en Venezuela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3611880" cy="12344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3611880" cy="73152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09160"/>
            <a:ext cx="33375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00857A"/>
                </a:solidFill>
                <a:latin typeface="Arial"/>
              </a:rPr>
              <a:t>Fase 1 · Clínicas piloto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20640"/>
            <a:ext cx="3337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GLN, GTIN y DataMatrix en puntos de uso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4572000"/>
            <a:ext cx="3611880" cy="12344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4572000"/>
            <a:ext cx="3611880" cy="73152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709160"/>
            <a:ext cx="33375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F26334"/>
                </a:solidFill>
                <a:latin typeface="Arial"/>
              </a:rPr>
              <a:t>Fase 2 · Droguerías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120640"/>
            <a:ext cx="3337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FEFO, lotes y seriales en distribución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572000"/>
            <a:ext cx="3611880" cy="123444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572000"/>
            <a:ext cx="3611880" cy="73152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709160"/>
            <a:ext cx="33375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00A8E1"/>
                </a:solidFill>
                <a:latin typeface="Arial"/>
              </a:rPr>
              <a:t>Fase 3 · Red nacional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120640"/>
            <a:ext cx="3337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Interoperabilidad de maestros y verificación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rial"/>
              </a:rPr>
              <a:t>Cifras de referencia de los programas citados; validar con fuentes oficiales NHS y ANMAT antes de difundir.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26334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743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002C6C"/>
                </a:solidFill>
                <a:latin typeface="Arial"/>
              </a:rPr>
              <a:t>GS1 Venezuela avanza hacia códigos 2D, catálogos clasificados con GPC y grupos técnicos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36576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1094415" cy="18288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611880" cy="452628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4526280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857A"/>
                </a:solidFill>
                <a:latin typeface="Arial"/>
              </a:rPr>
              <a:t>Transición a GS1 DataMatrix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Códigos 2D en empaques secundarios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Adopción progresiva en empaques primarios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Más datos por código: lote y vencimiento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783080"/>
            <a:ext cx="3611880" cy="452628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783080"/>
            <a:ext cx="73152" cy="4526280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874519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6334"/>
                </a:solidFill>
                <a:latin typeface="Arial"/>
              </a:rPr>
              <a:t>Clasificación masiva con GPC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42316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Limpieza de catálogos del sector farmacéutico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Clasificación bajo estándar GPC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Base para homologar entre actores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1783080"/>
            <a:ext cx="3611880" cy="452628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783080"/>
            <a:ext cx="73152" cy="4526280"/>
          </a:xfrm>
          <a:prstGeom prst="rect">
            <a:avLst/>
          </a:prstGeom>
          <a:solidFill>
            <a:srgbClr val="00A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1874519"/>
            <a:ext cx="3337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A8E1"/>
                </a:solidFill>
                <a:latin typeface="Arial"/>
              </a:rPr>
              <a:t>Grupos de trabajo técnicos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2423160"/>
            <a:ext cx="33375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Mesas con laboratorios y droguerías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Participación de farmacias y clínicas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Guías de implementación por sector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26334"/>
                </a:solidFill>
                <a:latin typeface="Arial"/>
              </a:rPr>
              <a:t>COMITÉ SALUD GS1 VENEZUELA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743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334155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400" b="1">
                <a:solidFill>
                  <a:srgbClr val="002C6C"/>
                </a:solidFill>
                <a:latin typeface="Arial"/>
              </a:rPr>
              <a:t>Sus prioridades para 2027 definirán los pilotos de trazabilidad e interoperabilidad del sector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36576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11094415" cy="18288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6583680" cy="452628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73152" cy="4526280"/>
          </a:xfrm>
          <a:prstGeom prst="rect">
            <a:avLst/>
          </a:prstGeom>
          <a:solidFill>
            <a:srgbClr val="008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63093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00857A"/>
                </a:solidFill>
                <a:latin typeface="Arial"/>
              </a:rPr>
              <a:t>Preguntas para el comité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630936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334155"/>
                </a:solidFill>
                <a:latin typeface="Arial"/>
              </a:rPr>
              <a:t>• ¿Cuáles son las prioridades de su organización en 2027?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4155"/>
                </a:solidFill>
                <a:latin typeface="Arial"/>
              </a:rPr>
              <a:t>• ¿Qué piloto de trazabilidad podríamos iniciar primero?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4155"/>
                </a:solidFill>
                <a:latin typeface="Arial"/>
              </a:rPr>
              <a:t>• ¿Cómo interoperar maestros de productos entre actores?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334155"/>
                </a:solidFill>
                <a:latin typeface="Arial"/>
              </a:rPr>
              <a:t>• ¿Qué barreras frenan hoy la adopción de DataMatrix?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51192" y="1783080"/>
            <a:ext cx="4389120" cy="2286000"/>
          </a:xfrm>
          <a:prstGeom prst="rect">
            <a:avLst/>
          </a:prstGeom>
          <a:solidFill>
            <a:srgbClr val="F0F6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1192" y="1783080"/>
            <a:ext cx="73152" cy="2286000"/>
          </a:xfrm>
          <a:prstGeom prst="rect">
            <a:avLst/>
          </a:prstGeom>
          <a:solidFill>
            <a:srgbClr val="F26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1" y="1874519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F26334"/>
                </a:solidFill>
                <a:latin typeface="Arial"/>
              </a:rPr>
              <a:t>Próximos pasos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1" y="242316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Consolidar prioridades del comité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334155"/>
                </a:solidFill>
                <a:latin typeface="Arial"/>
              </a:rPr>
              <a:t>• Definir piloto y responsables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1192" y="4251960"/>
            <a:ext cx="4389120" cy="2057400"/>
          </a:xfrm>
          <a:prstGeom prst="rect">
            <a:avLst/>
          </a:prstGeom>
          <a:solidFill>
            <a:srgbClr val="002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438912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26334"/>
                </a:solidFill>
                <a:latin typeface="Arial"/>
              </a:rPr>
              <a:t>CONTACTO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4846320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+58 414 2771877</a:t>
            </a:r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7434072" y="5486400"/>
            <a:ext cx="40233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0A8E1"/>
                </a:solidFill>
                <a:latin typeface="Arial"/>
              </a:rPr>
              <a:t>www.gs1ve.org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