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68" r:id="rId37"/>
    <p:sldId id="258" r:id="rId8"/>
    <p:sldId id="259" r:id="rId9"/>
    <p:sldId id="269" r:id="rId38"/>
    <p:sldId id="260" r:id="rId10"/>
    <p:sldId id="270" r:id="rId39"/>
    <p:sldId id="271" r:id="rId40"/>
    <p:sldId id="261" r:id="rId11"/>
    <p:sldId id="272" r:id="rId41"/>
    <p:sldId id="262" r:id="rId12"/>
    <p:sldId id="263" r:id="rId13"/>
    <p:sldId id="264" r:id="rId14"/>
    <p:sldId id="273" r:id="rId42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25"/>
    </p:embeddedFont>
    <p:embeddedFont>
      <p:font typeface="Courier New Bold" charset="1" panose="020706090202050204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2.xml"/><Relationship Id="rId20" Type="http://schemas.openxmlformats.org/officeDocument/2006/relationships/notesSlide" Target="notesSlides/notesSlide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5.xml"/><Relationship Id="rId30" Type="http://schemas.openxmlformats.org/officeDocument/2006/relationships/notesSlide" Target="notesSlides/notesSlide6.xml"/><Relationship Id="rId31" Type="http://schemas.openxmlformats.org/officeDocument/2006/relationships/notesSlide" Target="notesSlides/notesSlide7.xml"/><Relationship Id="rId32" Type="http://schemas.openxmlformats.org/officeDocument/2006/relationships/notesSlide" Target="notesSlides/notesSlide8.xml"/><Relationship Id="rId33" Type="http://schemas.openxmlformats.org/officeDocument/2006/relationships/notesSlide" Target="notesSlides/notesSlide9.xml"/><Relationship Id="rId34" Type="http://schemas.openxmlformats.org/officeDocument/2006/relationships/notesSlide" Target="notesSlides/notesSlide10.xml"/><Relationship Id="rId35" Type="http://schemas.openxmlformats.org/officeDocument/2006/relationships/notesSlide" Target="notesSlides/notesSlide11.xml"/><Relationship Id="rId36" Type="http://schemas.openxmlformats.org/officeDocument/2006/relationships/notesSlide" Target="notesSlides/notesSlide12.xml"/><Relationship Id="rId37" Type="http://schemas.openxmlformats.org/officeDocument/2006/relationships/slide" Target="slides/slide3.xml"/><Relationship Id="rId38" Type="http://schemas.openxmlformats.org/officeDocument/2006/relationships/slide" Target="slides/slide6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1.xml"/><Relationship Id="rId4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Portada. Reemplazar los marcadores de foto (cápsula y círculo) por fotos de atención médica.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jpeg"/><Relationship Id="rId13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jpe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21.png"/><Relationship Id="rId10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0.png"/><Relationship Id="rId8" Type="http://schemas.openxmlformats.org/officeDocument/2006/relationships/image" Target="../media/image7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2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8.jpe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ndas corporativas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0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285750"/>
            <a:ext cx="2772387" cy="1386193"/>
            <a:chOff x="0" y="0"/>
            <a:chExt cx="3200400" cy="1600200"/>
          </a:xfrm>
        </p:grpSpPr>
        <p:sp>
          <p:nvSpPr>
            <p:cNvPr name="Freeform 5" id="5" descr="Logo GS1 Venezuela"/>
            <p:cNvSpPr/>
            <p:nvPr/>
          </p:nvSpPr>
          <p:spPr>
            <a:xfrm flipH="false" flipV="false" rot="0">
              <a:off x="0" y="0"/>
              <a:ext cx="3200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2722107"/>
            <a:ext cx="9579639" cy="257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2"/>
              </a:lnSpc>
            </a:pPr>
            <a:r>
              <a:rPr lang="en-US" sz="16502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COMITÉ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" y="4964127"/>
            <a:ext cx="9579639" cy="216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5"/>
              </a:lnSpc>
            </a:pPr>
            <a:r>
              <a:rPr lang="en-US" sz="13871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Salud GS1</a:t>
            </a:r>
          </a:p>
        </p:txBody>
      </p:sp>
      <p:grpSp>
        <p:nvGrpSpPr>
          <p:cNvPr name="Group 8" id="8"/>
          <p:cNvGrpSpPr/>
          <p:nvPr/>
        </p:nvGrpSpPr>
        <p:grpSpPr>
          <a:xfrm rot="360000">
            <a:off x="12395971" y="1868482"/>
            <a:ext cx="4108421" cy="6638971"/>
            <a:chOff x="0" y="0"/>
            <a:chExt cx="5257800" cy="8496300"/>
          </a:xfrm>
        </p:grpSpPr>
        <p:sp>
          <p:nvSpPr>
            <p:cNvPr name="Freeform 9" id="9" descr="Médico y paciente"/>
            <p:cNvSpPr/>
            <p:nvPr/>
          </p:nvSpPr>
          <p:spPr>
            <a:xfrm flipH="false" flipV="false" rot="0">
              <a:off x="0" y="0"/>
              <a:ext cx="5257800" cy="8496300"/>
            </a:xfrm>
            <a:custGeom>
              <a:avLst/>
              <a:gdLst/>
              <a:ahLst/>
              <a:cxnLst/>
              <a:rect r="r" b="b" t="t" l="l"/>
              <a:pathLst>
                <a:path h="84963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8496300"/>
                  </a:lnTo>
                  <a:lnTo>
                    <a:pt x="0" y="849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32984" y="4369261"/>
            <a:ext cx="3721396" cy="3721396"/>
            <a:chOff x="0" y="0"/>
            <a:chExt cx="4762500" cy="4762500"/>
          </a:xfrm>
        </p:grpSpPr>
        <p:sp>
          <p:nvSpPr>
            <p:cNvPr name="Freeform 11" id="11" descr="Médico con iconos de salud y protección"/>
            <p:cNvSpPr/>
            <p:nvPr/>
          </p:nvSpPr>
          <p:spPr>
            <a:xfrm flipH="false" flipV="false" rot="0">
              <a:off x="0" y="0"/>
              <a:ext cx="47625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40062" y="9522619"/>
            <a:ext cx="228600" cy="228600"/>
            <a:chOff x="0" y="0"/>
            <a:chExt cx="304800" cy="304800"/>
          </a:xfrm>
        </p:grpSpPr>
        <p:sp>
          <p:nvSpPr>
            <p:cNvPr name="Freeform 13" id="13" descr="Icono Phone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054388" y="9465469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+58 414 2771877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740062" y="9865519"/>
            <a:ext cx="228600" cy="228600"/>
            <a:chOff x="0" y="0"/>
            <a:chExt cx="304800" cy="304800"/>
          </a:xfrm>
        </p:grpSpPr>
        <p:sp>
          <p:nvSpPr>
            <p:cNvPr name="Freeform 16" id="16" descr="Icono Globe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054388" y="9808369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www.gs1ve.org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1097" y="8087188"/>
            <a:ext cx="170482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b="true" sz="1650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NOVIEMBRE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0125" y="380769"/>
            <a:ext cx="3028414" cy="847956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762816" y="1508784"/>
            <a:ext cx="409601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Agenda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de hoy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24201" y="2661309"/>
            <a:ext cx="4214588" cy="5564456"/>
            <a:chOff x="0" y="0"/>
            <a:chExt cx="5353050" cy="7067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53050" cy="7067550"/>
            </a:xfrm>
            <a:custGeom>
              <a:avLst/>
              <a:gdLst/>
              <a:ahLst/>
              <a:cxnLst/>
              <a:rect r="r" b="b" t="t" l="l"/>
              <a:pathLst>
                <a:path h="7067550" w="535305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4986020" y="0"/>
                  </a:lnTo>
                  <a:cubicBezTo>
                    <a:pt x="5188712" y="0"/>
                    <a:pt x="5353050" y="164338"/>
                    <a:pt x="5353050" y="367030"/>
                  </a:cubicBezTo>
                  <a:lnTo>
                    <a:pt x="5353050" y="6700520"/>
                  </a:lnTo>
                  <a:cubicBezTo>
                    <a:pt x="5353050" y="6903212"/>
                    <a:pt x="5188712" y="7067550"/>
                    <a:pt x="4986020" y="7067550"/>
                  </a:cubicBezTo>
                  <a:lnTo>
                    <a:pt x="367030" y="7067550"/>
                  </a:lnTo>
                  <a:cubicBezTo>
                    <a:pt x="164338" y="7067550"/>
                    <a:pt x="0" y="6903212"/>
                    <a:pt x="0" y="670052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41680" y="2668809"/>
            <a:ext cx="3779631" cy="119988"/>
            <a:chOff x="0" y="0"/>
            <a:chExt cx="4800600" cy="15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1671" y="3043772"/>
            <a:ext cx="599941" cy="599941"/>
            <a:chOff x="0" y="0"/>
            <a:chExt cx="762000" cy="76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1671" y="3043772"/>
            <a:ext cx="599941" cy="599941"/>
            <a:chOff x="0" y="0"/>
            <a:chExt cx="76200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620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81393" y="3013775"/>
            <a:ext cx="719930" cy="71993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654176" y="3186558"/>
            <a:ext cx="374363" cy="374363"/>
            <a:chOff x="0" y="0"/>
            <a:chExt cx="475488" cy="475488"/>
          </a:xfrm>
        </p:grpSpPr>
        <p:sp>
          <p:nvSpPr>
            <p:cNvPr name="Freeform 24" id="24" descr="Icono BrainCircuit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31671" y="3964156"/>
            <a:ext cx="3659642" cy="75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361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Rastreo Inteligente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1671" y="4745502"/>
            <a:ext cx="3659642" cy="5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IA aplicada a la trazabilidad médica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1668" y="5608521"/>
            <a:ext cx="119988" cy="119988"/>
            <a:chOff x="0" y="0"/>
            <a:chExt cx="152400" cy="15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31642" y="5435435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Datos estándar + IA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61668" y="6268457"/>
            <a:ext cx="119988" cy="119988"/>
            <a:chOff x="0" y="0"/>
            <a:chExt cx="152400" cy="15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31642" y="6095370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Predicción, visión artificial y anomalías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843710" y="2661309"/>
            <a:ext cx="4214588" cy="5564456"/>
            <a:chOff x="0" y="0"/>
            <a:chExt cx="5353050" cy="7067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53050" cy="7067550"/>
            </a:xfrm>
            <a:custGeom>
              <a:avLst/>
              <a:gdLst/>
              <a:ahLst/>
              <a:cxnLst/>
              <a:rect r="r" b="b" t="t" l="l"/>
              <a:pathLst>
                <a:path h="7067550" w="535305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4986020" y="0"/>
                  </a:lnTo>
                  <a:cubicBezTo>
                    <a:pt x="5188712" y="0"/>
                    <a:pt x="5353050" y="164338"/>
                    <a:pt x="5353050" y="367030"/>
                  </a:cubicBezTo>
                  <a:lnTo>
                    <a:pt x="5353050" y="6700520"/>
                  </a:lnTo>
                  <a:cubicBezTo>
                    <a:pt x="5353050" y="6903212"/>
                    <a:pt x="5188712" y="7067550"/>
                    <a:pt x="4986020" y="7067550"/>
                  </a:cubicBezTo>
                  <a:lnTo>
                    <a:pt x="367030" y="7067550"/>
                  </a:lnTo>
                  <a:cubicBezTo>
                    <a:pt x="164338" y="7067550"/>
                    <a:pt x="0" y="6903212"/>
                    <a:pt x="0" y="670052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061188" y="2668809"/>
            <a:ext cx="3779631" cy="119988"/>
            <a:chOff x="0" y="0"/>
            <a:chExt cx="4800600" cy="15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151180" y="3043772"/>
            <a:ext cx="599941" cy="599941"/>
            <a:chOff x="0" y="0"/>
            <a:chExt cx="762000" cy="762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151180" y="3043772"/>
            <a:ext cx="599941" cy="599941"/>
            <a:chOff x="0" y="0"/>
            <a:chExt cx="7620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7620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00901" y="3013775"/>
            <a:ext cx="719930" cy="71993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173684" y="3186558"/>
            <a:ext cx="374363" cy="374363"/>
            <a:chOff x="0" y="0"/>
            <a:chExt cx="475488" cy="475488"/>
          </a:xfrm>
        </p:grpSpPr>
        <p:sp>
          <p:nvSpPr>
            <p:cNvPr name="Freeform 45" id="45" descr="Icono ShieldPlus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5151180" y="3964156"/>
            <a:ext cx="3659642" cy="75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361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Seguridad, cadena y trazabilidad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51180" y="4745502"/>
            <a:ext cx="3659642" cy="5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Pacientes, suministro y medicamentos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181177" y="5608521"/>
            <a:ext cx="119988" cy="119988"/>
            <a:chOff x="0" y="0"/>
            <a:chExt cx="152400" cy="152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451150" y="5435435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Los 5 Correctos (BCMA)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181177" y="6268457"/>
            <a:ext cx="119988" cy="119988"/>
            <a:chOff x="0" y="0"/>
            <a:chExt cx="152400" cy="152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5451150" y="6095370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Eficiencia de la cadena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5181177" y="6928392"/>
            <a:ext cx="119988" cy="119988"/>
            <a:chOff x="0" y="0"/>
            <a:chExt cx="152400" cy="152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5451150" y="6755306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De EAN-13 a 2D: DataMatrix y QR GS1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181177" y="7588328"/>
            <a:ext cx="119988" cy="119988"/>
            <a:chOff x="0" y="0"/>
            <a:chExt cx="152400" cy="152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5451150" y="7415241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Casos de éxito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363218" y="2661309"/>
            <a:ext cx="4214588" cy="5564456"/>
            <a:chOff x="0" y="0"/>
            <a:chExt cx="5353050" cy="70675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53050" cy="7067550"/>
            </a:xfrm>
            <a:custGeom>
              <a:avLst/>
              <a:gdLst/>
              <a:ahLst/>
              <a:cxnLst/>
              <a:rect r="r" b="b" t="t" l="l"/>
              <a:pathLst>
                <a:path h="7067550" w="535305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4986020" y="0"/>
                  </a:lnTo>
                  <a:cubicBezTo>
                    <a:pt x="5188712" y="0"/>
                    <a:pt x="5353050" y="164338"/>
                    <a:pt x="5353050" y="367030"/>
                  </a:cubicBezTo>
                  <a:lnTo>
                    <a:pt x="5353050" y="6700520"/>
                  </a:lnTo>
                  <a:cubicBezTo>
                    <a:pt x="5353050" y="6903212"/>
                    <a:pt x="5188712" y="7067550"/>
                    <a:pt x="4986020" y="7067550"/>
                  </a:cubicBezTo>
                  <a:lnTo>
                    <a:pt x="367030" y="7067550"/>
                  </a:lnTo>
                  <a:cubicBezTo>
                    <a:pt x="164338" y="7067550"/>
                    <a:pt x="0" y="6903212"/>
                    <a:pt x="0" y="670052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580697" y="2668809"/>
            <a:ext cx="3779631" cy="119988"/>
            <a:chOff x="0" y="0"/>
            <a:chExt cx="4800600" cy="152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70688" y="3043772"/>
            <a:ext cx="599941" cy="599941"/>
            <a:chOff x="0" y="0"/>
            <a:chExt cx="762000" cy="762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70688" y="3043772"/>
            <a:ext cx="599941" cy="599941"/>
            <a:chOff x="0" y="0"/>
            <a:chExt cx="762000" cy="762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7620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520409" y="3013775"/>
            <a:ext cx="719930" cy="71993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93192" y="3186558"/>
            <a:ext cx="374363" cy="374363"/>
            <a:chOff x="0" y="0"/>
            <a:chExt cx="475488" cy="475488"/>
          </a:xfrm>
        </p:grpSpPr>
        <p:sp>
          <p:nvSpPr>
            <p:cNvPr name="Freeform 72" id="72" descr="Icono Newspaper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9670688" y="3964156"/>
            <a:ext cx="3659642" cy="75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361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GS1 News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670688" y="4745502"/>
            <a:ext cx="3659642" cy="5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Novedades y hoja de ruta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700685" y="5608521"/>
            <a:ext cx="119988" cy="119988"/>
            <a:chOff x="0" y="0"/>
            <a:chExt cx="152400" cy="152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9970659" y="5435435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Sunrise 2027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700685" y="6268457"/>
            <a:ext cx="119988" cy="119988"/>
            <a:chOff x="0" y="0"/>
            <a:chExt cx="152400" cy="152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970659" y="6095370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GS1 Digital Link Latam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700685" y="6928392"/>
            <a:ext cx="119988" cy="119988"/>
            <a:chOff x="0" y="0"/>
            <a:chExt cx="152400" cy="152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9970659" y="6755306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EPCIS 2.0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3882726" y="2661309"/>
            <a:ext cx="4214588" cy="5564456"/>
            <a:chOff x="0" y="0"/>
            <a:chExt cx="5353050" cy="70675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53050" cy="7067550"/>
            </a:xfrm>
            <a:custGeom>
              <a:avLst/>
              <a:gdLst/>
              <a:ahLst/>
              <a:cxnLst/>
              <a:rect r="r" b="b" t="t" l="l"/>
              <a:pathLst>
                <a:path h="7067550" w="535305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4986020" y="0"/>
                  </a:lnTo>
                  <a:cubicBezTo>
                    <a:pt x="5188712" y="0"/>
                    <a:pt x="5353050" y="164338"/>
                    <a:pt x="5353050" y="367030"/>
                  </a:cubicBezTo>
                  <a:lnTo>
                    <a:pt x="5353050" y="6700520"/>
                  </a:lnTo>
                  <a:cubicBezTo>
                    <a:pt x="5353050" y="6903212"/>
                    <a:pt x="5188712" y="7067550"/>
                    <a:pt x="4986020" y="7067550"/>
                  </a:cubicBezTo>
                  <a:lnTo>
                    <a:pt x="367030" y="7067550"/>
                  </a:lnTo>
                  <a:cubicBezTo>
                    <a:pt x="164338" y="7067550"/>
                    <a:pt x="0" y="6903212"/>
                    <a:pt x="0" y="670052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4100205" y="2668809"/>
            <a:ext cx="3779631" cy="119988"/>
            <a:chOff x="0" y="0"/>
            <a:chExt cx="4800600" cy="152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190196" y="3043772"/>
            <a:ext cx="599941" cy="599941"/>
            <a:chOff x="0" y="0"/>
            <a:chExt cx="762000" cy="762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190196" y="3043772"/>
            <a:ext cx="599941" cy="599941"/>
            <a:chOff x="0" y="0"/>
            <a:chExt cx="762000" cy="762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7620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7039918" y="3013775"/>
            <a:ext cx="719930" cy="719930"/>
            <a:chOff x="0" y="0"/>
            <a:chExt cx="914400" cy="914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7212701" y="3186558"/>
            <a:ext cx="374363" cy="374363"/>
            <a:chOff x="0" y="0"/>
            <a:chExt cx="475488" cy="475488"/>
          </a:xfrm>
        </p:grpSpPr>
        <p:sp>
          <p:nvSpPr>
            <p:cNvPr name="Freeform 96" id="96" descr="Icono MessagesSquar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4190196" y="3964156"/>
            <a:ext cx="3659642" cy="75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361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Ronda Abierta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190196" y="4745502"/>
            <a:ext cx="3659642" cy="5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732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Mesa de trabajo del Comité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4220193" y="5608521"/>
            <a:ext cx="119988" cy="119988"/>
            <a:chOff x="0" y="0"/>
            <a:chExt cx="152400" cy="152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14490167" y="5435435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Retos de implementación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4220193" y="6268457"/>
            <a:ext cx="119988" cy="119988"/>
            <a:chOff x="0" y="0"/>
            <a:chExt cx="152400" cy="152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4490167" y="6095370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Integración y educación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4220193" y="6928392"/>
            <a:ext cx="119988" cy="119988"/>
            <a:chOff x="0" y="0"/>
            <a:chExt cx="152400" cy="1524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14490167" y="6755306"/>
            <a:ext cx="3359672" cy="6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81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Próximos pilotos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144" name="Número de punto"/>
          <p:cNvSpPr/>
          <p:nvPr/>
        </p:nvSpPr>
        <p:spPr>
          <a:xfrm>
            <a:off x="1371600" y="2400300"/>
            <a:ext cx="2714625" cy="2714625"/>
          </a:xfrm>
          <a:prstGeom prst="ellipse">
            <a:avLst/>
          </a:prstGeom>
          <a:solidFill>
            <a:srgbClr val="00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úmero"/>
          <p:cNvSpPr txBox="1"/>
          <p:nvPr/>
        </p:nvSpPr>
        <p:spPr>
          <a:xfrm>
            <a:off x="1371600" y="2400300"/>
            <a:ext cx="2714625" cy="271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6" name="Kicker"/>
          <p:cNvSpPr txBox="1"/>
          <p:nvPr/>
        </p:nvSpPr>
        <p:spPr>
          <a:xfrm>
            <a:off x="4714875" y="2457450"/>
            <a:ext cx="111442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99">
                <a:solidFill>
                  <a:srgbClr val="F26334"/>
                </a:solidFill>
                <a:latin typeface="Calibri"/>
                <a:ea typeface="Calibri"/>
                <a:cs typeface="Calibri"/>
              </a:rPr>
              <a:t>INICIAMOS EL PUNTO 1 DE LA AGENDA</a:t>
            </a:r>
          </a:p>
        </p:txBody>
      </p:sp>
      <p:sp>
        <p:nvSpPr>
          <p:cNvPr id="147" name="Título sección"/>
          <p:cNvSpPr txBox="1"/>
          <p:nvPr/>
        </p:nvSpPr>
        <p:spPr>
          <a:xfrm>
            <a:off x="4714875" y="2914650"/>
            <a:ext cx="9144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9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Rastreo Inteligente</a:t>
            </a:r>
          </a:p>
        </p:txBody>
      </p:sp>
      <p:sp>
        <p:nvSpPr>
          <p:cNvPr id="148" name="Subtítulo sección"/>
          <p:cNvSpPr txBox="1"/>
          <p:nvPr/>
        </p:nvSpPr>
        <p:spPr>
          <a:xfrm>
            <a:off x="4714875" y="3943350"/>
            <a:ext cx="10858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IA aplicada a la trazabilidad médica</a:t>
            </a:r>
          </a:p>
        </p:txBody>
      </p:sp>
      <p:sp>
        <p:nvSpPr>
          <p:cNvPr id="149" name="Etiqueta El nuevo paciente ve"/>
          <p:cNvSpPr/>
          <p:nvPr/>
        </p:nvSpPr>
        <p:spPr>
          <a:xfrm>
            <a:off x="4714875" y="4714875"/>
            <a:ext cx="37719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o etiqueta"/>
          <p:cNvSpPr txBox="1"/>
          <p:nvPr/>
        </p:nvSpPr>
        <p:spPr>
          <a:xfrm>
            <a:off x="4714875" y="4714875"/>
            <a:ext cx="37719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El nuevo paciente venezolano</a:t>
            </a:r>
          </a:p>
        </p:txBody>
      </p:sp>
      <p:sp>
        <p:nvSpPr>
          <p:cNvPr id="151" name="Etiqueta Datos estándar + IA"/>
          <p:cNvSpPr/>
          <p:nvPr/>
        </p:nvSpPr>
        <p:spPr>
          <a:xfrm>
            <a:off x="8658225" y="4714875"/>
            <a:ext cx="27432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o etiqueta"/>
          <p:cNvSpPr txBox="1"/>
          <p:nvPr/>
        </p:nvSpPr>
        <p:spPr>
          <a:xfrm>
            <a:off x="8658225" y="4714875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Datos estándar + IA</a:t>
            </a:r>
          </a:p>
        </p:txBody>
      </p:sp>
      <p:sp>
        <p:nvSpPr>
          <p:cNvPr id="153" name="Etiqueta Tres usos de la IA e"/>
          <p:cNvSpPr/>
          <p:nvPr/>
        </p:nvSpPr>
        <p:spPr>
          <a:xfrm>
            <a:off x="11572875" y="4714875"/>
            <a:ext cx="36576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o etiqueta"/>
          <p:cNvSpPr txBox="1"/>
          <p:nvPr/>
        </p:nvSpPr>
        <p:spPr>
          <a:xfrm>
            <a:off x="11572875" y="4714875"/>
            <a:ext cx="36576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Tres usos de la IA en salud</a:t>
            </a:r>
          </a:p>
        </p:txBody>
      </p:sp>
      <p:sp>
        <p:nvSpPr>
          <p:cNvPr id="155" name="Círculo decorativo"/>
          <p:cNvSpPr/>
          <p:nvPr/>
        </p:nvSpPr>
        <p:spPr>
          <a:xfrm>
            <a:off x="15144750" y="2143125"/>
            <a:ext cx="2428875" cy="2428875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BrainCircuit_002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88" y="2786062"/>
            <a:ext cx="1143000" cy="1143000"/>
          </a:xfrm>
          <a:prstGeom prst="rect">
            <a:avLst/>
          </a:prstGeom>
        </p:spPr>
      </p:pic>
      <p:sp>
        <p:nvSpPr>
          <p:cNvPr id="157" name="Progreso"/>
          <p:cNvSpPr txBox="1"/>
          <p:nvPr/>
        </p:nvSpPr>
        <p:spPr>
          <a:xfrm>
            <a:off x="1371600" y="7215188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spc="2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PUNTOS DE LA AGENDA</a:t>
            </a:r>
          </a:p>
        </p:txBody>
      </p:sp>
      <p:sp>
        <p:nvSpPr>
          <p:cNvPr id="158" name="Progreso 1"/>
          <p:cNvSpPr/>
          <p:nvPr/>
        </p:nvSpPr>
        <p:spPr>
          <a:xfrm>
            <a:off x="137160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002C6C"/>
          </a:solidFill>
          <a:ln>
            <a:noFill/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Progreso texto"/>
          <p:cNvSpPr txBox="1"/>
          <p:nvPr/>
        </p:nvSpPr>
        <p:spPr>
          <a:xfrm>
            <a:off x="157162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Rastreo Inteligente</a:t>
            </a:r>
          </a:p>
        </p:txBody>
      </p:sp>
      <p:sp>
        <p:nvSpPr>
          <p:cNvPr id="160" name="Progreso 2"/>
          <p:cNvSpPr/>
          <p:nvPr/>
        </p:nvSpPr>
        <p:spPr>
          <a:xfrm>
            <a:off x="540067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rogreso texto"/>
          <p:cNvSpPr txBox="1"/>
          <p:nvPr/>
        </p:nvSpPr>
        <p:spPr>
          <a:xfrm>
            <a:off x="560070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· Seguridad, cadena y trazabilidad</a:t>
            </a:r>
          </a:p>
        </p:txBody>
      </p:sp>
      <p:sp>
        <p:nvSpPr>
          <p:cNvPr id="162" name="Progreso 3"/>
          <p:cNvSpPr/>
          <p:nvPr/>
        </p:nvSpPr>
        <p:spPr>
          <a:xfrm>
            <a:off x="942975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rogreso texto"/>
          <p:cNvSpPr txBox="1"/>
          <p:nvPr/>
        </p:nvSpPr>
        <p:spPr>
          <a:xfrm>
            <a:off x="962977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· GS1 News</a:t>
            </a:r>
          </a:p>
        </p:txBody>
      </p:sp>
      <p:sp>
        <p:nvSpPr>
          <p:cNvPr id="164" name="Progreso 4"/>
          <p:cNvSpPr/>
          <p:nvPr/>
        </p:nvSpPr>
        <p:spPr>
          <a:xfrm>
            <a:off x="1345882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greso texto"/>
          <p:cNvSpPr txBox="1"/>
          <p:nvPr/>
        </p:nvSpPr>
        <p:spPr>
          <a:xfrm>
            <a:off x="1365885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· Ronda Abierta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1512" y="1985962"/>
            <a:ext cx="4314825" cy="3243262"/>
            <a:chOff x="0" y="0"/>
            <a:chExt cx="5753100" cy="43243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53100" cy="4324350"/>
            </a:xfrm>
            <a:custGeom>
              <a:avLst/>
              <a:gdLst/>
              <a:ahLst/>
              <a:cxnLst/>
              <a:rect r="r" b="b" t="t" l="l"/>
              <a:pathLst>
                <a:path h="4324350" w="5753100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lnTo>
                    <a:pt x="5384165" y="0"/>
                  </a:lnTo>
                  <a:cubicBezTo>
                    <a:pt x="5587873" y="0"/>
                    <a:pt x="5753100" y="165227"/>
                    <a:pt x="5753100" y="368935"/>
                  </a:cubicBezTo>
                  <a:lnTo>
                    <a:pt x="5753100" y="3955415"/>
                  </a:lnTo>
                  <a:cubicBezTo>
                    <a:pt x="5753100" y="4159250"/>
                    <a:pt x="5587873" y="4324350"/>
                    <a:pt x="5384165" y="4324350"/>
                  </a:cubicBezTo>
                  <a:lnTo>
                    <a:pt x="368935" y="4324350"/>
                  </a:lnTo>
                  <a:cubicBezTo>
                    <a:pt x="165227" y="4324350"/>
                    <a:pt x="0" y="4159123"/>
                    <a:pt x="0" y="39554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26334"/>
              </a:solidFill>
              <a:prstDash val="solid"/>
              <a:miter/>
            </a:ln>
          </p:spPr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675" y="1971675"/>
            <a:ext cx="1714500" cy="1714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671512" y="5486400"/>
            <a:ext cx="4314825" cy="3243262"/>
            <a:chOff x="0" y="0"/>
            <a:chExt cx="5753100" cy="4324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53100" cy="4324350"/>
            </a:xfrm>
            <a:custGeom>
              <a:avLst/>
              <a:gdLst/>
              <a:ahLst/>
              <a:cxnLst/>
              <a:rect r="r" b="b" t="t" l="l"/>
              <a:pathLst>
                <a:path h="4324350" w="5753100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lnTo>
                    <a:pt x="5384165" y="0"/>
                  </a:lnTo>
                  <a:cubicBezTo>
                    <a:pt x="5587873" y="0"/>
                    <a:pt x="5753100" y="165227"/>
                    <a:pt x="5753100" y="368935"/>
                  </a:cubicBezTo>
                  <a:lnTo>
                    <a:pt x="5753100" y="3955415"/>
                  </a:lnTo>
                  <a:cubicBezTo>
                    <a:pt x="5753100" y="4159250"/>
                    <a:pt x="5587873" y="4324350"/>
                    <a:pt x="5384165" y="4324350"/>
                  </a:cubicBezTo>
                  <a:lnTo>
                    <a:pt x="368935" y="4324350"/>
                  </a:lnTo>
                  <a:cubicBezTo>
                    <a:pt x="165227" y="4324350"/>
                    <a:pt x="0" y="4159123"/>
                    <a:pt x="0" y="39554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CA9C9"/>
              </a:solidFill>
              <a:prstDash val="solid"/>
              <a:miter/>
            </a:ln>
          </p:spPr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71675" y="5472113"/>
            <a:ext cx="1714500" cy="17145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5364956" y="1993106"/>
            <a:ext cx="8015288" cy="2085975"/>
            <a:chOff x="0" y="0"/>
            <a:chExt cx="10687050" cy="2781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87050" cy="2781300"/>
            </a:xfrm>
            <a:custGeom>
              <a:avLst/>
              <a:gdLst/>
              <a:ahLst/>
              <a:cxnLst/>
              <a:rect r="r" b="b" t="t" l="l"/>
              <a:pathLst>
                <a:path h="2781300" w="10687050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10318750" y="0"/>
                  </a:lnTo>
                  <a:cubicBezTo>
                    <a:pt x="10522204" y="0"/>
                    <a:pt x="10687050" y="164846"/>
                    <a:pt x="10687050" y="368300"/>
                  </a:cubicBezTo>
                  <a:lnTo>
                    <a:pt x="10687050" y="2413000"/>
                  </a:lnTo>
                  <a:cubicBezTo>
                    <a:pt x="10687050" y="2616454"/>
                    <a:pt x="10522204" y="2781300"/>
                    <a:pt x="10318750" y="2781300"/>
                  </a:cubicBezTo>
                  <a:lnTo>
                    <a:pt x="368300" y="2781300"/>
                  </a:lnTo>
                  <a:cubicBezTo>
                    <a:pt x="164846" y="2781300"/>
                    <a:pt x="0" y="2616454"/>
                    <a:pt x="0" y="241300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657850" y="2314575"/>
            <a:ext cx="800100" cy="800100"/>
            <a:chOff x="0" y="0"/>
            <a:chExt cx="1066800" cy="106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849874" y="2506599"/>
            <a:ext cx="416052" cy="416052"/>
            <a:chOff x="0" y="0"/>
            <a:chExt cx="554736" cy="554736"/>
          </a:xfrm>
        </p:grpSpPr>
        <p:sp>
          <p:nvSpPr>
            <p:cNvPr name="Freeform 22" id="22" descr="Icono FileText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64956" y="4279106"/>
            <a:ext cx="8015288" cy="2085975"/>
            <a:chOff x="0" y="0"/>
            <a:chExt cx="10687050" cy="2781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7050" cy="2781300"/>
            </a:xfrm>
            <a:custGeom>
              <a:avLst/>
              <a:gdLst/>
              <a:ahLst/>
              <a:cxnLst/>
              <a:rect r="r" b="b" t="t" l="l"/>
              <a:pathLst>
                <a:path h="2781300" w="10687050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10318750" y="0"/>
                  </a:lnTo>
                  <a:cubicBezTo>
                    <a:pt x="10522204" y="0"/>
                    <a:pt x="10687050" y="164846"/>
                    <a:pt x="10687050" y="368300"/>
                  </a:cubicBezTo>
                  <a:lnTo>
                    <a:pt x="10687050" y="2413000"/>
                  </a:lnTo>
                  <a:cubicBezTo>
                    <a:pt x="10687050" y="2616454"/>
                    <a:pt x="10522204" y="2781300"/>
                    <a:pt x="10318750" y="2781300"/>
                  </a:cubicBezTo>
                  <a:lnTo>
                    <a:pt x="368300" y="2781300"/>
                  </a:lnTo>
                  <a:cubicBezTo>
                    <a:pt x="164846" y="2781300"/>
                    <a:pt x="0" y="2616454"/>
                    <a:pt x="0" y="241300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657850" y="4600575"/>
            <a:ext cx="800100" cy="800100"/>
            <a:chOff x="0" y="0"/>
            <a:chExt cx="1066800" cy="106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849874" y="4792599"/>
            <a:ext cx="416052" cy="416052"/>
            <a:chOff x="0" y="0"/>
            <a:chExt cx="554736" cy="554736"/>
          </a:xfrm>
        </p:grpSpPr>
        <p:sp>
          <p:nvSpPr>
            <p:cNvPr name="Freeform 28" id="28" descr="Icono ShieldCheck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64956" y="6565106"/>
            <a:ext cx="8015288" cy="2085975"/>
            <a:chOff x="0" y="0"/>
            <a:chExt cx="10687050" cy="2781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87050" cy="2781300"/>
            </a:xfrm>
            <a:custGeom>
              <a:avLst/>
              <a:gdLst/>
              <a:ahLst/>
              <a:cxnLst/>
              <a:rect r="r" b="b" t="t" l="l"/>
              <a:pathLst>
                <a:path h="2781300" w="10687050">
                  <a:moveTo>
                    <a:pt x="0" y="368300"/>
                  </a:moveTo>
                  <a:cubicBezTo>
                    <a:pt x="0" y="164846"/>
                    <a:pt x="164846" y="0"/>
                    <a:pt x="368300" y="0"/>
                  </a:cubicBezTo>
                  <a:lnTo>
                    <a:pt x="10318750" y="0"/>
                  </a:lnTo>
                  <a:cubicBezTo>
                    <a:pt x="10522204" y="0"/>
                    <a:pt x="10687050" y="164846"/>
                    <a:pt x="10687050" y="368300"/>
                  </a:cubicBezTo>
                  <a:lnTo>
                    <a:pt x="10687050" y="2413000"/>
                  </a:lnTo>
                  <a:cubicBezTo>
                    <a:pt x="10687050" y="2616454"/>
                    <a:pt x="10522204" y="2781300"/>
                    <a:pt x="10318750" y="2781300"/>
                  </a:cubicBezTo>
                  <a:lnTo>
                    <a:pt x="368300" y="2781300"/>
                  </a:lnTo>
                  <a:cubicBezTo>
                    <a:pt x="164846" y="2781300"/>
                    <a:pt x="0" y="2616454"/>
                    <a:pt x="0" y="241300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657850" y="6886575"/>
            <a:ext cx="800100" cy="800100"/>
            <a:chOff x="0" y="0"/>
            <a:chExt cx="1066800" cy="1066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849874" y="7078599"/>
            <a:ext cx="416052" cy="416052"/>
            <a:chOff x="0" y="0"/>
            <a:chExt cx="554736" cy="554736"/>
          </a:xfrm>
        </p:grpSpPr>
        <p:sp>
          <p:nvSpPr>
            <p:cNvPr name="Freeform 34" id="34" descr="Icono Network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240000">
            <a:off x="13830300" y="2114550"/>
            <a:ext cx="3486150" cy="6057900"/>
            <a:chOff x="0" y="0"/>
            <a:chExt cx="4648200" cy="807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48200" cy="8077200"/>
            </a:xfrm>
            <a:custGeom>
              <a:avLst/>
              <a:gdLst/>
              <a:ahLst/>
              <a:cxnLst/>
              <a:rect r="r" b="b" t="t" l="l"/>
              <a:pathLst>
                <a:path h="8077200" w="4648200">
                  <a:moveTo>
                    <a:pt x="0" y="650748"/>
                  </a:moveTo>
                  <a:cubicBezTo>
                    <a:pt x="0" y="291338"/>
                    <a:pt x="291338" y="0"/>
                    <a:pt x="650748" y="0"/>
                  </a:cubicBezTo>
                  <a:lnTo>
                    <a:pt x="3997452" y="0"/>
                  </a:lnTo>
                  <a:cubicBezTo>
                    <a:pt x="4356862" y="0"/>
                    <a:pt x="4648200" y="291338"/>
                    <a:pt x="4648200" y="650748"/>
                  </a:cubicBezTo>
                  <a:lnTo>
                    <a:pt x="4648200" y="7426452"/>
                  </a:lnTo>
                  <a:cubicBezTo>
                    <a:pt x="4648200" y="7785862"/>
                    <a:pt x="4356862" y="8077200"/>
                    <a:pt x="3997452" y="8077200"/>
                  </a:cubicBezTo>
                  <a:lnTo>
                    <a:pt x="650748" y="8077200"/>
                  </a:lnTo>
                  <a:cubicBezTo>
                    <a:pt x="291338" y="8077200"/>
                    <a:pt x="0" y="7785862"/>
                    <a:pt x="0" y="7426452"/>
                  </a:cubicBezTo>
                  <a:close/>
                </a:path>
              </a:pathLst>
            </a:custGeom>
            <a:solidFill>
              <a:srgbClr val="002C6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247345">
            <a:off x="14103367" y="2316667"/>
            <a:ext cx="2956543" cy="5653665"/>
            <a:chOff x="0" y="0"/>
            <a:chExt cx="3765126" cy="719988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65126" cy="7199882"/>
            </a:xfrm>
            <a:custGeom>
              <a:avLst/>
              <a:gdLst/>
              <a:ahLst/>
              <a:cxnLst/>
              <a:rect r="r" b="b" t="t" l="l"/>
              <a:pathLst>
                <a:path h="7199882" w="3765126">
                  <a:moveTo>
                    <a:pt x="274263" y="0"/>
                  </a:moveTo>
                  <a:lnTo>
                    <a:pt x="3490863" y="0"/>
                  </a:lnTo>
                  <a:cubicBezTo>
                    <a:pt x="3563602" y="0"/>
                    <a:pt x="3633362" y="28895"/>
                    <a:pt x="3684796" y="80330"/>
                  </a:cubicBezTo>
                  <a:cubicBezTo>
                    <a:pt x="3736230" y="131764"/>
                    <a:pt x="3765126" y="201524"/>
                    <a:pt x="3765126" y="274263"/>
                  </a:cubicBezTo>
                  <a:lnTo>
                    <a:pt x="3765126" y="6925620"/>
                  </a:lnTo>
                  <a:cubicBezTo>
                    <a:pt x="3765126" y="6998359"/>
                    <a:pt x="3736230" y="7068118"/>
                    <a:pt x="3684796" y="7119552"/>
                  </a:cubicBezTo>
                  <a:cubicBezTo>
                    <a:pt x="3633362" y="7170987"/>
                    <a:pt x="3563602" y="7199882"/>
                    <a:pt x="3490863" y="7199882"/>
                  </a:cubicBezTo>
                  <a:lnTo>
                    <a:pt x="274263" y="7199882"/>
                  </a:lnTo>
                  <a:cubicBezTo>
                    <a:pt x="201524" y="7199882"/>
                    <a:pt x="131764" y="7170987"/>
                    <a:pt x="80330" y="7119552"/>
                  </a:cubicBezTo>
                  <a:cubicBezTo>
                    <a:pt x="28895" y="7068118"/>
                    <a:pt x="0" y="6998359"/>
                    <a:pt x="0" y="6925620"/>
                  </a:cubicBezTo>
                  <a:lnTo>
                    <a:pt x="0" y="274263"/>
                  </a:lnTo>
                  <a:cubicBezTo>
                    <a:pt x="0" y="201524"/>
                    <a:pt x="28895" y="131764"/>
                    <a:pt x="80330" y="80330"/>
                  </a:cubicBezTo>
                  <a:cubicBezTo>
                    <a:pt x="131764" y="28895"/>
                    <a:pt x="201524" y="0"/>
                    <a:pt x="274263" y="0"/>
                  </a:cubicBezTo>
                  <a:close/>
                </a:path>
              </a:pathLst>
            </a:custGeom>
            <a:blipFill>
              <a:blip r:embed="rId12"/>
              <a:stretch>
                <a:fillRect l="-93778" t="0" r="-93778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30250" y="2000250"/>
            <a:ext cx="800100" cy="800100"/>
            <a:chOff x="0" y="0"/>
            <a:chExt cx="1066800" cy="1066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622274" y="2192274"/>
            <a:ext cx="416052" cy="416052"/>
            <a:chOff x="0" y="0"/>
            <a:chExt cx="554736" cy="554736"/>
          </a:xfrm>
        </p:grpSpPr>
        <p:sp>
          <p:nvSpPr>
            <p:cNvPr name="Freeform 42" id="42" descr="Icono ScanLine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VENEZOLANO · EL NUEVO PACIENTE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Información, confianza y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verificación en cada empaque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5800" y="3495675"/>
            <a:ext cx="428625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26334"/>
                </a:solidFill>
                <a:latin typeface="Arial Bold"/>
                <a:ea typeface="Arial Bold"/>
                <a:cs typeface="Arial Bold"/>
                <a:sym typeface="Arial Bold"/>
              </a:rPr>
              <a:t>41%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1550" y="4371975"/>
            <a:ext cx="37147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No escanea códigos estáticos que no aportan información útil.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800" y="6996112"/>
            <a:ext cx="428625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80%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1550" y="7872413"/>
            <a:ext cx="37147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Está dispuesto a escanear para conocer origen, registro sanitario y autenticidad.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743700" y="2295525"/>
            <a:ext cx="628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Información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43700" y="2733675"/>
            <a:ext cx="62865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Acceso al prospecto digital actualizado (e-PIL), posología y alertas sanitarias desde el móvil.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743700" y="4581525"/>
            <a:ext cx="628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Confianza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43700" y="5019675"/>
            <a:ext cx="62865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Protección frente a medicamentos ilícitos, contrabando o sin registro sanitario (SACS / INHRR) en el mercado nacional.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43700" y="6867525"/>
            <a:ext cx="6286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Experiencia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43700" y="7305675"/>
            <a:ext cx="62865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Transparencia total entre laboratorio, droguería, farmacia, médico y paciente.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56" name="Subtítulo contexto"/>
          <p:cNvSpPr txBox="1"/>
          <p:nvPr/>
        </p:nvSpPr>
        <p:spPr>
          <a:xfrm>
            <a:off x="685800" y="1428750"/>
            <a:ext cx="14001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¿Qué muestra esta lámina? Cómo reacciona hoy una persona ante el código de un empaque y qué espera encontrar al escanearlo.</a:t>
            </a:r>
          </a:p>
        </p:txBody>
      </p:sp>
      <p:sp>
        <p:nvSpPr>
          <p:cNvPr id="57" name="Fuente cifras"/>
          <p:cNvSpPr txBox="1"/>
          <p:nvPr/>
        </p:nvSpPr>
        <p:spPr>
          <a:xfrm>
            <a:off x="685800" y="8801100"/>
            <a:ext cx="13144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Fuente: material de referencia de GS1 sobre hábitos del consumidor ante códigos QR. Cifras orientativas de la tendencia de comportamiento: 41 % no escanea códigos que no aportan valor; 80 % escanearía para verificar origen y autenticidad del producto.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Rastreo Inteligente: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la IA parte del dato estándar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9067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Los algoritmos de IA son tan buenos como la calidad de los datos estándar que los alimentan.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8656" y="2278856"/>
            <a:ext cx="4929188" cy="5014912"/>
            <a:chOff x="0" y="0"/>
            <a:chExt cx="6572250" cy="6686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22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6572250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lnTo>
                    <a:pt x="6205474" y="0"/>
                  </a:lnTo>
                  <a:cubicBezTo>
                    <a:pt x="6408039" y="0"/>
                    <a:pt x="6572250" y="164211"/>
                    <a:pt x="6572250" y="366776"/>
                  </a:cubicBezTo>
                  <a:lnTo>
                    <a:pt x="6572250" y="6319774"/>
                  </a:lnTo>
                  <a:cubicBezTo>
                    <a:pt x="6572250" y="6522339"/>
                    <a:pt x="6408039" y="6686550"/>
                    <a:pt x="6205474" y="6686550"/>
                  </a:cubicBezTo>
                  <a:lnTo>
                    <a:pt x="366776" y="6686550"/>
                  </a:lnTo>
                  <a:cubicBezTo>
                    <a:pt x="164211" y="6686550"/>
                    <a:pt x="0" y="6522339"/>
                    <a:pt x="0" y="63197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2286000"/>
            <a:ext cx="4914900" cy="1085850"/>
            <a:chOff x="0" y="0"/>
            <a:chExt cx="6553200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53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6553200">
                  <a:moveTo>
                    <a:pt x="241300" y="0"/>
                  </a:moveTo>
                  <a:lnTo>
                    <a:pt x="6311900" y="0"/>
                  </a:lnTo>
                  <a:cubicBezTo>
                    <a:pt x="6445123" y="0"/>
                    <a:pt x="6553200" y="108077"/>
                    <a:pt x="6553200" y="241300"/>
                  </a:cubicBezTo>
                  <a:lnTo>
                    <a:pt x="6553200" y="1447800"/>
                  </a:lnTo>
                  <a:lnTo>
                    <a:pt x="0" y="1447800"/>
                  </a:lnTo>
                  <a:lnTo>
                    <a:pt x="0" y="241300"/>
                  </a:ln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2975" y="2514600"/>
            <a:ext cx="371475" cy="371475"/>
            <a:chOff x="0" y="0"/>
            <a:chExt cx="495300" cy="495300"/>
          </a:xfrm>
        </p:grpSpPr>
        <p:sp>
          <p:nvSpPr>
            <p:cNvPr name="Freeform 19" id="19" descr="Icono Database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28750" y="2486025"/>
            <a:ext cx="4000500" cy="400050"/>
            <a:chOff x="0" y="0"/>
            <a:chExt cx="53340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3340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Datos estándar GS1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42975" y="2924175"/>
            <a:ext cx="44291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Identificadores únicos y universales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3600450"/>
            <a:ext cx="4457700" cy="714375"/>
            <a:chOff x="0" y="0"/>
            <a:chExt cx="5943600" cy="952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7275" y="3600450"/>
            <a:ext cx="1428750" cy="714375"/>
            <a:chOff x="0" y="0"/>
            <a:chExt cx="1905000" cy="952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GTIN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14600" y="3600450"/>
            <a:ext cx="2800350" cy="714375"/>
            <a:chOff x="0" y="0"/>
            <a:chExt cx="3733800" cy="952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producto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4457700"/>
            <a:ext cx="4457700" cy="714375"/>
            <a:chOff x="0" y="0"/>
            <a:chExt cx="5943600" cy="952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7275" y="4457700"/>
            <a:ext cx="1428750" cy="714375"/>
            <a:chOff x="0" y="0"/>
            <a:chExt cx="1905000" cy="952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GLN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514600" y="4457700"/>
            <a:ext cx="2800350" cy="714375"/>
            <a:chOff x="0" y="0"/>
            <a:chExt cx="3733800" cy="952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dónde / ubicación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314950"/>
            <a:ext cx="4457700" cy="714375"/>
            <a:chOff x="0" y="0"/>
            <a:chExt cx="5943600" cy="952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57275" y="5314950"/>
            <a:ext cx="1428750" cy="714375"/>
            <a:chOff x="0" y="0"/>
            <a:chExt cx="1905000" cy="952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Lote/Serie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514600" y="5314950"/>
            <a:ext cx="2800350" cy="714375"/>
            <a:chOff x="0" y="0"/>
            <a:chExt cx="3733800" cy="952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unidad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172200"/>
            <a:ext cx="4457700" cy="714375"/>
            <a:chOff x="0" y="0"/>
            <a:chExt cx="5943600" cy="9525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57275" y="6172200"/>
            <a:ext cx="1428750" cy="714375"/>
            <a:chOff x="0" y="0"/>
            <a:chExt cx="1905000" cy="952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SSCC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514600" y="6172200"/>
            <a:ext cx="2800350" cy="714375"/>
            <a:chOff x="0" y="0"/>
            <a:chExt cx="3733800" cy="952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envío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743575" y="4572000"/>
            <a:ext cx="800100" cy="457200"/>
            <a:chOff x="0" y="0"/>
            <a:chExt cx="10668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6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66800">
                  <a:moveTo>
                    <a:pt x="0" y="152400"/>
                  </a:moveTo>
                  <a:lnTo>
                    <a:pt x="762000" y="152400"/>
                  </a:lnTo>
                  <a:lnTo>
                    <a:pt x="762000" y="0"/>
                  </a:lnTo>
                  <a:lnTo>
                    <a:pt x="1066800" y="304800"/>
                  </a:lnTo>
                  <a:lnTo>
                    <a:pt x="762000" y="609600"/>
                  </a:lnTo>
                  <a:lnTo>
                    <a:pt x="762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679406" y="2278856"/>
            <a:ext cx="4929188" cy="5014912"/>
            <a:chOff x="0" y="0"/>
            <a:chExt cx="6572250" cy="66865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722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6572250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lnTo>
                    <a:pt x="6205474" y="0"/>
                  </a:lnTo>
                  <a:cubicBezTo>
                    <a:pt x="6408039" y="0"/>
                    <a:pt x="6572250" y="164211"/>
                    <a:pt x="6572250" y="366776"/>
                  </a:cubicBezTo>
                  <a:lnTo>
                    <a:pt x="6572250" y="6319774"/>
                  </a:lnTo>
                  <a:cubicBezTo>
                    <a:pt x="6572250" y="6522339"/>
                    <a:pt x="6408039" y="6686550"/>
                    <a:pt x="6205474" y="6686550"/>
                  </a:cubicBezTo>
                  <a:lnTo>
                    <a:pt x="366776" y="6686550"/>
                  </a:lnTo>
                  <a:cubicBezTo>
                    <a:pt x="164211" y="6686550"/>
                    <a:pt x="0" y="6522339"/>
                    <a:pt x="0" y="63197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686550" y="2286000"/>
            <a:ext cx="4914900" cy="1085850"/>
            <a:chOff x="0" y="0"/>
            <a:chExt cx="6553200" cy="1447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53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6553200">
                  <a:moveTo>
                    <a:pt x="241300" y="0"/>
                  </a:moveTo>
                  <a:lnTo>
                    <a:pt x="6311900" y="0"/>
                  </a:lnTo>
                  <a:cubicBezTo>
                    <a:pt x="6445123" y="0"/>
                    <a:pt x="6553200" y="108077"/>
                    <a:pt x="6553200" y="241300"/>
                  </a:cubicBezTo>
                  <a:lnTo>
                    <a:pt x="6553200" y="1447800"/>
                  </a:lnTo>
                  <a:lnTo>
                    <a:pt x="0" y="1447800"/>
                  </a:lnTo>
                  <a:lnTo>
                    <a:pt x="0" y="241300"/>
                  </a:ln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943725" y="2514600"/>
            <a:ext cx="371475" cy="371475"/>
            <a:chOff x="0" y="0"/>
            <a:chExt cx="495300" cy="495300"/>
          </a:xfrm>
        </p:grpSpPr>
        <p:sp>
          <p:nvSpPr>
            <p:cNvPr name="Freeform 63" id="63" descr="Icono Radar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429500" y="2486025"/>
            <a:ext cx="4000500" cy="400050"/>
            <a:chOff x="0" y="0"/>
            <a:chExt cx="53340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3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3340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Eventos EPCIS 2.0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6943725" y="2924175"/>
            <a:ext cx="44291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Cada movimiento queda registrado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915150" y="3600450"/>
            <a:ext cx="4457700" cy="714375"/>
            <a:chOff x="0" y="0"/>
            <a:chExt cx="5943600" cy="9525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058025" y="3600450"/>
            <a:ext cx="1428750" cy="714375"/>
            <a:chOff x="0" y="0"/>
            <a:chExt cx="1905000" cy="952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QUÉ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15350" y="3600450"/>
            <a:ext cx="2800350" cy="714375"/>
            <a:chOff x="0" y="0"/>
            <a:chExt cx="3733800" cy="9525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producto y cantidad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915150" y="4457700"/>
            <a:ext cx="4457700" cy="714375"/>
            <a:chOff x="0" y="0"/>
            <a:chExt cx="5943600" cy="9525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058025" y="4457700"/>
            <a:ext cx="1428750" cy="714375"/>
            <a:chOff x="0" y="0"/>
            <a:chExt cx="1905000" cy="9525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DÓNDE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515350" y="4457700"/>
            <a:ext cx="2800350" cy="714375"/>
            <a:chOff x="0" y="0"/>
            <a:chExt cx="3733800" cy="9525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ubicación GLN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915150" y="5314950"/>
            <a:ext cx="4457700" cy="714375"/>
            <a:chOff x="0" y="0"/>
            <a:chExt cx="5943600" cy="9525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058025" y="5314950"/>
            <a:ext cx="1428750" cy="714375"/>
            <a:chOff x="0" y="0"/>
            <a:chExt cx="1905000" cy="9525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CUÁNDO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515350" y="5314950"/>
            <a:ext cx="2800350" cy="714375"/>
            <a:chOff x="0" y="0"/>
            <a:chExt cx="3733800" cy="9525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fecha y hora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915150" y="6172200"/>
            <a:ext cx="4457700" cy="714375"/>
            <a:chOff x="0" y="0"/>
            <a:chExt cx="5943600" cy="9525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7058025" y="6172200"/>
            <a:ext cx="1428750" cy="714375"/>
            <a:chOff x="0" y="0"/>
            <a:chExt cx="1905000" cy="9525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POR QUÉ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515350" y="6172200"/>
            <a:ext cx="2800350" cy="714375"/>
            <a:chOff x="0" y="0"/>
            <a:chExt cx="3733800" cy="9525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recepción, despacho, dispensación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744325" y="4572000"/>
            <a:ext cx="800100" cy="457200"/>
            <a:chOff x="0" y="0"/>
            <a:chExt cx="1066800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6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66800">
                  <a:moveTo>
                    <a:pt x="0" y="152400"/>
                  </a:moveTo>
                  <a:lnTo>
                    <a:pt x="762000" y="152400"/>
                  </a:lnTo>
                  <a:lnTo>
                    <a:pt x="762000" y="0"/>
                  </a:lnTo>
                  <a:lnTo>
                    <a:pt x="1066800" y="304800"/>
                  </a:lnTo>
                  <a:lnTo>
                    <a:pt x="762000" y="609600"/>
                  </a:lnTo>
                  <a:lnTo>
                    <a:pt x="7620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680156" y="2278856"/>
            <a:ext cx="4929188" cy="5014912"/>
            <a:chOff x="0" y="0"/>
            <a:chExt cx="6572250" cy="668655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5722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6572250">
                  <a:moveTo>
                    <a:pt x="0" y="366776"/>
                  </a:moveTo>
                  <a:cubicBezTo>
                    <a:pt x="0" y="164211"/>
                    <a:pt x="164211" y="0"/>
                    <a:pt x="366776" y="0"/>
                  </a:cubicBezTo>
                  <a:lnTo>
                    <a:pt x="6205474" y="0"/>
                  </a:lnTo>
                  <a:cubicBezTo>
                    <a:pt x="6408039" y="0"/>
                    <a:pt x="6572250" y="164211"/>
                    <a:pt x="6572250" y="366776"/>
                  </a:cubicBezTo>
                  <a:lnTo>
                    <a:pt x="6572250" y="6319774"/>
                  </a:lnTo>
                  <a:cubicBezTo>
                    <a:pt x="6572250" y="6522339"/>
                    <a:pt x="6408039" y="6686550"/>
                    <a:pt x="6205474" y="6686550"/>
                  </a:cubicBezTo>
                  <a:lnTo>
                    <a:pt x="366776" y="6686550"/>
                  </a:lnTo>
                  <a:cubicBezTo>
                    <a:pt x="164211" y="6686550"/>
                    <a:pt x="0" y="6522339"/>
                    <a:pt x="0" y="63197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687300" y="2286000"/>
            <a:ext cx="4914900" cy="1085850"/>
            <a:chOff x="0" y="0"/>
            <a:chExt cx="6553200" cy="1447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5532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6553200">
                  <a:moveTo>
                    <a:pt x="241300" y="0"/>
                  </a:moveTo>
                  <a:lnTo>
                    <a:pt x="6311900" y="0"/>
                  </a:lnTo>
                  <a:cubicBezTo>
                    <a:pt x="6445123" y="0"/>
                    <a:pt x="6553200" y="108077"/>
                    <a:pt x="6553200" y="241300"/>
                  </a:cubicBezTo>
                  <a:lnTo>
                    <a:pt x="6553200" y="1447800"/>
                  </a:lnTo>
                  <a:lnTo>
                    <a:pt x="0" y="1447800"/>
                  </a:lnTo>
                  <a:lnTo>
                    <a:pt x="0" y="241300"/>
                  </a:ln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944475" y="2514600"/>
            <a:ext cx="371475" cy="371475"/>
            <a:chOff x="0" y="0"/>
            <a:chExt cx="495300" cy="495300"/>
          </a:xfrm>
        </p:grpSpPr>
        <p:sp>
          <p:nvSpPr>
            <p:cNvPr name="Freeform 107" id="107" descr="Icono Cpu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430250" y="2486025"/>
            <a:ext cx="4000500" cy="400050"/>
            <a:chOff x="0" y="0"/>
            <a:chExt cx="5334000" cy="5334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33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53340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Inteligencia Artificial</a:t>
              </a: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12944475" y="2924175"/>
            <a:ext cx="44291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Modelos sobre datos confiables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2915900" y="3600450"/>
            <a:ext cx="4457700" cy="714375"/>
            <a:chOff x="0" y="0"/>
            <a:chExt cx="5943600" cy="9525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3058775" y="3600450"/>
            <a:ext cx="1428750" cy="714375"/>
            <a:chOff x="0" y="0"/>
            <a:chExt cx="1905000" cy="9525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A79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Predicción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516100" y="3600450"/>
            <a:ext cx="2800350" cy="714375"/>
            <a:chOff x="0" y="0"/>
            <a:chExt cx="3733800" cy="9525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demanda y escasez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915900" y="4457700"/>
            <a:ext cx="4457700" cy="714375"/>
            <a:chOff x="0" y="0"/>
            <a:chExt cx="5943600" cy="9525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058775" y="4457700"/>
            <a:ext cx="1428750" cy="714375"/>
            <a:chOff x="0" y="0"/>
            <a:chExt cx="1905000" cy="9525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A79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Visión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516100" y="4457700"/>
            <a:ext cx="2800350" cy="714375"/>
            <a:chOff x="0" y="0"/>
            <a:chExt cx="3733800" cy="9525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verificación de códigos 2D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915900" y="5314950"/>
            <a:ext cx="4457700" cy="714375"/>
            <a:chOff x="0" y="0"/>
            <a:chExt cx="5943600" cy="9525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943600" cy="952500"/>
            </a:xfrm>
            <a:custGeom>
              <a:avLst/>
              <a:gdLst/>
              <a:ahLst/>
              <a:cxnLst/>
              <a:rect r="r" b="b" t="t" l="l"/>
              <a:pathLst>
                <a:path h="952500" w="5943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724144" y="0"/>
                  </a:lnTo>
                  <a:cubicBezTo>
                    <a:pt x="5845302" y="0"/>
                    <a:pt x="5943600" y="98298"/>
                    <a:pt x="5943600" y="219456"/>
                  </a:cubicBezTo>
                  <a:lnTo>
                    <a:pt x="5943600" y="733044"/>
                  </a:lnTo>
                  <a:cubicBezTo>
                    <a:pt x="5943600" y="854202"/>
                    <a:pt x="5845302" y="952500"/>
                    <a:pt x="5724144" y="952500"/>
                  </a:cubicBezTo>
                  <a:lnTo>
                    <a:pt x="219456" y="952500"/>
                  </a:lnTo>
                  <a:cubicBezTo>
                    <a:pt x="98298" y="952500"/>
                    <a:pt x="0" y="854202"/>
                    <a:pt x="0" y="733044"/>
                  </a:cubicBezTo>
                  <a:close/>
                </a:path>
              </a:pathLst>
            </a:custGeom>
            <a:solidFill>
              <a:srgbClr val="F4F8FB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058775" y="5314950"/>
            <a:ext cx="1428750" cy="714375"/>
            <a:chOff x="0" y="0"/>
            <a:chExt cx="1905000" cy="9525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905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A79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Anomalías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4516100" y="5314950"/>
            <a:ext cx="2800350" cy="714375"/>
            <a:chOff x="0" y="0"/>
            <a:chExt cx="3733800" cy="9525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733800" cy="952500"/>
            </a:xfrm>
            <a:custGeom>
              <a:avLst/>
              <a:gdLst/>
              <a:ahLst/>
              <a:cxnLst/>
              <a:rect r="r" b="b" t="t" l="l"/>
              <a:pathLst>
                <a:path h="9525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81" r="0" b="-26381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3733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desvíos y cadena de frío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671512" y="7615238"/>
            <a:ext cx="16944975" cy="1228725"/>
            <a:chOff x="0" y="0"/>
            <a:chExt cx="22593300" cy="16383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5933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2593300">
                  <a:moveTo>
                    <a:pt x="0" y="374523"/>
                  </a:moveTo>
                  <a:cubicBezTo>
                    <a:pt x="0" y="167640"/>
                    <a:pt x="167640" y="0"/>
                    <a:pt x="374523" y="0"/>
                  </a:cubicBezTo>
                  <a:lnTo>
                    <a:pt x="22218777" y="0"/>
                  </a:lnTo>
                  <a:cubicBezTo>
                    <a:pt x="22425661" y="0"/>
                    <a:pt x="22593300" y="167640"/>
                    <a:pt x="22593300" y="374523"/>
                  </a:cubicBezTo>
                  <a:lnTo>
                    <a:pt x="22593300" y="1263777"/>
                  </a:lnTo>
                  <a:cubicBezTo>
                    <a:pt x="22593300" y="1470533"/>
                    <a:pt x="22425661" y="1638300"/>
                    <a:pt x="22218777" y="1638300"/>
                  </a:cubicBezTo>
                  <a:lnTo>
                    <a:pt x="374523" y="1638300"/>
                  </a:lnTo>
                  <a:cubicBezTo>
                    <a:pt x="167640" y="1638300"/>
                    <a:pt x="0" y="1470660"/>
                    <a:pt x="0" y="1263777"/>
                  </a:cubicBezTo>
                  <a:close/>
                </a:path>
              </a:pathLst>
            </a:custGeom>
            <a:solidFill>
              <a:srgbClr val="FFF7ED"/>
            </a:solidFill>
            <a:ln w="28575" cap="sq">
              <a:solidFill>
                <a:srgbClr val="F26334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057275" y="8029575"/>
            <a:ext cx="428625" cy="428625"/>
            <a:chOff x="0" y="0"/>
            <a:chExt cx="571500" cy="571500"/>
          </a:xfrm>
        </p:grpSpPr>
        <p:sp>
          <p:nvSpPr>
            <p:cNvPr name="Freeform 139" id="139" descr="Icono TriangleAlert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714500" y="7686675"/>
            <a:ext cx="15573375" cy="1085850"/>
            <a:chOff x="0" y="0"/>
            <a:chExt cx="20764500" cy="14478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07645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20764500">
                  <a:moveTo>
                    <a:pt x="0" y="0"/>
                  </a:moveTo>
                  <a:lnTo>
                    <a:pt x="20764500" y="0"/>
                  </a:lnTo>
                  <a:lnTo>
                    <a:pt x="2076450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456" r="0" b="-22945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20764500" cy="1495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263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 estándar, no hay IA confiable: </a:t>
              </a:r>
              <a:r>
                <a:rPr lang="en-US" sz="1950">
                  <a:solidFill>
                    <a:srgbClr val="0B1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códigos genéricos, datos incompletos o duplicados producen predicciones y alertas poco fiables.</a:t>
              </a: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1 · EJEMPLO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Ejemplo: de una caja de medicamento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a una decisión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9067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Cada paso del recorrido deja un rastro digital (un evento EPCIS). La IA lee ese rastro para anticipar problemas.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id="144" name="Tarjeta"/>
          <p:cNvSpPr/>
          <p:nvPr/>
        </p:nvSpPr>
        <p:spPr>
          <a:xfrm>
            <a:off x="685800" y="2400300"/>
            <a:ext cx="4000500" cy="2928938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Icono Factory"/>
          <p:cNvSpPr/>
          <p:nvPr/>
        </p:nvSpPr>
        <p:spPr>
          <a:xfrm>
            <a:off x="942975" y="2628900"/>
            <a:ext cx="742950" cy="742950"/>
          </a:xfrm>
          <a:prstGeom prst="ellipse">
            <a:avLst/>
          </a:prstGeom>
          <a:solidFill>
            <a:srgbClr val="00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Factor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83" y="2807208"/>
            <a:ext cx="386334" cy="386334"/>
          </a:xfrm>
          <a:prstGeom prst="rect">
            <a:avLst/>
          </a:prstGeom>
        </p:spPr>
      </p:pic>
      <p:sp>
        <p:nvSpPr>
          <p:cNvPr id="147" name="Paso"/>
          <p:cNvSpPr txBox="1"/>
          <p:nvPr/>
        </p:nvSpPr>
        <p:spPr>
          <a:xfrm>
            <a:off x="1885950" y="2657475"/>
            <a:ext cx="2628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1 · Laboratorio</a:t>
            </a:r>
          </a:p>
        </p:txBody>
      </p:sp>
      <p:sp>
        <p:nvSpPr>
          <p:cNvPr id="148" name="Descripción paso"/>
          <p:cNvSpPr txBox="1"/>
          <p:nvPr/>
        </p:nvSpPr>
        <p:spPr>
          <a:xfrm>
            <a:off x="942975" y="3543300"/>
            <a:ext cx="348615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Fabrica el lote LOTE-VE26 de Acetaminofén 500 mg y lo identifica con su código.</a:t>
            </a:r>
          </a:p>
        </p:txBody>
      </p:sp>
      <p:sp>
        <p:nvSpPr>
          <p:cNvPr id="149" name="Etiqueta GTIN + lote + GLN"/>
          <p:cNvSpPr/>
          <p:nvPr/>
        </p:nvSpPr>
        <p:spPr>
          <a:xfrm>
            <a:off x="942975" y="4772025"/>
            <a:ext cx="3486150" cy="400050"/>
          </a:xfrm>
          <a:prstGeom prst="roundRect">
            <a:avLst>
              <a:gd name="adj" fmla="val 50000"/>
            </a:avLst>
          </a:prstGeom>
          <a:solidFill>
            <a:srgbClr val="E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o etiqueta"/>
          <p:cNvSpPr txBox="1"/>
          <p:nvPr/>
        </p:nvSpPr>
        <p:spPr>
          <a:xfrm>
            <a:off x="942975" y="4772025"/>
            <a:ext cx="34861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97B2"/>
                </a:solidFill>
                <a:latin typeface="Calibri"/>
                <a:ea typeface="Calibri"/>
                <a:cs typeface="Calibri"/>
              </a:rPr>
              <a:t>GTIN + lote + GLN</a:t>
            </a:r>
          </a:p>
        </p:txBody>
      </p:sp>
      <p:sp>
        <p:nvSpPr>
          <p:cNvPr id="151" name="Conector"/>
          <p:cNvSpPr/>
          <p:nvPr/>
        </p:nvSpPr>
        <p:spPr>
          <a:xfrm>
            <a:off x="4629150" y="3600450"/>
            <a:ext cx="400050" cy="4000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ChevronRight_1CA9C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3657600"/>
            <a:ext cx="285750" cy="285750"/>
          </a:xfrm>
          <a:prstGeom prst="rect">
            <a:avLst/>
          </a:prstGeom>
        </p:spPr>
      </p:pic>
      <p:sp>
        <p:nvSpPr>
          <p:cNvPr id="153" name="Tarjeta"/>
          <p:cNvSpPr/>
          <p:nvPr/>
        </p:nvSpPr>
        <p:spPr>
          <a:xfrm>
            <a:off x="4991052" y="2400300"/>
            <a:ext cx="4000500" cy="2928938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Icono Truck"/>
          <p:cNvSpPr/>
          <p:nvPr/>
        </p:nvSpPr>
        <p:spPr>
          <a:xfrm>
            <a:off x="5248227" y="2628900"/>
            <a:ext cx="742950" cy="742950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Truck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6535" y="2807208"/>
            <a:ext cx="386334" cy="386334"/>
          </a:xfrm>
          <a:prstGeom prst="rect">
            <a:avLst/>
          </a:prstGeom>
        </p:spPr>
      </p:pic>
      <p:sp>
        <p:nvSpPr>
          <p:cNvPr id="156" name="Paso"/>
          <p:cNvSpPr txBox="1"/>
          <p:nvPr/>
        </p:nvSpPr>
        <p:spPr>
          <a:xfrm>
            <a:off x="6191202" y="2657475"/>
            <a:ext cx="2628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2 · Droguería</a:t>
            </a:r>
          </a:p>
        </p:txBody>
      </p:sp>
      <p:sp>
        <p:nvSpPr>
          <p:cNvPr id="157" name="Descripción paso"/>
          <p:cNvSpPr txBox="1"/>
          <p:nvPr/>
        </p:nvSpPr>
        <p:spPr>
          <a:xfrm>
            <a:off x="5248227" y="3543300"/>
            <a:ext cx="348615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Recibe el lote y lo despacha a varias farmacias. Cada movimiento queda registrado.</a:t>
            </a:r>
          </a:p>
        </p:txBody>
      </p:sp>
      <p:sp>
        <p:nvSpPr>
          <p:cNvPr id="158" name="Etiqueta Evento EPCIS · SSCC"/>
          <p:cNvSpPr/>
          <p:nvPr/>
        </p:nvSpPr>
        <p:spPr>
          <a:xfrm>
            <a:off x="5248227" y="4772025"/>
            <a:ext cx="3486150" cy="400050"/>
          </a:xfrm>
          <a:prstGeom prst="roundRect">
            <a:avLst>
              <a:gd name="adj" fmla="val 50000"/>
            </a:avLst>
          </a:prstGeom>
          <a:solidFill>
            <a:srgbClr val="E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o etiqueta"/>
          <p:cNvSpPr txBox="1"/>
          <p:nvPr/>
        </p:nvSpPr>
        <p:spPr>
          <a:xfrm>
            <a:off x="5248227" y="4772025"/>
            <a:ext cx="34861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97B2"/>
                </a:solidFill>
                <a:latin typeface="Calibri"/>
                <a:ea typeface="Calibri"/>
                <a:cs typeface="Calibri"/>
              </a:rPr>
              <a:t>Evento EPCIS · SSCC</a:t>
            </a:r>
          </a:p>
        </p:txBody>
      </p:sp>
      <p:sp>
        <p:nvSpPr>
          <p:cNvPr id="160" name="Conector"/>
          <p:cNvSpPr/>
          <p:nvPr/>
        </p:nvSpPr>
        <p:spPr>
          <a:xfrm>
            <a:off x="8934402" y="3600450"/>
            <a:ext cx="400050" cy="4000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hevronRight_1CA9C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1552" y="3657600"/>
            <a:ext cx="285750" cy="285750"/>
          </a:xfrm>
          <a:prstGeom prst="rect">
            <a:avLst/>
          </a:prstGeom>
        </p:spPr>
      </p:pic>
      <p:sp>
        <p:nvSpPr>
          <p:cNvPr id="162" name="Tarjeta"/>
          <p:cNvSpPr/>
          <p:nvPr/>
        </p:nvSpPr>
        <p:spPr>
          <a:xfrm>
            <a:off x="9296305" y="2400300"/>
            <a:ext cx="4000500" cy="2928938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Icono Store"/>
          <p:cNvSpPr/>
          <p:nvPr/>
        </p:nvSpPr>
        <p:spPr>
          <a:xfrm>
            <a:off x="9553480" y="2628900"/>
            <a:ext cx="742950" cy="74295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Stor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1788" y="2807208"/>
            <a:ext cx="386334" cy="386334"/>
          </a:xfrm>
          <a:prstGeom prst="rect">
            <a:avLst/>
          </a:prstGeom>
        </p:spPr>
      </p:pic>
      <p:sp>
        <p:nvSpPr>
          <p:cNvPr id="165" name="Paso"/>
          <p:cNvSpPr txBox="1"/>
          <p:nvPr/>
        </p:nvSpPr>
        <p:spPr>
          <a:xfrm>
            <a:off x="10496455" y="2657475"/>
            <a:ext cx="2628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3 · Farmacia</a:t>
            </a:r>
          </a:p>
        </p:txBody>
      </p:sp>
      <p:sp>
        <p:nvSpPr>
          <p:cNvPr id="166" name="Descripción paso"/>
          <p:cNvSpPr txBox="1"/>
          <p:nvPr/>
        </p:nvSpPr>
        <p:spPr>
          <a:xfrm>
            <a:off x="9553480" y="3543300"/>
            <a:ext cx="348615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Entrega cajas a los pacientes. Al escanear, se leen el lote y el vencimiento.</a:t>
            </a:r>
          </a:p>
        </p:txBody>
      </p:sp>
      <p:sp>
        <p:nvSpPr>
          <p:cNvPr id="167" name="Etiqueta Evento EPCIS · dispe"/>
          <p:cNvSpPr/>
          <p:nvPr/>
        </p:nvSpPr>
        <p:spPr>
          <a:xfrm>
            <a:off x="9553480" y="4772025"/>
            <a:ext cx="3486150" cy="400050"/>
          </a:xfrm>
          <a:prstGeom prst="roundRect">
            <a:avLst>
              <a:gd name="adj" fmla="val 50000"/>
            </a:avLst>
          </a:prstGeom>
          <a:solidFill>
            <a:srgbClr val="E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o etiqueta"/>
          <p:cNvSpPr txBox="1"/>
          <p:nvPr/>
        </p:nvSpPr>
        <p:spPr>
          <a:xfrm>
            <a:off x="9553480" y="4772025"/>
            <a:ext cx="34861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97B2"/>
                </a:solidFill>
                <a:latin typeface="Calibri"/>
                <a:ea typeface="Calibri"/>
                <a:cs typeface="Calibri"/>
              </a:rPr>
              <a:t>Evento EPCIS · dispensación</a:t>
            </a:r>
          </a:p>
        </p:txBody>
      </p:sp>
      <p:sp>
        <p:nvSpPr>
          <p:cNvPr id="169" name="Conector"/>
          <p:cNvSpPr/>
          <p:nvPr/>
        </p:nvSpPr>
        <p:spPr>
          <a:xfrm>
            <a:off x="13239655" y="3600450"/>
            <a:ext cx="400050" cy="4000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ChevronRight_1CA9C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96805" y="3657600"/>
            <a:ext cx="285750" cy="285750"/>
          </a:xfrm>
          <a:prstGeom prst="rect">
            <a:avLst/>
          </a:prstGeom>
        </p:spPr>
      </p:pic>
      <p:sp>
        <p:nvSpPr>
          <p:cNvPr id="171" name="Tarjeta"/>
          <p:cNvSpPr/>
          <p:nvPr/>
        </p:nvSpPr>
        <p:spPr>
          <a:xfrm>
            <a:off x="13601557" y="2400300"/>
            <a:ext cx="4000500" cy="2928938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Icono Cpu"/>
          <p:cNvSpPr/>
          <p:nvPr/>
        </p:nvSpPr>
        <p:spPr>
          <a:xfrm>
            <a:off x="13858732" y="2628900"/>
            <a:ext cx="742950" cy="742950"/>
          </a:xfrm>
          <a:prstGeom prst="ellipse">
            <a:avLst/>
          </a:prstGeom>
          <a:solidFill>
            <a:srgbClr val="F26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Cpu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37040" y="2807208"/>
            <a:ext cx="386334" cy="386334"/>
          </a:xfrm>
          <a:prstGeom prst="rect">
            <a:avLst/>
          </a:prstGeom>
        </p:spPr>
      </p:pic>
      <p:sp>
        <p:nvSpPr>
          <p:cNvPr id="174" name="Paso"/>
          <p:cNvSpPr txBox="1"/>
          <p:nvPr/>
        </p:nvSpPr>
        <p:spPr>
          <a:xfrm>
            <a:off x="14801707" y="2657475"/>
            <a:ext cx="2628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4 · Inteligencia artificial</a:t>
            </a:r>
          </a:p>
        </p:txBody>
      </p:sp>
      <p:sp>
        <p:nvSpPr>
          <p:cNvPr id="175" name="Descripción paso"/>
          <p:cNvSpPr txBox="1"/>
          <p:nvPr/>
        </p:nvSpPr>
        <p:spPr>
          <a:xfrm>
            <a:off x="13858732" y="3543300"/>
            <a:ext cx="348615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Cruza los registros de toda la cadena y busca patrones que una persona no vería a tiempo.</a:t>
            </a:r>
          </a:p>
        </p:txBody>
      </p:sp>
      <p:sp>
        <p:nvSpPr>
          <p:cNvPr id="176" name="Etiqueta Modelo de IA"/>
          <p:cNvSpPr/>
          <p:nvPr/>
        </p:nvSpPr>
        <p:spPr>
          <a:xfrm>
            <a:off x="13858732" y="4772025"/>
            <a:ext cx="3486150" cy="400050"/>
          </a:xfrm>
          <a:prstGeom prst="roundRect">
            <a:avLst>
              <a:gd name="adj" fmla="val 50000"/>
            </a:avLst>
          </a:prstGeom>
          <a:solidFill>
            <a:srgbClr val="E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o etiqueta"/>
          <p:cNvSpPr txBox="1"/>
          <p:nvPr/>
        </p:nvSpPr>
        <p:spPr>
          <a:xfrm>
            <a:off x="13858732" y="4772025"/>
            <a:ext cx="34861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97B2"/>
                </a:solidFill>
                <a:latin typeface="Calibri"/>
                <a:ea typeface="Calibri"/>
                <a:cs typeface="Calibri"/>
              </a:rPr>
              <a:t>Modelo de IA</a:t>
            </a:r>
          </a:p>
        </p:txBody>
      </p:sp>
      <p:sp>
        <p:nvSpPr>
          <p:cNvPr id="178" name="Con estándar"/>
          <p:cNvSpPr/>
          <p:nvPr/>
        </p:nvSpPr>
        <p:spPr>
          <a:xfrm>
            <a:off x="685800" y="5657850"/>
            <a:ext cx="8258175" cy="2514600"/>
          </a:xfrm>
          <a:prstGeom prst="roundRect">
            <a:avLst>
              <a:gd name="adj" fmla="val 10227"/>
            </a:avLst>
          </a:prstGeom>
          <a:solidFill>
            <a:srgbClr val="ECFDF5"/>
          </a:solidFill>
          <a:ln w="285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Icono CircleCheck"/>
          <p:cNvSpPr/>
          <p:nvPr/>
        </p:nvSpPr>
        <p:spPr>
          <a:xfrm>
            <a:off x="971550" y="5915025"/>
            <a:ext cx="628650" cy="6286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CircleCheck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426" y="6065901"/>
            <a:ext cx="326898" cy="326898"/>
          </a:xfrm>
          <a:prstGeom prst="rect">
            <a:avLst/>
          </a:prstGeom>
        </p:spPr>
      </p:pic>
      <p:sp>
        <p:nvSpPr>
          <p:cNvPr id="181" name="Texto"/>
          <p:cNvSpPr txBox="1"/>
          <p:nvPr/>
        </p:nvSpPr>
        <p:spPr>
          <a:xfrm>
            <a:off x="1771650" y="5972175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200">
                <a:solidFill>
                  <a:srgbClr val="047857"/>
                </a:solidFill>
                <a:latin typeface="Calibri"/>
                <a:ea typeface="Calibri"/>
                <a:cs typeface="Calibri"/>
              </a:rPr>
              <a:t>CON DATOS ESTÁNDAR</a:t>
            </a:r>
          </a:p>
        </p:txBody>
      </p:sp>
      <p:sp>
        <p:nvSpPr>
          <p:cNvPr id="182" name="Texto"/>
          <p:cNvSpPr txBox="1"/>
          <p:nvPr/>
        </p:nvSpPr>
        <p:spPr>
          <a:xfrm>
            <a:off x="971550" y="6686550"/>
            <a:ext cx="77152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IA sabe qué lote es, dónde está y cuándo se movió. Detecta que varias farmacias de una zona se quedarán sin stock en pocos días mientras una droguería tiene exceso del lote que vence primero, y recomienda redistribuirlo (FEFO).</a:t>
            </a:r>
          </a:p>
        </p:txBody>
      </p:sp>
      <p:sp>
        <p:nvSpPr>
          <p:cNvPr id="183" name="Sin estándar"/>
          <p:cNvSpPr/>
          <p:nvPr/>
        </p:nvSpPr>
        <p:spPr>
          <a:xfrm>
            <a:off x="9344025" y="5657850"/>
            <a:ext cx="8258175" cy="2514600"/>
          </a:xfrm>
          <a:prstGeom prst="roundRect">
            <a:avLst>
              <a:gd name="adj" fmla="val 10227"/>
            </a:avLst>
          </a:prstGeom>
          <a:solidFill>
            <a:srgbClr val="FEF2F2"/>
          </a:solidFill>
          <a:ln w="285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Icono CircleX"/>
          <p:cNvSpPr/>
          <p:nvPr/>
        </p:nvSpPr>
        <p:spPr>
          <a:xfrm>
            <a:off x="9629775" y="5915025"/>
            <a:ext cx="628650" cy="6286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CircleX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0651" y="6065901"/>
            <a:ext cx="326898" cy="326898"/>
          </a:xfrm>
          <a:prstGeom prst="rect">
            <a:avLst/>
          </a:prstGeom>
        </p:spPr>
      </p:pic>
      <p:sp>
        <p:nvSpPr>
          <p:cNvPr id="186" name="Texto"/>
          <p:cNvSpPr txBox="1"/>
          <p:nvPr/>
        </p:nvSpPr>
        <p:spPr>
          <a:xfrm>
            <a:off x="10429875" y="5972175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spc="20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SIN ESTÁNDAR</a:t>
            </a:r>
          </a:p>
        </p:txBody>
      </p:sp>
      <p:sp>
        <p:nvSpPr>
          <p:cNvPr id="187" name="Texto"/>
          <p:cNvSpPr txBox="1"/>
          <p:nvPr/>
        </p:nvSpPr>
        <p:spPr>
          <a:xfrm>
            <a:off x="9629775" y="6686550"/>
            <a:ext cx="77152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misma caja aparece con nombres y códigos distintos en cada sistema. La IA no puede sumar ni comparar, y el faltante se descubre tarde, cuando el paciente ya no encuentra su medicamento.</a:t>
            </a:r>
          </a:p>
        </p:txBody>
      </p:sp>
      <p:sp>
        <p:nvSpPr>
          <p:cNvPr id="188" name="Texto"/>
          <p:cNvSpPr txBox="1"/>
          <p:nvPr/>
        </p:nvSpPr>
        <p:spPr>
          <a:xfrm>
            <a:off x="685800" y="8401050"/>
            <a:ext cx="1143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Ejemplo ilustrativo con datos ficticios.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1512" y="1985962"/>
            <a:ext cx="8601075" cy="2057400"/>
            <a:chOff x="0" y="0"/>
            <a:chExt cx="1146810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681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468100">
                  <a:moveTo>
                    <a:pt x="0" y="370967"/>
                  </a:moveTo>
                  <a:cubicBezTo>
                    <a:pt x="0" y="166116"/>
                    <a:pt x="166116" y="0"/>
                    <a:pt x="370967" y="0"/>
                  </a:cubicBezTo>
                  <a:lnTo>
                    <a:pt x="11097133" y="0"/>
                  </a:lnTo>
                  <a:cubicBezTo>
                    <a:pt x="11301984" y="0"/>
                    <a:pt x="11468100" y="166116"/>
                    <a:pt x="11468100" y="370967"/>
                  </a:cubicBezTo>
                  <a:lnTo>
                    <a:pt x="11468100" y="2372233"/>
                  </a:lnTo>
                  <a:cubicBezTo>
                    <a:pt x="11468100" y="2577084"/>
                    <a:pt x="11301984" y="2743200"/>
                    <a:pt x="11097133" y="2743200"/>
                  </a:cubicBezTo>
                  <a:lnTo>
                    <a:pt x="370967" y="2743200"/>
                  </a:lnTo>
                  <a:cubicBezTo>
                    <a:pt x="166116" y="2743200"/>
                    <a:pt x="0" y="2577084"/>
                    <a:pt x="0" y="23722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CA9C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1550" y="23431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3574" y="2535174"/>
            <a:ext cx="416052" cy="416052"/>
            <a:chOff x="0" y="0"/>
            <a:chExt cx="554736" cy="554736"/>
          </a:xfrm>
        </p:grpSpPr>
        <p:sp>
          <p:nvSpPr>
            <p:cNvPr name="Freeform 16" id="16" descr="Icono ChartLine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1512" y="4214812"/>
            <a:ext cx="8601075" cy="2057400"/>
            <a:chOff x="0" y="0"/>
            <a:chExt cx="1146810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81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468100">
                  <a:moveTo>
                    <a:pt x="0" y="370967"/>
                  </a:moveTo>
                  <a:cubicBezTo>
                    <a:pt x="0" y="166116"/>
                    <a:pt x="166116" y="0"/>
                    <a:pt x="370967" y="0"/>
                  </a:cubicBezTo>
                  <a:lnTo>
                    <a:pt x="11097133" y="0"/>
                  </a:lnTo>
                  <a:cubicBezTo>
                    <a:pt x="11301984" y="0"/>
                    <a:pt x="11468100" y="166116"/>
                    <a:pt x="11468100" y="370967"/>
                  </a:cubicBezTo>
                  <a:lnTo>
                    <a:pt x="11468100" y="2372233"/>
                  </a:lnTo>
                  <a:cubicBezTo>
                    <a:pt x="11468100" y="2577084"/>
                    <a:pt x="11301984" y="2743200"/>
                    <a:pt x="11097133" y="2743200"/>
                  </a:cubicBezTo>
                  <a:lnTo>
                    <a:pt x="370967" y="2743200"/>
                  </a:lnTo>
                  <a:cubicBezTo>
                    <a:pt x="166116" y="2743200"/>
                    <a:pt x="0" y="2577084"/>
                    <a:pt x="0" y="23722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A79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71550" y="4572000"/>
            <a:ext cx="800100" cy="800100"/>
            <a:chOff x="0" y="0"/>
            <a:chExt cx="1066800" cy="106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3574" y="4764024"/>
            <a:ext cx="416052" cy="416052"/>
            <a:chOff x="0" y="0"/>
            <a:chExt cx="554736" cy="554736"/>
          </a:xfrm>
        </p:grpSpPr>
        <p:sp>
          <p:nvSpPr>
            <p:cNvPr name="Freeform 22" id="22" descr="Icono ScanEye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1512" y="6443662"/>
            <a:ext cx="8601075" cy="2057400"/>
            <a:chOff x="0" y="0"/>
            <a:chExt cx="1146810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681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468100">
                  <a:moveTo>
                    <a:pt x="0" y="370967"/>
                  </a:moveTo>
                  <a:cubicBezTo>
                    <a:pt x="0" y="166116"/>
                    <a:pt x="166116" y="0"/>
                    <a:pt x="370967" y="0"/>
                  </a:cubicBezTo>
                  <a:lnTo>
                    <a:pt x="11097133" y="0"/>
                  </a:lnTo>
                  <a:cubicBezTo>
                    <a:pt x="11301984" y="0"/>
                    <a:pt x="11468100" y="166116"/>
                    <a:pt x="11468100" y="370967"/>
                  </a:cubicBezTo>
                  <a:lnTo>
                    <a:pt x="11468100" y="2372233"/>
                  </a:lnTo>
                  <a:cubicBezTo>
                    <a:pt x="11468100" y="2577084"/>
                    <a:pt x="11301984" y="2743200"/>
                    <a:pt x="11097133" y="2743200"/>
                  </a:cubicBezTo>
                  <a:lnTo>
                    <a:pt x="370967" y="2743200"/>
                  </a:lnTo>
                  <a:cubicBezTo>
                    <a:pt x="166116" y="2743200"/>
                    <a:pt x="0" y="2577084"/>
                    <a:pt x="0" y="23722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2633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1550" y="6800850"/>
            <a:ext cx="800100" cy="800100"/>
            <a:chOff x="0" y="0"/>
            <a:chExt cx="1066800" cy="106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3574" y="6992874"/>
            <a:ext cx="416052" cy="416052"/>
            <a:chOff x="0" y="0"/>
            <a:chExt cx="554736" cy="554736"/>
          </a:xfrm>
        </p:grpSpPr>
        <p:sp>
          <p:nvSpPr>
            <p:cNvPr name="Freeform 28" id="28" descr="Icono Snowflake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86925" y="1971675"/>
            <a:ext cx="7943850" cy="3228975"/>
            <a:chOff x="0" y="0"/>
            <a:chExt cx="10591800" cy="4305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91800" cy="4305300"/>
            </a:xfrm>
            <a:custGeom>
              <a:avLst/>
              <a:gdLst/>
              <a:ahLst/>
              <a:cxnLst/>
              <a:rect r="r" b="b" t="t" l="l"/>
              <a:pathLst>
                <a:path h="4305300" w="10591800">
                  <a:moveTo>
                    <a:pt x="0" y="651637"/>
                  </a:moveTo>
                  <a:cubicBezTo>
                    <a:pt x="0" y="291719"/>
                    <a:pt x="291719" y="0"/>
                    <a:pt x="651637" y="0"/>
                  </a:cubicBezTo>
                  <a:lnTo>
                    <a:pt x="9940163" y="0"/>
                  </a:lnTo>
                  <a:cubicBezTo>
                    <a:pt x="10300081" y="0"/>
                    <a:pt x="10591800" y="291719"/>
                    <a:pt x="10591800" y="651637"/>
                  </a:cubicBezTo>
                  <a:lnTo>
                    <a:pt x="10591800" y="3653663"/>
                  </a:lnTo>
                  <a:cubicBezTo>
                    <a:pt x="10591800" y="4013581"/>
                    <a:pt x="10300081" y="4305300"/>
                    <a:pt x="9940163" y="4305300"/>
                  </a:cubicBezTo>
                  <a:lnTo>
                    <a:pt x="651637" y="4305300"/>
                  </a:lnTo>
                  <a:cubicBezTo>
                    <a:pt x="291719" y="4305300"/>
                    <a:pt x="0" y="4013581"/>
                    <a:pt x="0" y="3653663"/>
                  </a:cubicBezTo>
                  <a:close/>
                </a:path>
              </a:pathLst>
            </a:custGeom>
            <a:blipFill>
              <a:blip r:embed="rId10"/>
              <a:stretch>
                <a:fillRect l="0" t="-34876" r="0" b="-34876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29800" y="4781550"/>
            <a:ext cx="76581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Insertar foto: cadena de suministro farmacéutica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58400" y="4457700"/>
            <a:ext cx="914400" cy="400050"/>
            <a:chOff x="0" y="0"/>
            <a:chExt cx="121920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192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952500" y="0"/>
                  </a:lnTo>
                  <a:cubicBezTo>
                    <a:pt x="1099820" y="0"/>
                    <a:pt x="1219200" y="119380"/>
                    <a:pt x="1219200" y="266700"/>
                  </a:cubicBezTo>
                  <a:cubicBezTo>
                    <a:pt x="1219200" y="414020"/>
                    <a:pt x="1099820" y="533400"/>
                    <a:pt x="9525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58400" y="4457700"/>
            <a:ext cx="914400" cy="400050"/>
            <a:chOff x="0" y="0"/>
            <a:chExt cx="12192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219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GTIN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87125" y="4457700"/>
            <a:ext cx="914400" cy="400050"/>
            <a:chOff x="0" y="0"/>
            <a:chExt cx="12192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9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192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952500" y="0"/>
                  </a:lnTo>
                  <a:cubicBezTo>
                    <a:pt x="1099820" y="0"/>
                    <a:pt x="1219200" y="119380"/>
                    <a:pt x="1219200" y="266700"/>
                  </a:cubicBezTo>
                  <a:cubicBezTo>
                    <a:pt x="1219200" y="414020"/>
                    <a:pt x="1099820" y="533400"/>
                    <a:pt x="9525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87125" y="4457700"/>
            <a:ext cx="914400" cy="400050"/>
            <a:chOff x="0" y="0"/>
            <a:chExt cx="121920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19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GLN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44400" y="4457700"/>
            <a:ext cx="1085850" cy="400050"/>
            <a:chOff x="0" y="0"/>
            <a:chExt cx="14478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4478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81100" y="0"/>
                  </a:lnTo>
                  <a:cubicBezTo>
                    <a:pt x="1328420" y="0"/>
                    <a:pt x="1447800" y="119380"/>
                    <a:pt x="1447800" y="266700"/>
                  </a:cubicBezTo>
                  <a:cubicBezTo>
                    <a:pt x="1447800" y="414020"/>
                    <a:pt x="1328420" y="533400"/>
                    <a:pt x="11811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0" y="4457700"/>
            <a:ext cx="1085850" cy="400050"/>
            <a:chOff x="0" y="0"/>
            <a:chExt cx="144780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4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478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EPCIS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001375" y="4543425"/>
            <a:ext cx="228600" cy="228600"/>
            <a:chOff x="0" y="0"/>
            <a:chExt cx="304800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30480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115800" y="4543425"/>
            <a:ext cx="200025" cy="228600"/>
            <a:chOff x="0" y="0"/>
            <a:chExt cx="26670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76200"/>
                  </a:moveTo>
                  <a:lnTo>
                    <a:pt x="133350" y="76200"/>
                  </a:lnTo>
                  <a:lnTo>
                    <a:pt x="133350" y="0"/>
                  </a:lnTo>
                  <a:lnTo>
                    <a:pt x="266700" y="152400"/>
                  </a:lnTo>
                  <a:lnTo>
                    <a:pt x="133350" y="304800"/>
                  </a:lnTo>
                  <a:lnTo>
                    <a:pt x="13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01212" y="5472112"/>
            <a:ext cx="7915275" cy="2486025"/>
            <a:chOff x="0" y="0"/>
            <a:chExt cx="10553700" cy="3314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53700" cy="3314700"/>
            </a:xfrm>
            <a:custGeom>
              <a:avLst/>
              <a:gdLst/>
              <a:ahLst/>
              <a:cxnLst/>
              <a:rect r="r" b="b" t="t" l="l"/>
              <a:pathLst>
                <a:path h="3314700" w="10553700">
                  <a:moveTo>
                    <a:pt x="0" y="370078"/>
                  </a:moveTo>
                  <a:cubicBezTo>
                    <a:pt x="0" y="165608"/>
                    <a:pt x="165608" y="0"/>
                    <a:pt x="370078" y="0"/>
                  </a:cubicBezTo>
                  <a:lnTo>
                    <a:pt x="10183622" y="0"/>
                  </a:lnTo>
                  <a:cubicBezTo>
                    <a:pt x="10388092" y="0"/>
                    <a:pt x="10553700" y="165608"/>
                    <a:pt x="10553700" y="370078"/>
                  </a:cubicBezTo>
                  <a:lnTo>
                    <a:pt x="10553700" y="2944622"/>
                  </a:lnTo>
                  <a:cubicBezTo>
                    <a:pt x="10553700" y="3148965"/>
                    <a:pt x="10388092" y="3314700"/>
                    <a:pt x="10183622" y="3314700"/>
                  </a:cubicBezTo>
                  <a:lnTo>
                    <a:pt x="370078" y="3314700"/>
                  </a:lnTo>
                  <a:cubicBezTo>
                    <a:pt x="165608" y="3314700"/>
                    <a:pt x="0" y="3149092"/>
                    <a:pt x="0" y="294462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2C6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029825" y="6143625"/>
            <a:ext cx="314325" cy="314325"/>
            <a:chOff x="0" y="0"/>
            <a:chExt cx="419100" cy="419100"/>
          </a:xfrm>
        </p:grpSpPr>
        <p:sp>
          <p:nvSpPr>
            <p:cNvPr name="Freeform 54" id="54" descr="Icono Route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29825" y="7058025"/>
            <a:ext cx="314325" cy="314325"/>
            <a:chOff x="0" y="0"/>
            <a:chExt cx="419100" cy="419100"/>
          </a:xfrm>
        </p:grpSpPr>
        <p:sp>
          <p:nvSpPr>
            <p:cNvPr name="Freeform 56" id="56" descr="Icono Hourglass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5800" y="962025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Tres usos de la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IA + GS1 en salud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057400" y="2305050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Modelos predictivos de demanda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057400" y="2733675"/>
            <a:ext cx="685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Anticipan la escasez de insumos críticos y reactivos en clínicas y hospitales venezolanos.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57400" y="4533900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Visión artificial en líneas de empaque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57400" y="4962525"/>
            <a:ext cx="685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Verificación a alta velocidad de GS1 DataMatrix y QR GS1 Digital Link en plantas farmacéuticas.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57400" y="6762750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Detección de anomalías con Machine Learning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57400" y="7191375"/>
            <a:ext cx="685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Alerta temprana de desvíos a canales irregulares y rupturas de cadena de frío (insulinas, vacunas, biológicos).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029825" y="56578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IMPACTO DIRECTO EN VENEZUELA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515600" y="6076950"/>
            <a:ext cx="682942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B132B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Optimización de rutas logísticas entre laboratorios nacionales, droguerías y farmacias en todo el país.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15600" y="6991350"/>
            <a:ext cx="682942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B132B"/>
                </a:solidFill>
                <a:latin typeface="Calibri (MS)"/>
                <a:ea typeface="Calibri (MS)"/>
                <a:cs typeface="Calibri (MS)"/>
                <a:sym typeface="Calibri (MS)"/>
              </a:rPr>
              <a:t>Gestión de vencimientos </a:t>
            </a:r>
            <a:r>
              <a:rPr lang="en-US" sz="1725" b="true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FEFO</a:t>
            </a:r>
            <a:r>
              <a:rPr lang="en-US" sz="1725">
                <a:solidFill>
                  <a:srgbClr val="0B132B"/>
                </a:solidFill>
                <a:latin typeface="Calibri (MS)"/>
                <a:ea typeface="Calibri (MS)"/>
                <a:cs typeface="Calibri (MS)"/>
                <a:sym typeface="Calibri (MS)"/>
              </a:rPr>
              <a:t> (First Expired, First Out): menos mermas financieras por caducidad.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1 · EJEMPLOS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La IA + GS1 en acción: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tres situaciones cotidianas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9067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 reaccionar a anticipar: así se ve cada uso en el día a día de una clínica, una droguería o una planta.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sp>
        <p:nvSpPr>
          <p:cNvPr id="144" name="Tarjeta"/>
          <p:cNvSpPr/>
          <p:nvPr/>
        </p:nvSpPr>
        <p:spPr>
          <a:xfrm>
            <a:off x="685800" y="2286000"/>
            <a:ext cx="5400675" cy="57150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Icono ChartLine"/>
          <p:cNvSpPr/>
          <p:nvPr/>
        </p:nvSpPr>
        <p:spPr>
          <a:xfrm>
            <a:off x="971550" y="2514600"/>
            <a:ext cx="742950" cy="742950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ChartLin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58" y="2692908"/>
            <a:ext cx="386334" cy="386334"/>
          </a:xfrm>
          <a:prstGeom prst="rect">
            <a:avLst/>
          </a:prstGeom>
        </p:spPr>
      </p:pic>
      <p:sp>
        <p:nvSpPr>
          <p:cNvPr id="147" name="Texto"/>
          <p:cNvSpPr txBox="1"/>
          <p:nvPr/>
        </p:nvSpPr>
        <p:spPr>
          <a:xfrm>
            <a:off x="1914525" y="2514600"/>
            <a:ext cx="38576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Predicción de demanda</a:t>
            </a:r>
          </a:p>
        </p:txBody>
      </p:sp>
      <p:sp>
        <p:nvSpPr>
          <p:cNvPr id="148" name="Texto"/>
          <p:cNvSpPr txBox="1"/>
          <p:nvPr/>
        </p:nvSpPr>
        <p:spPr>
          <a:xfrm>
            <a:off x="971550" y="35147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SITUACIÓN</a:t>
            </a:r>
          </a:p>
        </p:txBody>
      </p:sp>
      <p:sp>
        <p:nvSpPr>
          <p:cNvPr id="149" name="Texto"/>
          <p:cNvSpPr txBox="1"/>
          <p:nvPr/>
        </p:nvSpPr>
        <p:spPr>
          <a:xfrm>
            <a:off x="971550" y="3786188"/>
            <a:ext cx="48291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Una clínica gasta cada semana más de un antibiótico y compras no lo nota.</a:t>
            </a:r>
          </a:p>
        </p:txBody>
      </p:sp>
      <p:sp>
        <p:nvSpPr>
          <p:cNvPr id="150" name="Texto"/>
          <p:cNvSpPr txBox="1"/>
          <p:nvPr/>
        </p:nvSpPr>
        <p:spPr>
          <a:xfrm>
            <a:off x="971550" y="47720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0097B2"/>
                </a:solidFill>
                <a:latin typeface="Calibri"/>
                <a:ea typeface="Calibri"/>
                <a:cs typeface="Calibri"/>
              </a:rPr>
              <a:t>QUÉ HACE LA IA</a:t>
            </a:r>
          </a:p>
        </p:txBody>
      </p:sp>
      <p:sp>
        <p:nvSpPr>
          <p:cNvPr id="151" name="Texto"/>
          <p:cNvSpPr txBox="1"/>
          <p:nvPr/>
        </p:nvSpPr>
        <p:spPr>
          <a:xfrm>
            <a:off x="971550" y="5043488"/>
            <a:ext cx="48291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Compara el consumo de semanas anteriores con las existencias (GTIN) de cada ubicación (GLN) y calcula cuándo se agotará.</a:t>
            </a:r>
          </a:p>
        </p:txBody>
      </p:sp>
      <p:sp>
        <p:nvSpPr>
          <p:cNvPr id="152" name="Texto"/>
          <p:cNvSpPr txBox="1"/>
          <p:nvPr/>
        </p:nvSpPr>
        <p:spPr>
          <a:xfrm>
            <a:off x="971550" y="6400800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047857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53" name="Texto"/>
          <p:cNvSpPr txBox="1"/>
          <p:nvPr/>
        </p:nvSpPr>
        <p:spPr>
          <a:xfrm>
            <a:off x="971550" y="6672262"/>
            <a:ext cx="48291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Compras repone a tiempo y el paciente no se queda sin tratamiento.</a:t>
            </a:r>
          </a:p>
        </p:txBody>
      </p:sp>
      <p:sp>
        <p:nvSpPr>
          <p:cNvPr id="154" name="Tarjeta"/>
          <p:cNvSpPr/>
          <p:nvPr/>
        </p:nvSpPr>
        <p:spPr>
          <a:xfrm>
            <a:off x="6429375" y="2286000"/>
            <a:ext cx="5400675" cy="57150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Icono ScanEye"/>
          <p:cNvSpPr/>
          <p:nvPr/>
        </p:nvSpPr>
        <p:spPr>
          <a:xfrm>
            <a:off x="6715125" y="2514600"/>
            <a:ext cx="742950" cy="74295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ScanEy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3433" y="2692908"/>
            <a:ext cx="386334" cy="386334"/>
          </a:xfrm>
          <a:prstGeom prst="rect">
            <a:avLst/>
          </a:prstGeom>
        </p:spPr>
      </p:pic>
      <p:sp>
        <p:nvSpPr>
          <p:cNvPr id="157" name="Texto"/>
          <p:cNvSpPr txBox="1"/>
          <p:nvPr/>
        </p:nvSpPr>
        <p:spPr>
          <a:xfrm>
            <a:off x="7658100" y="2514600"/>
            <a:ext cx="38576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Visión artificial</a:t>
            </a:r>
          </a:p>
        </p:txBody>
      </p:sp>
      <p:sp>
        <p:nvSpPr>
          <p:cNvPr id="158" name="Texto"/>
          <p:cNvSpPr txBox="1"/>
          <p:nvPr/>
        </p:nvSpPr>
        <p:spPr>
          <a:xfrm>
            <a:off x="6715125" y="35147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SITUACIÓN</a:t>
            </a:r>
          </a:p>
        </p:txBody>
      </p:sp>
      <p:sp>
        <p:nvSpPr>
          <p:cNvPr id="159" name="Texto"/>
          <p:cNvSpPr txBox="1"/>
          <p:nvPr/>
        </p:nvSpPr>
        <p:spPr>
          <a:xfrm>
            <a:off x="6715125" y="3786188"/>
            <a:ext cx="48291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Una línea de empaque produce cajas a alta velocidad y revisarlas a mano es imposible.</a:t>
            </a:r>
          </a:p>
        </p:txBody>
      </p:sp>
      <p:sp>
        <p:nvSpPr>
          <p:cNvPr id="160" name="Texto"/>
          <p:cNvSpPr txBox="1"/>
          <p:nvPr/>
        </p:nvSpPr>
        <p:spPr>
          <a:xfrm>
            <a:off x="6715125" y="47720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00A79D"/>
                </a:solidFill>
                <a:latin typeface="Calibri"/>
                <a:ea typeface="Calibri"/>
                <a:cs typeface="Calibri"/>
              </a:rPr>
              <a:t>QUÉ HACE LA IA</a:t>
            </a:r>
          </a:p>
        </p:txBody>
      </p:sp>
      <p:sp>
        <p:nvSpPr>
          <p:cNvPr id="161" name="Texto"/>
          <p:cNvSpPr txBox="1"/>
          <p:nvPr/>
        </p:nvSpPr>
        <p:spPr>
          <a:xfrm>
            <a:off x="6715125" y="5043488"/>
            <a:ext cx="48291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Una cámara lee el código DataMatrix de cada caja y verifica que el lote y el vencimiento coincidan con la orden de producción.</a:t>
            </a:r>
          </a:p>
        </p:txBody>
      </p:sp>
      <p:sp>
        <p:nvSpPr>
          <p:cNvPr id="162" name="Texto"/>
          <p:cNvSpPr txBox="1"/>
          <p:nvPr/>
        </p:nvSpPr>
        <p:spPr>
          <a:xfrm>
            <a:off x="6715125" y="6400800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047857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63" name="Texto"/>
          <p:cNvSpPr txBox="1"/>
          <p:nvPr/>
        </p:nvSpPr>
        <p:spPr>
          <a:xfrm>
            <a:off x="6715125" y="6672262"/>
            <a:ext cx="48291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Las cajas con código ilegible o fecha equivocada se apartan antes de salir de la planta.</a:t>
            </a:r>
          </a:p>
        </p:txBody>
      </p:sp>
      <p:sp>
        <p:nvSpPr>
          <p:cNvPr id="164" name="Tarjeta"/>
          <p:cNvSpPr/>
          <p:nvPr/>
        </p:nvSpPr>
        <p:spPr>
          <a:xfrm>
            <a:off x="12172950" y="2286000"/>
            <a:ext cx="5400675" cy="57150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Icono Snowflake"/>
          <p:cNvSpPr/>
          <p:nvPr/>
        </p:nvSpPr>
        <p:spPr>
          <a:xfrm>
            <a:off x="12458700" y="2514600"/>
            <a:ext cx="742950" cy="742950"/>
          </a:xfrm>
          <a:prstGeom prst="ellipse">
            <a:avLst/>
          </a:prstGeom>
          <a:solidFill>
            <a:srgbClr val="F26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Snowflak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7008" y="2692908"/>
            <a:ext cx="386334" cy="386334"/>
          </a:xfrm>
          <a:prstGeom prst="rect">
            <a:avLst/>
          </a:prstGeom>
        </p:spPr>
      </p:pic>
      <p:sp>
        <p:nvSpPr>
          <p:cNvPr id="167" name="Texto"/>
          <p:cNvSpPr txBox="1"/>
          <p:nvPr/>
        </p:nvSpPr>
        <p:spPr>
          <a:xfrm>
            <a:off x="13401675" y="2514600"/>
            <a:ext cx="38576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Detección de anomalías</a:t>
            </a:r>
          </a:p>
        </p:txBody>
      </p:sp>
      <p:sp>
        <p:nvSpPr>
          <p:cNvPr id="168" name="Texto"/>
          <p:cNvSpPr txBox="1"/>
          <p:nvPr/>
        </p:nvSpPr>
        <p:spPr>
          <a:xfrm>
            <a:off x="12458700" y="35147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SITUACIÓN</a:t>
            </a:r>
          </a:p>
        </p:txBody>
      </p:sp>
      <p:sp>
        <p:nvSpPr>
          <p:cNvPr id="169" name="Texto"/>
          <p:cNvSpPr txBox="1"/>
          <p:nvPr/>
        </p:nvSpPr>
        <p:spPr>
          <a:xfrm>
            <a:off x="12458700" y="3786188"/>
            <a:ext cx="48291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 envío de insulina viaja de la droguería a una farmacia.</a:t>
            </a:r>
          </a:p>
        </p:txBody>
      </p:sp>
      <p:sp>
        <p:nvSpPr>
          <p:cNvPr id="170" name="Texto"/>
          <p:cNvSpPr txBox="1"/>
          <p:nvPr/>
        </p:nvSpPr>
        <p:spPr>
          <a:xfrm>
            <a:off x="12458700" y="4772025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F26334"/>
                </a:solidFill>
                <a:latin typeface="Calibri"/>
                <a:ea typeface="Calibri"/>
                <a:cs typeface="Calibri"/>
              </a:rPr>
              <a:t>QUÉ HACE LA IA</a:t>
            </a:r>
          </a:p>
        </p:txBody>
      </p:sp>
      <p:sp>
        <p:nvSpPr>
          <p:cNvPr id="171" name="Texto"/>
          <p:cNvSpPr txBox="1"/>
          <p:nvPr/>
        </p:nvSpPr>
        <p:spPr>
          <a:xfrm>
            <a:off x="12458700" y="5043488"/>
            <a:ext cx="48291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Detecta que el lote estuvo fuera del rango de temperatura o que aparece en un lugar (GLN) que no está en su ruta.</a:t>
            </a:r>
          </a:p>
        </p:txBody>
      </p:sp>
      <p:sp>
        <p:nvSpPr>
          <p:cNvPr id="172" name="Texto"/>
          <p:cNvSpPr txBox="1"/>
          <p:nvPr/>
        </p:nvSpPr>
        <p:spPr>
          <a:xfrm>
            <a:off x="12458700" y="6400800"/>
            <a:ext cx="4714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047857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73" name="Texto"/>
          <p:cNvSpPr txBox="1"/>
          <p:nvPr/>
        </p:nvSpPr>
        <p:spPr>
          <a:xfrm>
            <a:off x="12458700" y="6672262"/>
            <a:ext cx="48291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Alerta temprana: el lote se aparta antes de llegar al paciente.</a:t>
            </a:r>
          </a:p>
        </p:txBody>
      </p:sp>
      <p:sp>
        <p:nvSpPr>
          <p:cNvPr id="174" name="Texto"/>
          <p:cNvSpPr txBox="1"/>
          <p:nvPr/>
        </p:nvSpPr>
        <p:spPr>
          <a:xfrm>
            <a:off x="685800" y="8286750"/>
            <a:ext cx="16916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Idea clave: la IA no reemplaza al personal; le avisa a tiempo dónde mirar.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  <p:sp>
        <p:nvSpPr>
          <p:cNvPr id="144" name="Número de punto"/>
          <p:cNvSpPr/>
          <p:nvPr/>
        </p:nvSpPr>
        <p:spPr>
          <a:xfrm>
            <a:off x="1371600" y="2400300"/>
            <a:ext cx="2714625" cy="2714625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úmero"/>
          <p:cNvSpPr txBox="1"/>
          <p:nvPr/>
        </p:nvSpPr>
        <p:spPr>
          <a:xfrm>
            <a:off x="1371600" y="2400300"/>
            <a:ext cx="2714625" cy="271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6" name="Kicker"/>
          <p:cNvSpPr txBox="1"/>
          <p:nvPr/>
        </p:nvSpPr>
        <p:spPr>
          <a:xfrm>
            <a:off x="4714875" y="2457450"/>
            <a:ext cx="111442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99">
                <a:solidFill>
                  <a:srgbClr val="F26334"/>
                </a:solidFill>
                <a:latin typeface="Calibri"/>
                <a:ea typeface="Calibri"/>
                <a:cs typeface="Calibri"/>
              </a:rPr>
              <a:t>INICIAMOS EL PUNTO 2 DE LA AGENDA</a:t>
            </a:r>
          </a:p>
        </p:txBody>
      </p:sp>
      <p:sp>
        <p:nvSpPr>
          <p:cNvPr id="147" name="Título sección"/>
          <p:cNvSpPr txBox="1"/>
          <p:nvPr/>
        </p:nvSpPr>
        <p:spPr>
          <a:xfrm>
            <a:off x="4714875" y="2914650"/>
            <a:ext cx="9144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9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Seguridad, cadena y trazabilidad</a:t>
            </a:r>
          </a:p>
        </p:txBody>
      </p:sp>
      <p:sp>
        <p:nvSpPr>
          <p:cNvPr id="148" name="Subtítulo sección"/>
          <p:cNvSpPr txBox="1"/>
          <p:nvPr/>
        </p:nvSpPr>
        <p:spPr>
          <a:xfrm>
            <a:off x="4714875" y="4800600"/>
            <a:ext cx="10858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Pacientes, suministro y medicamentos</a:t>
            </a:r>
          </a:p>
        </p:txBody>
      </p:sp>
      <p:sp>
        <p:nvSpPr>
          <p:cNvPr id="149" name="Etiqueta Los 5 Correctos (BCM"/>
          <p:cNvSpPr/>
          <p:nvPr/>
        </p:nvSpPr>
        <p:spPr>
          <a:xfrm>
            <a:off x="4714875" y="5572125"/>
            <a:ext cx="30861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o etiqueta"/>
          <p:cNvSpPr txBox="1"/>
          <p:nvPr/>
        </p:nvSpPr>
        <p:spPr>
          <a:xfrm>
            <a:off x="4714875" y="5572125"/>
            <a:ext cx="3086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Los 5 Correctos (BCMA)</a:t>
            </a:r>
          </a:p>
        </p:txBody>
      </p:sp>
      <p:sp>
        <p:nvSpPr>
          <p:cNvPr id="151" name="Etiqueta Eficiencia de la cad"/>
          <p:cNvSpPr/>
          <p:nvPr/>
        </p:nvSpPr>
        <p:spPr>
          <a:xfrm>
            <a:off x="7972425" y="5572125"/>
            <a:ext cx="32004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o etiqueta"/>
          <p:cNvSpPr txBox="1"/>
          <p:nvPr/>
        </p:nvSpPr>
        <p:spPr>
          <a:xfrm>
            <a:off x="7972425" y="5572125"/>
            <a:ext cx="32004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Eficiencia de la cadena</a:t>
            </a:r>
          </a:p>
        </p:txBody>
      </p:sp>
      <p:sp>
        <p:nvSpPr>
          <p:cNvPr id="153" name="Etiqueta De EAN-13 a 2D"/>
          <p:cNvSpPr/>
          <p:nvPr/>
        </p:nvSpPr>
        <p:spPr>
          <a:xfrm>
            <a:off x="11344275" y="5572125"/>
            <a:ext cx="21717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o etiqueta"/>
          <p:cNvSpPr txBox="1"/>
          <p:nvPr/>
        </p:nvSpPr>
        <p:spPr>
          <a:xfrm>
            <a:off x="11344275" y="5572125"/>
            <a:ext cx="21717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De EAN-13 a 2D</a:t>
            </a:r>
          </a:p>
        </p:txBody>
      </p:sp>
      <p:sp>
        <p:nvSpPr>
          <p:cNvPr id="155" name="Etiqueta Casos de éxito"/>
          <p:cNvSpPr/>
          <p:nvPr/>
        </p:nvSpPr>
        <p:spPr>
          <a:xfrm>
            <a:off x="13687425" y="5572125"/>
            <a:ext cx="21717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o etiqueta"/>
          <p:cNvSpPr txBox="1"/>
          <p:nvPr/>
        </p:nvSpPr>
        <p:spPr>
          <a:xfrm>
            <a:off x="13687425" y="5572125"/>
            <a:ext cx="21717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Casos de éxito</a:t>
            </a:r>
          </a:p>
        </p:txBody>
      </p:sp>
      <p:sp>
        <p:nvSpPr>
          <p:cNvPr id="157" name="Círculo decorativo"/>
          <p:cNvSpPr/>
          <p:nvPr/>
        </p:nvSpPr>
        <p:spPr>
          <a:xfrm>
            <a:off x="15144750" y="2143125"/>
            <a:ext cx="2428875" cy="2428875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ShieldPlus_1CA9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88" y="2786062"/>
            <a:ext cx="1143000" cy="1143000"/>
          </a:xfrm>
          <a:prstGeom prst="rect">
            <a:avLst/>
          </a:prstGeom>
        </p:spPr>
      </p:pic>
      <p:sp>
        <p:nvSpPr>
          <p:cNvPr id="159" name="Progreso"/>
          <p:cNvSpPr txBox="1"/>
          <p:nvPr/>
        </p:nvSpPr>
        <p:spPr>
          <a:xfrm>
            <a:off x="1371600" y="7215188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spc="2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PUNTOS DE LA AGENDA</a:t>
            </a:r>
          </a:p>
        </p:txBody>
      </p:sp>
      <p:sp>
        <p:nvSpPr>
          <p:cNvPr id="160" name="Progreso 1"/>
          <p:cNvSpPr/>
          <p:nvPr/>
        </p:nvSpPr>
        <p:spPr>
          <a:xfrm>
            <a:off x="137160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rogreso texto"/>
          <p:cNvSpPr txBox="1"/>
          <p:nvPr/>
        </p:nvSpPr>
        <p:spPr>
          <a:xfrm>
            <a:off x="157162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· Rastreo Inteligente</a:t>
            </a:r>
          </a:p>
        </p:txBody>
      </p:sp>
      <p:sp>
        <p:nvSpPr>
          <p:cNvPr id="162" name="Progreso 2"/>
          <p:cNvSpPr/>
          <p:nvPr/>
        </p:nvSpPr>
        <p:spPr>
          <a:xfrm>
            <a:off x="540067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1CA9C9"/>
          </a:solidFill>
          <a:ln>
            <a:noFill/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rogreso texto"/>
          <p:cNvSpPr txBox="1"/>
          <p:nvPr/>
        </p:nvSpPr>
        <p:spPr>
          <a:xfrm>
            <a:off x="560070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Seguridad, cadena y trazabilidad</a:t>
            </a:r>
          </a:p>
        </p:txBody>
      </p:sp>
      <p:sp>
        <p:nvSpPr>
          <p:cNvPr id="164" name="Progreso 3"/>
          <p:cNvSpPr/>
          <p:nvPr/>
        </p:nvSpPr>
        <p:spPr>
          <a:xfrm>
            <a:off x="942975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greso texto"/>
          <p:cNvSpPr txBox="1"/>
          <p:nvPr/>
        </p:nvSpPr>
        <p:spPr>
          <a:xfrm>
            <a:off x="962977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· GS1 News</a:t>
            </a:r>
          </a:p>
        </p:txBody>
      </p:sp>
      <p:sp>
        <p:nvSpPr>
          <p:cNvPr id="166" name="Progreso 4"/>
          <p:cNvSpPr/>
          <p:nvPr/>
        </p:nvSpPr>
        <p:spPr>
          <a:xfrm>
            <a:off x="1345882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rogreso texto"/>
          <p:cNvSpPr txBox="1"/>
          <p:nvPr/>
        </p:nvSpPr>
        <p:spPr>
          <a:xfrm>
            <a:off x="1365885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· Ronda Abierta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Seguridad del paciente: los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5 Correctos</a:t>
            </a: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 (BCMA)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71625"/>
            <a:ext cx="1143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Escaneo a pie de cama — Bedside Barcode Medication Administration</a:t>
            </a:r>
          </a:p>
        </p:txBody>
      </p:sp>
      <p:grpSp>
        <p:nvGrpSpPr>
          <p:cNvPr name="Group 14" id="14"/>
          <p:cNvGrpSpPr/>
          <p:nvPr/>
        </p:nvGrpSpPr>
        <p:grpSpPr>
          <a:xfrm rot="-300000">
            <a:off x="857250" y="2286000"/>
            <a:ext cx="3571875" cy="5772150"/>
            <a:chOff x="0" y="0"/>
            <a:chExt cx="4762500" cy="7696200"/>
          </a:xfrm>
        </p:grpSpPr>
        <p:sp>
          <p:nvSpPr>
            <p:cNvPr name="Freeform 15" id="15" descr="Médico sosteniendo la mano del paciente"/>
            <p:cNvSpPr/>
            <p:nvPr/>
          </p:nvSpPr>
          <p:spPr>
            <a:xfrm flipH="false" flipV="false" rot="0">
              <a:off x="0" y="0"/>
              <a:ext cx="4762500" cy="7696200"/>
            </a:xfrm>
            <a:custGeom>
              <a:avLst/>
              <a:gdLst/>
              <a:ahLst/>
              <a:cxnLst/>
              <a:rect r="r" b="b" t="t" l="l"/>
              <a:pathLst>
                <a:path h="76962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" t="0" r="-1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28875" y="6143625"/>
            <a:ext cx="2857500" cy="2857500"/>
            <a:chOff x="0" y="0"/>
            <a:chExt cx="3810000" cy="3810000"/>
          </a:xfrm>
        </p:grpSpPr>
        <p:sp>
          <p:nvSpPr>
            <p:cNvPr name="Freeform 17" id="17" descr="Médico con iconos de salud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5850" y="200025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7874" y="2192274"/>
            <a:ext cx="416052" cy="416052"/>
            <a:chOff x="0" y="0"/>
            <a:chExt cx="554736" cy="554736"/>
          </a:xfrm>
        </p:grpSpPr>
        <p:sp>
          <p:nvSpPr>
            <p:cNvPr name="Freeform 21" id="21" descr="Icono ShieldCheck"/>
            <p:cNvSpPr/>
            <p:nvPr/>
          </p:nvSpPr>
          <p:spPr>
            <a:xfrm flipH="false" flipV="false" rot="0">
              <a:off x="0" y="0"/>
              <a:ext cx="554736" cy="554736"/>
            </a:xfrm>
            <a:custGeom>
              <a:avLst/>
              <a:gdLst/>
              <a:ahLst/>
              <a:cxnLst/>
              <a:rect r="r" b="b" t="t" l="l"/>
              <a:pathLst>
                <a:path h="55473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07856" y="2278856"/>
            <a:ext cx="11901488" cy="1157288"/>
            <a:chOff x="0" y="0"/>
            <a:chExt cx="15868650" cy="1543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686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868650">
                  <a:moveTo>
                    <a:pt x="0" y="370332"/>
                  </a:moveTo>
                  <a:cubicBezTo>
                    <a:pt x="0" y="165862"/>
                    <a:pt x="165862" y="0"/>
                    <a:pt x="370332" y="0"/>
                  </a:cubicBezTo>
                  <a:lnTo>
                    <a:pt x="15498318" y="0"/>
                  </a:lnTo>
                  <a:cubicBezTo>
                    <a:pt x="15702787" y="0"/>
                    <a:pt x="15868650" y="165862"/>
                    <a:pt x="15868650" y="370332"/>
                  </a:cubicBezTo>
                  <a:lnTo>
                    <a:pt x="15868650" y="1172718"/>
                  </a:lnTo>
                  <a:cubicBezTo>
                    <a:pt x="15868650" y="1377188"/>
                    <a:pt x="15702787" y="1543050"/>
                    <a:pt x="15498318" y="1543050"/>
                  </a:cubicBezTo>
                  <a:lnTo>
                    <a:pt x="370332" y="1543050"/>
                  </a:lnTo>
                  <a:cubicBezTo>
                    <a:pt x="165862" y="1543050"/>
                    <a:pt x="0" y="1377188"/>
                    <a:pt x="0" y="1172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0" y="2528888"/>
            <a:ext cx="657225" cy="657225"/>
            <a:chOff x="0" y="0"/>
            <a:chExt cx="876300" cy="876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000750" y="2528888"/>
            <a:ext cx="657225" cy="657225"/>
            <a:chOff x="0" y="0"/>
            <a:chExt cx="876300" cy="876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763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943725" y="2419350"/>
            <a:ext cx="800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Paciente correcto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43725" y="2771775"/>
            <a:ext cx="8572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Escaneo del código GS1 del brazalete de identificación hospitalaria.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059150" y="2657475"/>
            <a:ext cx="1257300" cy="400050"/>
            <a:chOff x="0" y="0"/>
            <a:chExt cx="1676400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409700" y="0"/>
                  </a:lnTo>
                  <a:cubicBezTo>
                    <a:pt x="1557020" y="0"/>
                    <a:pt x="1676400" y="119380"/>
                    <a:pt x="1676400" y="266700"/>
                  </a:cubicBezTo>
                  <a:cubicBezTo>
                    <a:pt x="1676400" y="414020"/>
                    <a:pt x="1557020" y="533400"/>
                    <a:pt x="14097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59150" y="2657475"/>
            <a:ext cx="1257300" cy="400050"/>
            <a:chOff x="0" y="0"/>
            <a:chExt cx="16764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6764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GSRN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707856" y="3593306"/>
            <a:ext cx="11901488" cy="1157288"/>
            <a:chOff x="0" y="0"/>
            <a:chExt cx="15868650" cy="1543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8686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868650">
                  <a:moveTo>
                    <a:pt x="0" y="370332"/>
                  </a:moveTo>
                  <a:cubicBezTo>
                    <a:pt x="0" y="165862"/>
                    <a:pt x="165862" y="0"/>
                    <a:pt x="370332" y="0"/>
                  </a:cubicBezTo>
                  <a:lnTo>
                    <a:pt x="15498318" y="0"/>
                  </a:lnTo>
                  <a:cubicBezTo>
                    <a:pt x="15702787" y="0"/>
                    <a:pt x="15868650" y="165862"/>
                    <a:pt x="15868650" y="370332"/>
                  </a:cubicBezTo>
                  <a:lnTo>
                    <a:pt x="15868650" y="1172718"/>
                  </a:lnTo>
                  <a:cubicBezTo>
                    <a:pt x="15868650" y="1377188"/>
                    <a:pt x="15702787" y="1543050"/>
                    <a:pt x="15498318" y="1543050"/>
                  </a:cubicBezTo>
                  <a:lnTo>
                    <a:pt x="370332" y="1543050"/>
                  </a:lnTo>
                  <a:cubicBezTo>
                    <a:pt x="165862" y="1543050"/>
                    <a:pt x="0" y="1377188"/>
                    <a:pt x="0" y="1172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000750" y="3843338"/>
            <a:ext cx="657225" cy="657225"/>
            <a:chOff x="0" y="0"/>
            <a:chExt cx="876300" cy="876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0" y="3843338"/>
            <a:ext cx="657225" cy="657225"/>
            <a:chOff x="0" y="0"/>
            <a:chExt cx="876300" cy="876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763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943725" y="3733800"/>
            <a:ext cx="800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Medicamento correcto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43725" y="4086225"/>
            <a:ext cx="8572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instantánea del GTIN contra la prescripción médica electrónica.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6059150" y="3971925"/>
            <a:ext cx="1257300" cy="400050"/>
            <a:chOff x="0" y="0"/>
            <a:chExt cx="1676400" cy="5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409700" y="0"/>
                  </a:lnTo>
                  <a:cubicBezTo>
                    <a:pt x="1557020" y="0"/>
                    <a:pt x="1676400" y="119380"/>
                    <a:pt x="1676400" y="266700"/>
                  </a:cubicBezTo>
                  <a:cubicBezTo>
                    <a:pt x="1676400" y="414020"/>
                    <a:pt x="1557020" y="533400"/>
                    <a:pt x="14097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059150" y="3971925"/>
            <a:ext cx="1257300" cy="400050"/>
            <a:chOff x="0" y="0"/>
            <a:chExt cx="16764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6764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GTIN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707856" y="4907756"/>
            <a:ext cx="11901488" cy="1157288"/>
            <a:chOff x="0" y="0"/>
            <a:chExt cx="15868650" cy="1543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686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868650">
                  <a:moveTo>
                    <a:pt x="0" y="370332"/>
                  </a:moveTo>
                  <a:cubicBezTo>
                    <a:pt x="0" y="165862"/>
                    <a:pt x="165862" y="0"/>
                    <a:pt x="370332" y="0"/>
                  </a:cubicBezTo>
                  <a:lnTo>
                    <a:pt x="15498318" y="0"/>
                  </a:lnTo>
                  <a:cubicBezTo>
                    <a:pt x="15702787" y="0"/>
                    <a:pt x="15868650" y="165862"/>
                    <a:pt x="15868650" y="370332"/>
                  </a:cubicBezTo>
                  <a:lnTo>
                    <a:pt x="15868650" y="1172718"/>
                  </a:lnTo>
                  <a:cubicBezTo>
                    <a:pt x="15868650" y="1377188"/>
                    <a:pt x="15702787" y="1543050"/>
                    <a:pt x="15498318" y="1543050"/>
                  </a:cubicBezTo>
                  <a:lnTo>
                    <a:pt x="370332" y="1543050"/>
                  </a:lnTo>
                  <a:cubicBezTo>
                    <a:pt x="165862" y="1543050"/>
                    <a:pt x="0" y="1377188"/>
                    <a:pt x="0" y="1172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000750" y="5157788"/>
            <a:ext cx="657225" cy="657225"/>
            <a:chOff x="0" y="0"/>
            <a:chExt cx="876300" cy="876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000750" y="5157788"/>
            <a:ext cx="657225" cy="657225"/>
            <a:chOff x="0" y="0"/>
            <a:chExt cx="876300" cy="8763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8763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943725" y="5048250"/>
            <a:ext cx="800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Dosis correcta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43725" y="5400675"/>
            <a:ext cx="8572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 la concentración (500 mg vs 1000 mg) y evita errores LASA (Look-Alike, Sound-Alike).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6059150" y="5286375"/>
            <a:ext cx="1257300" cy="400050"/>
            <a:chOff x="0" y="0"/>
            <a:chExt cx="167640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409700" y="0"/>
                  </a:lnTo>
                  <a:cubicBezTo>
                    <a:pt x="1557020" y="0"/>
                    <a:pt x="1676400" y="119380"/>
                    <a:pt x="1676400" y="266700"/>
                  </a:cubicBezTo>
                  <a:cubicBezTo>
                    <a:pt x="1676400" y="414020"/>
                    <a:pt x="1557020" y="533400"/>
                    <a:pt x="14097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059150" y="5286375"/>
            <a:ext cx="1257300" cy="400050"/>
            <a:chOff x="0" y="0"/>
            <a:chExt cx="1676400" cy="533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6764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LASA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707856" y="6222206"/>
            <a:ext cx="11901488" cy="1157288"/>
            <a:chOff x="0" y="0"/>
            <a:chExt cx="15868650" cy="15430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8686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868650">
                  <a:moveTo>
                    <a:pt x="0" y="370332"/>
                  </a:moveTo>
                  <a:cubicBezTo>
                    <a:pt x="0" y="165862"/>
                    <a:pt x="165862" y="0"/>
                    <a:pt x="370332" y="0"/>
                  </a:cubicBezTo>
                  <a:lnTo>
                    <a:pt x="15498318" y="0"/>
                  </a:lnTo>
                  <a:cubicBezTo>
                    <a:pt x="15702787" y="0"/>
                    <a:pt x="15868650" y="165862"/>
                    <a:pt x="15868650" y="370332"/>
                  </a:cubicBezTo>
                  <a:lnTo>
                    <a:pt x="15868650" y="1172718"/>
                  </a:lnTo>
                  <a:cubicBezTo>
                    <a:pt x="15868650" y="1377188"/>
                    <a:pt x="15702787" y="1543050"/>
                    <a:pt x="15498318" y="1543050"/>
                  </a:cubicBezTo>
                  <a:lnTo>
                    <a:pt x="370332" y="1543050"/>
                  </a:lnTo>
                  <a:cubicBezTo>
                    <a:pt x="165862" y="1543050"/>
                    <a:pt x="0" y="1377188"/>
                    <a:pt x="0" y="1172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000750" y="6472238"/>
            <a:ext cx="657225" cy="657225"/>
            <a:chOff x="0" y="0"/>
            <a:chExt cx="876300" cy="8763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000750" y="6472238"/>
            <a:ext cx="657225" cy="657225"/>
            <a:chOff x="0" y="0"/>
            <a:chExt cx="876300" cy="876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8763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6943725" y="6362700"/>
            <a:ext cx="800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Vía y hora correctas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943725" y="6715125"/>
            <a:ext cx="8572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 automático en la Historia Clínica Electrónica.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6059150" y="6600825"/>
            <a:ext cx="1257300" cy="400050"/>
            <a:chOff x="0" y="0"/>
            <a:chExt cx="1676400" cy="533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409700" y="0"/>
                  </a:lnTo>
                  <a:cubicBezTo>
                    <a:pt x="1557020" y="0"/>
                    <a:pt x="1676400" y="119380"/>
                    <a:pt x="1676400" y="266700"/>
                  </a:cubicBezTo>
                  <a:cubicBezTo>
                    <a:pt x="1676400" y="414020"/>
                    <a:pt x="1557020" y="533400"/>
                    <a:pt x="14097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059150" y="6600825"/>
            <a:ext cx="1257300" cy="400050"/>
            <a:chOff x="0" y="0"/>
            <a:chExt cx="1676400" cy="533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76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6764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700712" y="7529512"/>
            <a:ext cx="11915775" cy="1171575"/>
            <a:chOff x="0" y="0"/>
            <a:chExt cx="15887700" cy="15621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8877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15887700">
                  <a:moveTo>
                    <a:pt x="0" y="374904"/>
                  </a:moveTo>
                  <a:cubicBezTo>
                    <a:pt x="0" y="167894"/>
                    <a:pt x="167894" y="0"/>
                    <a:pt x="374904" y="0"/>
                  </a:cubicBezTo>
                  <a:lnTo>
                    <a:pt x="15512796" y="0"/>
                  </a:lnTo>
                  <a:cubicBezTo>
                    <a:pt x="15719806" y="0"/>
                    <a:pt x="15887700" y="167894"/>
                    <a:pt x="15887700" y="374904"/>
                  </a:cubicBezTo>
                  <a:lnTo>
                    <a:pt x="15887700" y="1187196"/>
                  </a:lnTo>
                  <a:cubicBezTo>
                    <a:pt x="15887700" y="1394206"/>
                    <a:pt x="15719806" y="1562100"/>
                    <a:pt x="15512796" y="1562100"/>
                  </a:cubicBezTo>
                  <a:lnTo>
                    <a:pt x="374904" y="1562100"/>
                  </a:lnTo>
                  <a:cubicBezTo>
                    <a:pt x="167894" y="1562100"/>
                    <a:pt x="0" y="1394206"/>
                    <a:pt x="0" y="118719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26334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6000750" y="7786688"/>
            <a:ext cx="657225" cy="657225"/>
            <a:chOff x="0" y="0"/>
            <a:chExt cx="876300" cy="8763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000750" y="7786688"/>
            <a:ext cx="657225" cy="657225"/>
            <a:chOff x="0" y="0"/>
            <a:chExt cx="876300" cy="8763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876300" cy="88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6943725" y="7677150"/>
            <a:ext cx="800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Vigencia garantizada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943725" y="8029575"/>
            <a:ext cx="8572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El sistema bloquea la dosis si (17) indica vencido o si el lote (10) tiene alerta de retiro.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5316200" y="7915275"/>
            <a:ext cx="2000250" cy="400050"/>
            <a:chOff x="0" y="0"/>
            <a:chExt cx="2667000" cy="533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67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6670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2400300" y="0"/>
                  </a:lnTo>
                  <a:cubicBezTo>
                    <a:pt x="2547620" y="0"/>
                    <a:pt x="2667000" y="119380"/>
                    <a:pt x="2667000" y="266700"/>
                  </a:cubicBezTo>
                  <a:cubicBezTo>
                    <a:pt x="2667000" y="414020"/>
                    <a:pt x="2547620" y="533400"/>
                    <a:pt x="2400300" y="533400"/>
                  </a:cubicBez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316200" y="7915275"/>
            <a:ext cx="2000250" cy="400050"/>
            <a:chOff x="0" y="0"/>
            <a:chExt cx="2667000" cy="533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67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26670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BLOQUEO ACTIVO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2 · APLICACIONES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¿Dónde se aplican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los 5 Correctos?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90675"/>
            <a:ext cx="1428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Cualquier servicio donde se administran medicamentos puede usar el escaneo a pie de cama.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id="144" name="Tarjeta"/>
          <p:cNvSpPr/>
          <p:nvPr/>
        </p:nvSpPr>
        <p:spPr>
          <a:xfrm>
            <a:off x="685800" y="2286000"/>
            <a:ext cx="5715000" cy="6286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o"/>
          <p:cNvSpPr txBox="1"/>
          <p:nvPr/>
        </p:nvSpPr>
        <p:spPr>
          <a:xfrm>
            <a:off x="1028700" y="2514600"/>
            <a:ext cx="500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¿Cómo funciona en la práctica?</a:t>
            </a:r>
          </a:p>
        </p:txBody>
      </p:sp>
      <p:sp>
        <p:nvSpPr>
          <p:cNvPr id="146" name="Insignia 1"/>
          <p:cNvSpPr/>
          <p:nvPr/>
        </p:nvSpPr>
        <p:spPr>
          <a:xfrm>
            <a:off x="1028700" y="3086100"/>
            <a:ext cx="485775" cy="485775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Número 1"/>
          <p:cNvSpPr txBox="1"/>
          <p:nvPr/>
        </p:nvSpPr>
        <p:spPr>
          <a:xfrm>
            <a:off x="1028700" y="3086100"/>
            <a:ext cx="4857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8" name="Texto"/>
          <p:cNvSpPr txBox="1"/>
          <p:nvPr/>
        </p:nvSpPr>
        <p:spPr>
          <a:xfrm>
            <a:off x="1714500" y="3057525"/>
            <a:ext cx="42862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Escanea el brazalete del paciente (GSRN).</a:t>
            </a:r>
          </a:p>
        </p:txBody>
      </p:sp>
      <p:sp>
        <p:nvSpPr>
          <p:cNvPr id="149" name="Insignia 2"/>
          <p:cNvSpPr/>
          <p:nvPr/>
        </p:nvSpPr>
        <p:spPr>
          <a:xfrm>
            <a:off x="1028700" y="4114800"/>
            <a:ext cx="485775" cy="485775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Número 2"/>
          <p:cNvSpPr txBox="1"/>
          <p:nvPr/>
        </p:nvSpPr>
        <p:spPr>
          <a:xfrm>
            <a:off x="1028700" y="4114800"/>
            <a:ext cx="4857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1" name="Texto"/>
          <p:cNvSpPr txBox="1"/>
          <p:nvPr/>
        </p:nvSpPr>
        <p:spPr>
          <a:xfrm>
            <a:off x="1714500" y="4086225"/>
            <a:ext cx="42862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Escanea la caja del medicamento (GTIN, lote y vencimiento).</a:t>
            </a:r>
          </a:p>
        </p:txBody>
      </p:sp>
      <p:sp>
        <p:nvSpPr>
          <p:cNvPr id="152" name="Insignia 3"/>
          <p:cNvSpPr/>
          <p:nvPr/>
        </p:nvSpPr>
        <p:spPr>
          <a:xfrm>
            <a:off x="1028700" y="5143500"/>
            <a:ext cx="485775" cy="485775"/>
          </a:xfrm>
          <a:prstGeom prst="ellipse">
            <a:avLst/>
          </a:prstGeom>
          <a:solidFill>
            <a:srgbClr val="F26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Número 3"/>
          <p:cNvSpPr txBox="1"/>
          <p:nvPr/>
        </p:nvSpPr>
        <p:spPr>
          <a:xfrm>
            <a:off x="1028700" y="5143500"/>
            <a:ext cx="48577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4" name="Texto"/>
          <p:cNvSpPr txBox="1"/>
          <p:nvPr/>
        </p:nvSpPr>
        <p:spPr>
          <a:xfrm>
            <a:off x="1714500" y="5114925"/>
            <a:ext cx="42862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sistema compara con la indicación médica y avisa si algo no coincide: persona, producto, dosis, vía u hora.</a:t>
            </a:r>
          </a:p>
        </p:txBody>
      </p:sp>
      <p:sp>
        <p:nvSpPr>
          <p:cNvPr id="155" name="Tarjeta"/>
          <p:cNvSpPr/>
          <p:nvPr/>
        </p:nvSpPr>
        <p:spPr>
          <a:xfrm>
            <a:off x="1028700" y="6543675"/>
            <a:ext cx="5029200" cy="1885950"/>
          </a:xfrm>
          <a:prstGeom prst="roundRect">
            <a:avLst>
              <a:gd name="adj" fmla="val 10606"/>
            </a:avLst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o"/>
          <p:cNvSpPr txBox="1"/>
          <p:nvPr/>
        </p:nvSpPr>
        <p:spPr>
          <a:xfrm>
            <a:off x="1228725" y="6686550"/>
            <a:ext cx="4629150" cy="165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¿Por qué importa?</a:t>
            </a:r>
          </a:p>
          <a:p>
            <a:pPr algn="l"/>
            <a:r>
              <a:rPr sz="155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Un error puede ocurrir en cualquier paso entre la indicación y la administración; el escaneo agrega una verificación automática justo antes de dar el medicamento.</a:t>
            </a:r>
          </a:p>
        </p:txBody>
      </p:sp>
      <p:sp>
        <p:nvSpPr>
          <p:cNvPr id="157" name="Tarjeta"/>
          <p:cNvSpPr/>
          <p:nvPr/>
        </p:nvSpPr>
        <p:spPr>
          <a:xfrm>
            <a:off x="6800850" y="2286000"/>
            <a:ext cx="10801350" cy="1143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Icono BedDouble"/>
          <p:cNvSpPr/>
          <p:nvPr/>
        </p:nvSpPr>
        <p:spPr>
          <a:xfrm>
            <a:off x="7058025" y="2486025"/>
            <a:ext cx="742950" cy="742950"/>
          </a:xfrm>
          <a:prstGeom prst="ellipse">
            <a:avLst/>
          </a:prstGeom>
          <a:solidFill>
            <a:srgbClr val="00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BedDoubl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333" y="2664333"/>
            <a:ext cx="386334" cy="386334"/>
          </a:xfrm>
          <a:prstGeom prst="rect">
            <a:avLst/>
          </a:prstGeom>
        </p:spPr>
      </p:pic>
      <p:sp>
        <p:nvSpPr>
          <p:cNvPr id="160" name="Texto"/>
          <p:cNvSpPr txBox="1"/>
          <p:nvPr/>
        </p:nvSpPr>
        <p:spPr>
          <a:xfrm>
            <a:off x="8058150" y="2400300"/>
            <a:ext cx="9286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Hospitalización (salas)</a:t>
            </a:r>
          </a:p>
        </p:txBody>
      </p:sp>
      <p:sp>
        <p:nvSpPr>
          <p:cNvPr id="161" name="Texto"/>
          <p:cNvSpPr txBox="1"/>
          <p:nvPr/>
        </p:nvSpPr>
        <p:spPr>
          <a:xfrm>
            <a:off x="8058150" y="2743200"/>
            <a:ext cx="92868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 enfermera escanea el brazalete y la caja antes de cada dosis; si el paciente o el medicamento no coinciden con la indicación, el sistema avisa.</a:t>
            </a:r>
          </a:p>
        </p:txBody>
      </p:sp>
      <p:sp>
        <p:nvSpPr>
          <p:cNvPr id="162" name="Tarjeta"/>
          <p:cNvSpPr/>
          <p:nvPr/>
        </p:nvSpPr>
        <p:spPr>
          <a:xfrm>
            <a:off x="6800850" y="3571875"/>
            <a:ext cx="10801350" cy="1143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Icono Activity"/>
          <p:cNvSpPr/>
          <p:nvPr/>
        </p:nvSpPr>
        <p:spPr>
          <a:xfrm>
            <a:off x="7058025" y="3771900"/>
            <a:ext cx="742950" cy="742950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Activity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6333" y="3950208"/>
            <a:ext cx="386334" cy="386334"/>
          </a:xfrm>
          <a:prstGeom prst="rect">
            <a:avLst/>
          </a:prstGeom>
        </p:spPr>
      </p:pic>
      <p:sp>
        <p:nvSpPr>
          <p:cNvPr id="165" name="Texto"/>
          <p:cNvSpPr txBox="1"/>
          <p:nvPr/>
        </p:nvSpPr>
        <p:spPr>
          <a:xfrm>
            <a:off x="8058150" y="3686175"/>
            <a:ext cx="9286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Terapia intensiva (UCI)</a:t>
            </a:r>
          </a:p>
        </p:txBody>
      </p:sp>
      <p:sp>
        <p:nvSpPr>
          <p:cNvPr id="166" name="Texto"/>
          <p:cNvSpPr txBox="1"/>
          <p:nvPr/>
        </p:nvSpPr>
        <p:spPr>
          <a:xfrm>
            <a:off x="8058150" y="4029075"/>
            <a:ext cx="92868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Infusiones de alto riesgo, como insulina o heparina, tienen presentaciones parecidas. El escaneo confirma el medicamento y la concentración.</a:t>
            </a:r>
          </a:p>
        </p:txBody>
      </p:sp>
      <p:sp>
        <p:nvSpPr>
          <p:cNvPr id="167" name="Tarjeta"/>
          <p:cNvSpPr/>
          <p:nvPr/>
        </p:nvSpPr>
        <p:spPr>
          <a:xfrm>
            <a:off x="6800850" y="4857750"/>
            <a:ext cx="10801350" cy="1143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Icono Pill"/>
          <p:cNvSpPr/>
          <p:nvPr/>
        </p:nvSpPr>
        <p:spPr>
          <a:xfrm>
            <a:off x="7058025" y="5057775"/>
            <a:ext cx="742950" cy="74295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Pill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6333" y="5236083"/>
            <a:ext cx="386334" cy="386334"/>
          </a:xfrm>
          <a:prstGeom prst="rect">
            <a:avLst/>
          </a:prstGeom>
        </p:spPr>
      </p:pic>
      <p:sp>
        <p:nvSpPr>
          <p:cNvPr id="170" name="Texto"/>
          <p:cNvSpPr txBox="1"/>
          <p:nvPr/>
        </p:nvSpPr>
        <p:spPr>
          <a:xfrm>
            <a:off x="8058150" y="4972050"/>
            <a:ext cx="9286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Oncología</a:t>
            </a:r>
          </a:p>
        </p:txBody>
      </p:sp>
      <p:sp>
        <p:nvSpPr>
          <p:cNvPr id="171" name="Texto"/>
          <p:cNvSpPr txBox="1"/>
          <p:nvPr/>
        </p:nvSpPr>
        <p:spPr>
          <a:xfrm>
            <a:off x="8058150" y="5314950"/>
            <a:ext cx="92868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 quimioterapia se prepara para cada paciente; el escaneo confirma que el producto y la dosis son los indicados.</a:t>
            </a:r>
          </a:p>
        </p:txBody>
      </p:sp>
      <p:sp>
        <p:nvSpPr>
          <p:cNvPr id="172" name="Tarjeta"/>
          <p:cNvSpPr/>
          <p:nvPr/>
        </p:nvSpPr>
        <p:spPr>
          <a:xfrm>
            <a:off x="6800850" y="6143625"/>
            <a:ext cx="10801350" cy="1143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Icono Baby"/>
          <p:cNvSpPr/>
          <p:nvPr/>
        </p:nvSpPr>
        <p:spPr>
          <a:xfrm>
            <a:off x="7058025" y="6343650"/>
            <a:ext cx="742950" cy="742950"/>
          </a:xfrm>
          <a:prstGeom prst="ellipse">
            <a:avLst/>
          </a:prstGeom>
          <a:solidFill>
            <a:srgbClr val="F26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Baby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6333" y="6521958"/>
            <a:ext cx="386334" cy="386334"/>
          </a:xfrm>
          <a:prstGeom prst="rect">
            <a:avLst/>
          </a:prstGeom>
        </p:spPr>
      </p:pic>
      <p:sp>
        <p:nvSpPr>
          <p:cNvPr id="175" name="Texto"/>
          <p:cNvSpPr txBox="1"/>
          <p:nvPr/>
        </p:nvSpPr>
        <p:spPr>
          <a:xfrm>
            <a:off x="8058150" y="6257925"/>
            <a:ext cx="9286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Pediatría y neonatología</a:t>
            </a:r>
          </a:p>
        </p:txBody>
      </p:sp>
      <p:sp>
        <p:nvSpPr>
          <p:cNvPr id="176" name="Texto"/>
          <p:cNvSpPr txBox="1"/>
          <p:nvPr/>
        </p:nvSpPr>
        <p:spPr>
          <a:xfrm>
            <a:off x="8058150" y="6600825"/>
            <a:ext cx="92868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Las dosis son muy pequeñas y se calculan por peso: un error mínimo puede ser grave. El escaneo ayuda a evitarlo.</a:t>
            </a:r>
          </a:p>
        </p:txBody>
      </p:sp>
      <p:sp>
        <p:nvSpPr>
          <p:cNvPr id="177" name="Tarjeta"/>
          <p:cNvSpPr/>
          <p:nvPr/>
        </p:nvSpPr>
        <p:spPr>
          <a:xfrm>
            <a:off x="6800850" y="7429500"/>
            <a:ext cx="10801350" cy="1143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Icono Siren"/>
          <p:cNvSpPr/>
          <p:nvPr/>
        </p:nvSpPr>
        <p:spPr>
          <a:xfrm>
            <a:off x="7058025" y="7629525"/>
            <a:ext cx="742950" cy="7429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Siren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6333" y="7807833"/>
            <a:ext cx="386334" cy="386334"/>
          </a:xfrm>
          <a:prstGeom prst="rect">
            <a:avLst/>
          </a:prstGeom>
        </p:spPr>
      </p:pic>
      <p:sp>
        <p:nvSpPr>
          <p:cNvPr id="180" name="Texto"/>
          <p:cNvSpPr txBox="1"/>
          <p:nvPr/>
        </p:nvSpPr>
        <p:spPr>
          <a:xfrm>
            <a:off x="8058150" y="7543800"/>
            <a:ext cx="9286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Urgencias</a:t>
            </a:r>
          </a:p>
        </p:txBody>
      </p:sp>
      <p:sp>
        <p:nvSpPr>
          <p:cNvPr id="181" name="Texto"/>
          <p:cNvSpPr txBox="1"/>
          <p:nvPr/>
        </p:nvSpPr>
        <p:spPr>
          <a:xfrm>
            <a:off x="8058150" y="7886700"/>
            <a:ext cx="92868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Con poco tiempo y muchos pacientes, el escaneo reduce las confusiones de identidad y de producto.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Eficiencia de la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cadena de suministro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800" y="1571625"/>
            <a:ext cx="1143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 mismo lenguaje GS1 desde el laboratorio hasta el paciente en Venezuela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990725" y="2105025"/>
            <a:ext cx="1390650" cy="1390650"/>
            <a:chOff x="0" y="0"/>
            <a:chExt cx="1854200" cy="185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002C6C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371725" y="2457450"/>
            <a:ext cx="628650" cy="628650"/>
            <a:chOff x="0" y="0"/>
            <a:chExt cx="838200" cy="838200"/>
          </a:xfrm>
        </p:grpSpPr>
        <p:sp>
          <p:nvSpPr>
            <p:cNvPr name="Freeform 17" id="17" descr="Icono Factory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5800" y="3609975"/>
            <a:ext cx="400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Laboratorio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7300" y="4057650"/>
            <a:ext cx="2857500" cy="428625"/>
            <a:chOff x="0" y="0"/>
            <a:chExt cx="3810000" cy="57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3524250" y="0"/>
                  </a:lnTo>
                  <a:cubicBezTo>
                    <a:pt x="3682111" y="0"/>
                    <a:pt x="3810000" y="127889"/>
                    <a:pt x="3810000" y="285750"/>
                  </a:cubicBezTo>
                  <a:cubicBezTo>
                    <a:pt x="3810000" y="443611"/>
                    <a:pt x="3682111" y="571500"/>
                    <a:pt x="35242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57300" y="4057650"/>
            <a:ext cx="2857500" cy="428625"/>
            <a:chOff x="0" y="0"/>
            <a:chExt cx="3810000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810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GTIN · Lote · Serie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86175" y="2514600"/>
            <a:ext cx="514350" cy="571500"/>
            <a:chOff x="0" y="0"/>
            <a:chExt cx="685800" cy="76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" cy="762000"/>
            </a:xfrm>
            <a:custGeom>
              <a:avLst/>
              <a:gdLst/>
              <a:ahLst/>
              <a:cxnLst/>
              <a:rect r="r" b="b" t="t" l="l"/>
              <a:pathLst>
                <a:path h="7620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381000"/>
                  </a:lnTo>
                  <a:lnTo>
                    <a:pt x="342900" y="762000"/>
                  </a:lnTo>
                  <a:lnTo>
                    <a:pt x="0" y="762000"/>
                  </a:lnTo>
                  <a:lnTo>
                    <a:pt x="342900" y="381000"/>
                  </a:ln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295977" y="2105025"/>
            <a:ext cx="1390650" cy="1390650"/>
            <a:chOff x="0" y="0"/>
            <a:chExt cx="1854200" cy="1854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1CA9C9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676977" y="2457450"/>
            <a:ext cx="628650" cy="628650"/>
            <a:chOff x="0" y="0"/>
            <a:chExt cx="838200" cy="838200"/>
          </a:xfrm>
        </p:grpSpPr>
        <p:sp>
          <p:nvSpPr>
            <p:cNvPr name="Freeform 29" id="29" descr="Icono Truck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991052" y="3609975"/>
            <a:ext cx="400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Droguería / Distribuidor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562552" y="4057650"/>
            <a:ext cx="2857500" cy="428625"/>
            <a:chOff x="0" y="0"/>
            <a:chExt cx="3810000" cy="571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3524250" y="0"/>
                  </a:lnTo>
                  <a:cubicBezTo>
                    <a:pt x="3682111" y="0"/>
                    <a:pt x="3810000" y="127889"/>
                    <a:pt x="3810000" y="285750"/>
                  </a:cubicBezTo>
                  <a:cubicBezTo>
                    <a:pt x="3810000" y="443611"/>
                    <a:pt x="3682111" y="571500"/>
                    <a:pt x="35242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62552" y="4057650"/>
            <a:ext cx="2857500" cy="428625"/>
            <a:chOff x="0" y="0"/>
            <a:chExt cx="3810000" cy="571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810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SSCC · GLN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91427" y="2514600"/>
            <a:ext cx="514350" cy="571500"/>
            <a:chOff x="0" y="0"/>
            <a:chExt cx="685800" cy="76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5800" cy="762000"/>
            </a:xfrm>
            <a:custGeom>
              <a:avLst/>
              <a:gdLst/>
              <a:ahLst/>
              <a:cxnLst/>
              <a:rect r="r" b="b" t="t" l="l"/>
              <a:pathLst>
                <a:path h="7620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381000"/>
                  </a:lnTo>
                  <a:lnTo>
                    <a:pt x="342900" y="762000"/>
                  </a:lnTo>
                  <a:lnTo>
                    <a:pt x="0" y="762000"/>
                  </a:lnTo>
                  <a:lnTo>
                    <a:pt x="342900" y="381000"/>
                  </a:ln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601230" y="2105025"/>
            <a:ext cx="1390650" cy="1390650"/>
            <a:chOff x="0" y="0"/>
            <a:chExt cx="1854200" cy="1854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00A79D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82230" y="2457450"/>
            <a:ext cx="628650" cy="628650"/>
            <a:chOff x="0" y="0"/>
            <a:chExt cx="838200" cy="838200"/>
          </a:xfrm>
        </p:grpSpPr>
        <p:sp>
          <p:nvSpPr>
            <p:cNvPr name="Freeform 41" id="41" descr="Icono Store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296305" y="3609975"/>
            <a:ext cx="400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Farmacia / Clínica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867805" y="4057650"/>
            <a:ext cx="2857500" cy="428625"/>
            <a:chOff x="0" y="0"/>
            <a:chExt cx="3810000" cy="571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3524250" y="0"/>
                  </a:lnTo>
                  <a:cubicBezTo>
                    <a:pt x="3682111" y="0"/>
                    <a:pt x="3810000" y="127889"/>
                    <a:pt x="3810000" y="285750"/>
                  </a:cubicBezTo>
                  <a:cubicBezTo>
                    <a:pt x="3810000" y="443611"/>
                    <a:pt x="3682111" y="571500"/>
                    <a:pt x="35242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67805" y="4057650"/>
            <a:ext cx="2857500" cy="428625"/>
            <a:chOff x="0" y="0"/>
            <a:chExt cx="3810000" cy="571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810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GTIN · GLN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96680" y="2514600"/>
            <a:ext cx="514350" cy="571500"/>
            <a:chOff x="0" y="0"/>
            <a:chExt cx="6858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5800" cy="762000"/>
            </a:xfrm>
            <a:custGeom>
              <a:avLst/>
              <a:gdLst/>
              <a:ahLst/>
              <a:cxnLst/>
              <a:rect r="r" b="b" t="t" l="l"/>
              <a:pathLst>
                <a:path h="762000" w="685800">
                  <a:moveTo>
                    <a:pt x="0" y="0"/>
                  </a:moveTo>
                  <a:lnTo>
                    <a:pt x="342900" y="0"/>
                  </a:lnTo>
                  <a:lnTo>
                    <a:pt x="685800" y="381000"/>
                  </a:lnTo>
                  <a:lnTo>
                    <a:pt x="342900" y="762000"/>
                  </a:lnTo>
                  <a:lnTo>
                    <a:pt x="0" y="762000"/>
                  </a:lnTo>
                  <a:lnTo>
                    <a:pt x="342900" y="381000"/>
                  </a:ln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06482" y="2105025"/>
            <a:ext cx="1390650" cy="1390650"/>
            <a:chOff x="0" y="0"/>
            <a:chExt cx="1854200" cy="1854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2633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5287482" y="2457450"/>
            <a:ext cx="628650" cy="628650"/>
            <a:chOff x="0" y="0"/>
            <a:chExt cx="838200" cy="838200"/>
          </a:xfrm>
        </p:grpSpPr>
        <p:sp>
          <p:nvSpPr>
            <p:cNvPr name="Freeform 53" id="53" descr="Icono User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3601557" y="3609975"/>
            <a:ext cx="400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Paciente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173057" y="4057650"/>
            <a:ext cx="2857500" cy="428625"/>
            <a:chOff x="0" y="0"/>
            <a:chExt cx="3810000" cy="5715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3524250" y="0"/>
                  </a:lnTo>
                  <a:cubicBezTo>
                    <a:pt x="3682111" y="0"/>
                    <a:pt x="3810000" y="127889"/>
                    <a:pt x="3810000" y="285750"/>
                  </a:cubicBezTo>
                  <a:cubicBezTo>
                    <a:pt x="3810000" y="443611"/>
                    <a:pt x="3682111" y="571500"/>
                    <a:pt x="3524250" y="571500"/>
                  </a:cubicBezTo>
                  <a:lnTo>
                    <a:pt x="285750" y="571500"/>
                  </a:lnTo>
                  <a:cubicBezTo>
                    <a:pt x="127889" y="571500"/>
                    <a:pt x="0" y="443611"/>
                    <a:pt x="0" y="285750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173057" y="4057650"/>
            <a:ext cx="2857500" cy="428625"/>
            <a:chOff x="0" y="0"/>
            <a:chExt cx="3810000" cy="571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1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810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GSRN · e-PIL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8656" y="4993481"/>
            <a:ext cx="4014788" cy="3586162"/>
            <a:chOff x="0" y="0"/>
            <a:chExt cx="5353050" cy="47815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53050" cy="4781550"/>
            </a:xfrm>
            <a:custGeom>
              <a:avLst/>
              <a:gdLst/>
              <a:ahLst/>
              <a:cxnLst/>
              <a:rect r="r" b="b" t="t" l="l"/>
              <a:pathLst>
                <a:path h="4781550" w="5353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4985766" y="0"/>
                  </a:lnTo>
                  <a:cubicBezTo>
                    <a:pt x="5188585" y="0"/>
                    <a:pt x="5353050" y="164465"/>
                    <a:pt x="5353050" y="367284"/>
                  </a:cubicBezTo>
                  <a:lnTo>
                    <a:pt x="5353050" y="4414266"/>
                  </a:lnTo>
                  <a:cubicBezTo>
                    <a:pt x="5353050" y="4617085"/>
                    <a:pt x="5188585" y="4781550"/>
                    <a:pt x="4985766" y="4781550"/>
                  </a:cubicBezTo>
                  <a:lnTo>
                    <a:pt x="367284" y="4781550"/>
                  </a:lnTo>
                  <a:cubicBezTo>
                    <a:pt x="164465" y="4781550"/>
                    <a:pt x="0" y="4617085"/>
                    <a:pt x="0" y="44142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85825" y="5000625"/>
            <a:ext cx="3600450" cy="114300"/>
            <a:chOff x="0" y="0"/>
            <a:chExt cx="4800600" cy="152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1550" y="5372100"/>
            <a:ext cx="685800" cy="685800"/>
            <a:chOff x="0" y="0"/>
            <a:chExt cx="91440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36142" y="5536692"/>
            <a:ext cx="356616" cy="356616"/>
            <a:chOff x="0" y="0"/>
            <a:chExt cx="475488" cy="475488"/>
          </a:xfrm>
        </p:grpSpPr>
        <p:sp>
          <p:nvSpPr>
            <p:cNvPr name="Freeform 67" id="67" descr="Icono Ey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71550" y="6238875"/>
            <a:ext cx="34861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Visibilidad en tiempo real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71550" y="6915150"/>
            <a:ext cx="34861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Cada movimiento se registra con EPCIS 2.0 y es consultable por los socios autorizados.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4983909" y="4993481"/>
            <a:ext cx="4014788" cy="3586162"/>
            <a:chOff x="0" y="0"/>
            <a:chExt cx="5353050" cy="47815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53050" cy="4781550"/>
            </a:xfrm>
            <a:custGeom>
              <a:avLst/>
              <a:gdLst/>
              <a:ahLst/>
              <a:cxnLst/>
              <a:rect r="r" b="b" t="t" l="l"/>
              <a:pathLst>
                <a:path h="4781550" w="5353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4985766" y="0"/>
                  </a:lnTo>
                  <a:cubicBezTo>
                    <a:pt x="5188585" y="0"/>
                    <a:pt x="5353050" y="164465"/>
                    <a:pt x="5353050" y="367284"/>
                  </a:cubicBezTo>
                  <a:lnTo>
                    <a:pt x="5353050" y="4414266"/>
                  </a:lnTo>
                  <a:cubicBezTo>
                    <a:pt x="5353050" y="4617085"/>
                    <a:pt x="5188585" y="4781550"/>
                    <a:pt x="4985766" y="4781550"/>
                  </a:cubicBezTo>
                  <a:lnTo>
                    <a:pt x="367284" y="4781550"/>
                  </a:lnTo>
                  <a:cubicBezTo>
                    <a:pt x="164465" y="4781550"/>
                    <a:pt x="0" y="4617085"/>
                    <a:pt x="0" y="44142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5191077" y="5000625"/>
            <a:ext cx="3600450" cy="114300"/>
            <a:chOff x="0" y="0"/>
            <a:chExt cx="4800600" cy="152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276802" y="537210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441394" y="5536692"/>
            <a:ext cx="356616" cy="356616"/>
            <a:chOff x="0" y="0"/>
            <a:chExt cx="475488" cy="475488"/>
          </a:xfrm>
        </p:grpSpPr>
        <p:sp>
          <p:nvSpPr>
            <p:cNvPr name="Freeform 77" id="77" descr="Icono Hourglass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5276802" y="6238875"/>
            <a:ext cx="34861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Vencimientos FEFO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276802" y="6915150"/>
            <a:ext cx="34861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Se despacha primero lo que vence primero, con lote y fecha leídos del código.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289161" y="4993481"/>
            <a:ext cx="4014788" cy="3586162"/>
            <a:chOff x="0" y="0"/>
            <a:chExt cx="5353050" cy="47815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53050" cy="4781550"/>
            </a:xfrm>
            <a:custGeom>
              <a:avLst/>
              <a:gdLst/>
              <a:ahLst/>
              <a:cxnLst/>
              <a:rect r="r" b="b" t="t" l="l"/>
              <a:pathLst>
                <a:path h="4781550" w="5353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4985766" y="0"/>
                  </a:lnTo>
                  <a:cubicBezTo>
                    <a:pt x="5188585" y="0"/>
                    <a:pt x="5353050" y="164465"/>
                    <a:pt x="5353050" y="367284"/>
                  </a:cubicBezTo>
                  <a:lnTo>
                    <a:pt x="5353050" y="4414266"/>
                  </a:lnTo>
                  <a:cubicBezTo>
                    <a:pt x="5353050" y="4617085"/>
                    <a:pt x="5188585" y="4781550"/>
                    <a:pt x="4985766" y="4781550"/>
                  </a:cubicBezTo>
                  <a:lnTo>
                    <a:pt x="367284" y="4781550"/>
                  </a:lnTo>
                  <a:cubicBezTo>
                    <a:pt x="164465" y="4781550"/>
                    <a:pt x="0" y="4617085"/>
                    <a:pt x="0" y="44142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496330" y="5000625"/>
            <a:ext cx="3600450" cy="114300"/>
            <a:chOff x="0" y="0"/>
            <a:chExt cx="4800600" cy="152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82055" y="5372100"/>
            <a:ext cx="685800" cy="685800"/>
            <a:chOff x="0" y="0"/>
            <a:chExt cx="914400" cy="914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46647" y="5536692"/>
            <a:ext cx="356616" cy="356616"/>
            <a:chOff x="0" y="0"/>
            <a:chExt cx="475488" cy="475488"/>
          </a:xfrm>
        </p:grpSpPr>
        <p:sp>
          <p:nvSpPr>
            <p:cNvPr name="Freeform 87" id="87" descr="Icono Undo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9582055" y="6238875"/>
            <a:ext cx="34861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Retiro de lotes ágil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582055" y="6915150"/>
            <a:ext cx="34861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Un recall se ubica por lote y GLN en minutos, sin revisar inventario caja por caja.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3594413" y="4993481"/>
            <a:ext cx="4014788" cy="3586162"/>
            <a:chOff x="0" y="0"/>
            <a:chExt cx="5353050" cy="47815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353050" cy="4781550"/>
            </a:xfrm>
            <a:custGeom>
              <a:avLst/>
              <a:gdLst/>
              <a:ahLst/>
              <a:cxnLst/>
              <a:rect r="r" b="b" t="t" l="l"/>
              <a:pathLst>
                <a:path h="4781550" w="5353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4985766" y="0"/>
                  </a:lnTo>
                  <a:cubicBezTo>
                    <a:pt x="5188585" y="0"/>
                    <a:pt x="5353050" y="164465"/>
                    <a:pt x="5353050" y="367284"/>
                  </a:cubicBezTo>
                  <a:lnTo>
                    <a:pt x="5353050" y="4414266"/>
                  </a:lnTo>
                  <a:cubicBezTo>
                    <a:pt x="5353050" y="4617085"/>
                    <a:pt x="5188585" y="4781550"/>
                    <a:pt x="4985766" y="4781550"/>
                  </a:cubicBezTo>
                  <a:lnTo>
                    <a:pt x="367284" y="4781550"/>
                  </a:lnTo>
                  <a:cubicBezTo>
                    <a:pt x="164465" y="4781550"/>
                    <a:pt x="0" y="4617085"/>
                    <a:pt x="0" y="44142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3801582" y="5000625"/>
            <a:ext cx="3600450" cy="114300"/>
            <a:chOff x="0" y="0"/>
            <a:chExt cx="4800600" cy="152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00600" cy="152400"/>
            </a:xfrm>
            <a:custGeom>
              <a:avLst/>
              <a:gdLst/>
              <a:ahLst/>
              <a:cxnLst/>
              <a:rect r="r" b="b" t="t" l="l"/>
              <a:pathLst>
                <a:path h="152400" w="4800600">
                  <a:moveTo>
                    <a:pt x="25400" y="0"/>
                  </a:moveTo>
                  <a:lnTo>
                    <a:pt x="4775200" y="0"/>
                  </a:lnTo>
                  <a:cubicBezTo>
                    <a:pt x="4789170" y="0"/>
                    <a:pt x="4800600" y="11430"/>
                    <a:pt x="4800600" y="25400"/>
                  </a:cubicBezTo>
                  <a:lnTo>
                    <a:pt x="4800600" y="152400"/>
                  </a:lnTo>
                  <a:lnTo>
                    <a:pt x="0" y="152400"/>
                  </a:ln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887307" y="5372100"/>
            <a:ext cx="685800" cy="685800"/>
            <a:chOff x="0" y="0"/>
            <a:chExt cx="914400" cy="9144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051899" y="5536692"/>
            <a:ext cx="356616" cy="356616"/>
            <a:chOff x="0" y="0"/>
            <a:chExt cx="475488" cy="475488"/>
          </a:xfrm>
        </p:grpSpPr>
        <p:sp>
          <p:nvSpPr>
            <p:cNvPr name="Freeform 97" id="97" descr="Icono Snowflak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3887307" y="6238875"/>
            <a:ext cx="34861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Cadena de frío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887307" y="6915150"/>
            <a:ext cx="348615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Alertas ante desvíos de temperatura en insulinas, vacunas y biológicos.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2 · TRAZABILIDAD DE MEDICAMENTOS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De la barra tradicional al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estándar 2D en salud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8656" y="1850231"/>
            <a:ext cx="5329238" cy="3757612"/>
            <a:chOff x="0" y="0"/>
            <a:chExt cx="7105650" cy="5010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650" cy="5010150"/>
            </a:xfrm>
            <a:custGeom>
              <a:avLst/>
              <a:gdLst/>
              <a:ahLst/>
              <a:cxnLst/>
              <a:rect r="r" b="b" t="t" l="l"/>
              <a:pathLst>
                <a:path h="5010150" w="710565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6738493" y="0"/>
                  </a:lnTo>
                  <a:cubicBezTo>
                    <a:pt x="6941312" y="0"/>
                    <a:pt x="7105650" y="164338"/>
                    <a:pt x="7105650" y="367157"/>
                  </a:cubicBezTo>
                  <a:lnTo>
                    <a:pt x="7105650" y="4642993"/>
                  </a:lnTo>
                  <a:cubicBezTo>
                    <a:pt x="7105650" y="4845812"/>
                    <a:pt x="6941312" y="5010150"/>
                    <a:pt x="6738493" y="5010150"/>
                  </a:cubicBezTo>
                  <a:lnTo>
                    <a:pt x="367157" y="5010150"/>
                  </a:lnTo>
                  <a:cubicBezTo>
                    <a:pt x="164338" y="5010150"/>
                    <a:pt x="0" y="4845812"/>
                    <a:pt x="0" y="464299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0150" y="2057400"/>
            <a:ext cx="4286250" cy="371475"/>
            <a:chOff x="0" y="0"/>
            <a:chExt cx="5715000" cy="495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5467350" y="0"/>
                  </a:lnTo>
                  <a:cubicBezTo>
                    <a:pt x="5604129" y="0"/>
                    <a:pt x="5715000" y="110871"/>
                    <a:pt x="5715000" y="247650"/>
                  </a:cubicBezTo>
                  <a:cubicBezTo>
                    <a:pt x="5715000" y="384429"/>
                    <a:pt x="5604129" y="495300"/>
                    <a:pt x="5467350" y="495300"/>
                  </a:cubicBezTo>
                  <a:lnTo>
                    <a:pt x="247650" y="495300"/>
                  </a:ln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057400"/>
            <a:ext cx="4286250" cy="371475"/>
            <a:chOff x="0" y="0"/>
            <a:chExt cx="5715000" cy="495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715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1973 – 2022 · Hasta ahora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14525" y="2514600"/>
            <a:ext cx="2857500" cy="2286000"/>
            <a:chOff x="0" y="0"/>
            <a:chExt cx="3810000" cy="3048000"/>
          </a:xfrm>
        </p:grpSpPr>
        <p:sp>
          <p:nvSpPr>
            <p:cNvPr name="Freeform 21" id="21" descr="Caja Acetaminofén 500 mg"/>
            <p:cNvSpPr/>
            <p:nvPr/>
          </p:nvSpPr>
          <p:spPr>
            <a:xfrm flipH="false" flipV="false" rot="0">
              <a:off x="0" y="0"/>
              <a:ext cx="3810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8" r="0" b="-2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28675" y="4810125"/>
            <a:ext cx="50292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EAN-13 · código 1D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105400"/>
            <a:ext cx="48577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Solo identifica el GTIN, de forma estática.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0806" y="1850231"/>
            <a:ext cx="5329238" cy="3757612"/>
            <a:chOff x="0" y="0"/>
            <a:chExt cx="7105650" cy="5010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5650" cy="5010150"/>
            </a:xfrm>
            <a:custGeom>
              <a:avLst/>
              <a:gdLst/>
              <a:ahLst/>
              <a:cxnLst/>
              <a:rect r="r" b="b" t="t" l="l"/>
              <a:pathLst>
                <a:path h="5010150" w="710565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6738493" y="0"/>
                  </a:lnTo>
                  <a:cubicBezTo>
                    <a:pt x="6941312" y="0"/>
                    <a:pt x="7105650" y="164338"/>
                    <a:pt x="7105650" y="367157"/>
                  </a:cubicBezTo>
                  <a:lnTo>
                    <a:pt x="7105650" y="4642993"/>
                  </a:lnTo>
                  <a:cubicBezTo>
                    <a:pt x="7105650" y="4845812"/>
                    <a:pt x="6941312" y="5010150"/>
                    <a:pt x="6738493" y="5010150"/>
                  </a:cubicBezTo>
                  <a:lnTo>
                    <a:pt x="367157" y="5010150"/>
                  </a:lnTo>
                  <a:cubicBezTo>
                    <a:pt x="164338" y="5010150"/>
                    <a:pt x="0" y="4845812"/>
                    <a:pt x="0" y="464299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972300" y="2057400"/>
            <a:ext cx="4286250" cy="371475"/>
            <a:chOff x="0" y="0"/>
            <a:chExt cx="5715000" cy="495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5467350" y="0"/>
                  </a:lnTo>
                  <a:cubicBezTo>
                    <a:pt x="5604129" y="0"/>
                    <a:pt x="5715000" y="110871"/>
                    <a:pt x="5715000" y="247650"/>
                  </a:cubicBezTo>
                  <a:cubicBezTo>
                    <a:pt x="5715000" y="384429"/>
                    <a:pt x="5604129" y="495300"/>
                    <a:pt x="5467350" y="495300"/>
                  </a:cubicBezTo>
                  <a:lnTo>
                    <a:pt x="247650" y="495300"/>
                  </a:ln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FDE9E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72300" y="2057400"/>
            <a:ext cx="4286250" cy="371475"/>
            <a:chOff x="0" y="0"/>
            <a:chExt cx="5715000" cy="495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715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263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2023 – 2026 · Transición dual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86550" y="2686050"/>
            <a:ext cx="2457450" cy="1971675"/>
            <a:chOff x="0" y="0"/>
            <a:chExt cx="3276600" cy="2628900"/>
          </a:xfrm>
        </p:grpSpPr>
        <p:sp>
          <p:nvSpPr>
            <p:cNvPr name="Freeform 32" id="32" descr="Caja Acetaminofén 500 mg"/>
            <p:cNvSpPr/>
            <p:nvPr/>
          </p:nvSpPr>
          <p:spPr>
            <a:xfrm flipH="false" flipV="false" rot="0">
              <a:off x="0" y="0"/>
              <a:ext cx="32766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7" t="0" r="-11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0" y="2686050"/>
            <a:ext cx="2457450" cy="1971675"/>
            <a:chOff x="0" y="0"/>
            <a:chExt cx="3276600" cy="2628900"/>
          </a:xfrm>
        </p:grpSpPr>
        <p:sp>
          <p:nvSpPr>
            <p:cNvPr name="Freeform 34" id="34" descr="Caja Acetaminofén 500 mg"/>
            <p:cNvSpPr/>
            <p:nvPr/>
          </p:nvSpPr>
          <p:spPr>
            <a:xfrm flipH="false" flipV="false" rot="0">
              <a:off x="0" y="0"/>
              <a:ext cx="32766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7" t="0" r="-117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600825" y="4810125"/>
            <a:ext cx="50292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Coexisten 1D + 2D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86550" y="5105400"/>
            <a:ext cx="48577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Se preparan lectores ópticos en farmacias y centros de salud.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215812" y="1843088"/>
            <a:ext cx="5343525" cy="3771900"/>
            <a:chOff x="0" y="0"/>
            <a:chExt cx="7124700" cy="502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247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124700">
                  <a:moveTo>
                    <a:pt x="0" y="368554"/>
                  </a:moveTo>
                  <a:cubicBezTo>
                    <a:pt x="0" y="164973"/>
                    <a:pt x="164973" y="0"/>
                    <a:pt x="368554" y="0"/>
                  </a:cubicBezTo>
                  <a:lnTo>
                    <a:pt x="6756146" y="0"/>
                  </a:lnTo>
                  <a:cubicBezTo>
                    <a:pt x="6959727" y="0"/>
                    <a:pt x="7124700" y="164973"/>
                    <a:pt x="7124700" y="368554"/>
                  </a:cubicBezTo>
                  <a:lnTo>
                    <a:pt x="7124700" y="4660646"/>
                  </a:lnTo>
                  <a:cubicBezTo>
                    <a:pt x="7124700" y="4864227"/>
                    <a:pt x="6959727" y="5029200"/>
                    <a:pt x="6756146" y="5029200"/>
                  </a:cubicBezTo>
                  <a:lnTo>
                    <a:pt x="368554" y="5029200"/>
                  </a:lnTo>
                  <a:cubicBezTo>
                    <a:pt x="164973" y="5029200"/>
                    <a:pt x="0" y="4864227"/>
                    <a:pt x="0" y="466064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CA9C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744450" y="2057400"/>
            <a:ext cx="4286250" cy="371475"/>
            <a:chOff x="0" y="0"/>
            <a:chExt cx="5715000" cy="4953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5467350" y="0"/>
                  </a:lnTo>
                  <a:cubicBezTo>
                    <a:pt x="5604129" y="0"/>
                    <a:pt x="5715000" y="110871"/>
                    <a:pt x="5715000" y="247650"/>
                  </a:cubicBezTo>
                  <a:cubicBezTo>
                    <a:pt x="5715000" y="384429"/>
                    <a:pt x="5604129" y="495300"/>
                    <a:pt x="5467350" y="495300"/>
                  </a:cubicBezTo>
                  <a:lnTo>
                    <a:pt x="247650" y="495300"/>
                  </a:ln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744450" y="2057400"/>
            <a:ext cx="4286250" cy="371475"/>
            <a:chOff x="0" y="0"/>
            <a:chExt cx="5715000" cy="4953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1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715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2027+ · Ambición global y Healthcare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58700" y="2686050"/>
            <a:ext cx="2457450" cy="1971675"/>
            <a:chOff x="0" y="0"/>
            <a:chExt cx="3276600" cy="2628900"/>
          </a:xfrm>
        </p:grpSpPr>
        <p:sp>
          <p:nvSpPr>
            <p:cNvPr name="Freeform 45" id="45" descr="Caja Acetaminofén 500 mg"/>
            <p:cNvSpPr/>
            <p:nvPr/>
          </p:nvSpPr>
          <p:spPr>
            <a:xfrm flipH="false" flipV="false" rot="0">
              <a:off x="0" y="0"/>
              <a:ext cx="32766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7" t="0" r="-11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916150" y="2686050"/>
            <a:ext cx="2457450" cy="1971675"/>
            <a:chOff x="0" y="0"/>
            <a:chExt cx="3276600" cy="2628900"/>
          </a:xfrm>
        </p:grpSpPr>
        <p:sp>
          <p:nvSpPr>
            <p:cNvPr name="Freeform 47" id="47" descr="Caja Acetaminofén 500 mg"/>
            <p:cNvSpPr/>
            <p:nvPr/>
          </p:nvSpPr>
          <p:spPr>
            <a:xfrm flipH="false" flipV="false" rot="0">
              <a:off x="0" y="0"/>
              <a:ext cx="32766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7" t="0" r="-117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372975" y="4810125"/>
            <a:ext cx="50292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GS1 DataMatrix + QR Digital Link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58700" y="5105400"/>
            <a:ext cx="48577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 clínica/regulatoria + interacción con el paciente.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057900" y="3543300"/>
            <a:ext cx="371475" cy="371475"/>
            <a:chOff x="0" y="0"/>
            <a:chExt cx="495300" cy="4953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123825"/>
                  </a:moveTo>
                  <a:lnTo>
                    <a:pt x="247650" y="123825"/>
                  </a:lnTo>
                  <a:lnTo>
                    <a:pt x="247650" y="0"/>
                  </a:lnTo>
                  <a:lnTo>
                    <a:pt x="495300" y="247650"/>
                  </a:lnTo>
                  <a:lnTo>
                    <a:pt x="247650" y="495300"/>
                  </a:lnTo>
                  <a:lnTo>
                    <a:pt x="247650" y="371475"/>
                  </a:lnTo>
                  <a:lnTo>
                    <a:pt x="0" y="371475"/>
                  </a:ln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830050" y="3543300"/>
            <a:ext cx="371475" cy="371475"/>
            <a:chOff x="0" y="0"/>
            <a:chExt cx="495300" cy="495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123825"/>
                  </a:moveTo>
                  <a:lnTo>
                    <a:pt x="247650" y="123825"/>
                  </a:lnTo>
                  <a:lnTo>
                    <a:pt x="247650" y="0"/>
                  </a:lnTo>
                  <a:lnTo>
                    <a:pt x="495300" y="247650"/>
                  </a:lnTo>
                  <a:lnTo>
                    <a:pt x="247650" y="495300"/>
                  </a:lnTo>
                  <a:lnTo>
                    <a:pt x="247650" y="371475"/>
                  </a:lnTo>
                  <a:lnTo>
                    <a:pt x="0" y="371475"/>
                  </a:ln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78656" y="5879306"/>
            <a:ext cx="4014788" cy="1328738"/>
            <a:chOff x="0" y="0"/>
            <a:chExt cx="5353050" cy="17716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53050" cy="1771523"/>
            </a:xfrm>
            <a:custGeom>
              <a:avLst/>
              <a:gdLst/>
              <a:ahLst/>
              <a:cxnLst/>
              <a:rect r="r" b="b" t="t" l="l"/>
              <a:pathLst>
                <a:path h="1771523" w="5353050">
                  <a:moveTo>
                    <a:pt x="0" y="369697"/>
                  </a:moveTo>
                  <a:cubicBezTo>
                    <a:pt x="0" y="165481"/>
                    <a:pt x="165481" y="0"/>
                    <a:pt x="369697" y="0"/>
                  </a:cubicBezTo>
                  <a:lnTo>
                    <a:pt x="4983353" y="0"/>
                  </a:lnTo>
                  <a:cubicBezTo>
                    <a:pt x="5187569" y="0"/>
                    <a:pt x="5353050" y="165481"/>
                    <a:pt x="5353050" y="369697"/>
                  </a:cubicBezTo>
                  <a:lnTo>
                    <a:pt x="5353050" y="1401826"/>
                  </a:lnTo>
                  <a:cubicBezTo>
                    <a:pt x="5353050" y="1606042"/>
                    <a:pt x="5187569" y="1771523"/>
                    <a:pt x="4983353" y="1771523"/>
                  </a:cubicBezTo>
                  <a:lnTo>
                    <a:pt x="369697" y="1771523"/>
                  </a:lnTo>
                  <a:cubicBezTo>
                    <a:pt x="165481" y="1771650"/>
                    <a:pt x="0" y="1606169"/>
                    <a:pt x="0" y="140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885825" y="6019800"/>
            <a:ext cx="3657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(01) </a:t>
            </a:r>
            <a:r>
              <a:rPr lang="en-US" sz="1950" b="true">
                <a:solidFill>
                  <a:srgbClr val="002C6C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07591196014853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85825" y="6410325"/>
            <a:ext cx="362902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2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GTIN · </a:t>
            </a:r>
            <a:r>
              <a:rPr lang="en-US" sz="15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ID único del medicamento (prefijo 759 GS1 Venezuela)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983909" y="5879306"/>
            <a:ext cx="4014788" cy="1328738"/>
            <a:chOff x="0" y="0"/>
            <a:chExt cx="5353050" cy="17716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53050" cy="1771523"/>
            </a:xfrm>
            <a:custGeom>
              <a:avLst/>
              <a:gdLst/>
              <a:ahLst/>
              <a:cxnLst/>
              <a:rect r="r" b="b" t="t" l="l"/>
              <a:pathLst>
                <a:path h="1771523" w="5353050">
                  <a:moveTo>
                    <a:pt x="0" y="369697"/>
                  </a:moveTo>
                  <a:cubicBezTo>
                    <a:pt x="0" y="165481"/>
                    <a:pt x="165481" y="0"/>
                    <a:pt x="369697" y="0"/>
                  </a:cubicBezTo>
                  <a:lnTo>
                    <a:pt x="4983353" y="0"/>
                  </a:lnTo>
                  <a:cubicBezTo>
                    <a:pt x="5187569" y="0"/>
                    <a:pt x="5353050" y="165481"/>
                    <a:pt x="5353050" y="369697"/>
                  </a:cubicBezTo>
                  <a:lnTo>
                    <a:pt x="5353050" y="1401826"/>
                  </a:lnTo>
                  <a:cubicBezTo>
                    <a:pt x="5353050" y="1606042"/>
                    <a:pt x="5187569" y="1771523"/>
                    <a:pt x="4983353" y="1771523"/>
                  </a:cubicBezTo>
                  <a:lnTo>
                    <a:pt x="369697" y="1771523"/>
                  </a:lnTo>
                  <a:cubicBezTo>
                    <a:pt x="165481" y="1771650"/>
                    <a:pt x="0" y="1606169"/>
                    <a:pt x="0" y="140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5191077" y="6019800"/>
            <a:ext cx="3657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(17) </a:t>
            </a:r>
            <a:r>
              <a:rPr lang="en-US" sz="1950" b="true">
                <a:solidFill>
                  <a:srgbClr val="002C6C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281231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191077" y="6410325"/>
            <a:ext cx="362902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2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Vencimiento · </a:t>
            </a:r>
            <a:r>
              <a:rPr lang="en-US" sz="15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31 Dic 2028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289161" y="5879306"/>
            <a:ext cx="4014788" cy="1328738"/>
            <a:chOff x="0" y="0"/>
            <a:chExt cx="5353050" cy="17716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53050" cy="1771523"/>
            </a:xfrm>
            <a:custGeom>
              <a:avLst/>
              <a:gdLst/>
              <a:ahLst/>
              <a:cxnLst/>
              <a:rect r="r" b="b" t="t" l="l"/>
              <a:pathLst>
                <a:path h="1771523" w="5353050">
                  <a:moveTo>
                    <a:pt x="0" y="369697"/>
                  </a:moveTo>
                  <a:cubicBezTo>
                    <a:pt x="0" y="165481"/>
                    <a:pt x="165481" y="0"/>
                    <a:pt x="369697" y="0"/>
                  </a:cubicBezTo>
                  <a:lnTo>
                    <a:pt x="4983353" y="0"/>
                  </a:lnTo>
                  <a:cubicBezTo>
                    <a:pt x="5187569" y="0"/>
                    <a:pt x="5353050" y="165481"/>
                    <a:pt x="5353050" y="369697"/>
                  </a:cubicBezTo>
                  <a:lnTo>
                    <a:pt x="5353050" y="1401826"/>
                  </a:lnTo>
                  <a:cubicBezTo>
                    <a:pt x="5353050" y="1606042"/>
                    <a:pt x="5187569" y="1771523"/>
                    <a:pt x="4983353" y="1771523"/>
                  </a:cubicBezTo>
                  <a:lnTo>
                    <a:pt x="369697" y="1771523"/>
                  </a:lnTo>
                  <a:cubicBezTo>
                    <a:pt x="165481" y="1771650"/>
                    <a:pt x="0" y="1606169"/>
                    <a:pt x="0" y="140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9496330" y="6019800"/>
            <a:ext cx="3657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(10) </a:t>
            </a:r>
            <a:r>
              <a:rPr lang="en-US" sz="1950" b="true">
                <a:solidFill>
                  <a:srgbClr val="002C6C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LOTE-VE26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496330" y="6410325"/>
            <a:ext cx="362902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2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Lote · </a:t>
            </a:r>
            <a:r>
              <a:rPr lang="en-US" sz="15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 de producción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3594413" y="5879306"/>
            <a:ext cx="4014788" cy="1328738"/>
            <a:chOff x="0" y="0"/>
            <a:chExt cx="5353050" cy="17716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53050" cy="1771523"/>
            </a:xfrm>
            <a:custGeom>
              <a:avLst/>
              <a:gdLst/>
              <a:ahLst/>
              <a:cxnLst/>
              <a:rect r="r" b="b" t="t" l="l"/>
              <a:pathLst>
                <a:path h="1771523" w="5353050">
                  <a:moveTo>
                    <a:pt x="0" y="369697"/>
                  </a:moveTo>
                  <a:cubicBezTo>
                    <a:pt x="0" y="165481"/>
                    <a:pt x="165481" y="0"/>
                    <a:pt x="369697" y="0"/>
                  </a:cubicBezTo>
                  <a:lnTo>
                    <a:pt x="4983353" y="0"/>
                  </a:lnTo>
                  <a:cubicBezTo>
                    <a:pt x="5187569" y="0"/>
                    <a:pt x="5353050" y="165481"/>
                    <a:pt x="5353050" y="369697"/>
                  </a:cubicBezTo>
                  <a:lnTo>
                    <a:pt x="5353050" y="1401826"/>
                  </a:lnTo>
                  <a:cubicBezTo>
                    <a:pt x="5353050" y="1606042"/>
                    <a:pt x="5187569" y="1771523"/>
                    <a:pt x="4983353" y="1771523"/>
                  </a:cubicBezTo>
                  <a:lnTo>
                    <a:pt x="369697" y="1771523"/>
                  </a:lnTo>
                  <a:cubicBezTo>
                    <a:pt x="165481" y="1771650"/>
                    <a:pt x="0" y="1606169"/>
                    <a:pt x="0" y="140195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13801582" y="6019800"/>
            <a:ext cx="3657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(21) </a:t>
            </a:r>
            <a:r>
              <a:rPr lang="en-US" sz="1950" b="true">
                <a:solidFill>
                  <a:srgbClr val="002C6C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SN998877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801582" y="6410325"/>
            <a:ext cx="362902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2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Serie · </a:t>
            </a:r>
            <a:r>
              <a:rPr lang="en-US" sz="15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autenticación unitaria anti-falsificación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85800" y="74009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ESTRUCTURA GS1 DIGITAL LINK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78656" y="7736681"/>
            <a:ext cx="16930688" cy="871538"/>
            <a:chOff x="0" y="0"/>
            <a:chExt cx="22574250" cy="1162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5742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22574250">
                  <a:moveTo>
                    <a:pt x="0" y="371856"/>
                  </a:moveTo>
                  <a:cubicBezTo>
                    <a:pt x="0" y="166497"/>
                    <a:pt x="166497" y="0"/>
                    <a:pt x="371856" y="0"/>
                  </a:cubicBezTo>
                  <a:lnTo>
                    <a:pt x="22202394" y="0"/>
                  </a:lnTo>
                  <a:cubicBezTo>
                    <a:pt x="22407753" y="0"/>
                    <a:pt x="22574250" y="166497"/>
                    <a:pt x="22574250" y="371856"/>
                  </a:cubicBezTo>
                  <a:lnTo>
                    <a:pt x="22574250" y="790194"/>
                  </a:lnTo>
                  <a:cubicBezTo>
                    <a:pt x="22574250" y="995553"/>
                    <a:pt x="22407753" y="1162050"/>
                    <a:pt x="22202394" y="1162050"/>
                  </a:cubicBezTo>
                  <a:lnTo>
                    <a:pt x="371856" y="1162050"/>
                  </a:lnTo>
                  <a:cubicBezTo>
                    <a:pt x="166497" y="1162050"/>
                    <a:pt x="0" y="995553"/>
                    <a:pt x="0" y="79019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28700" y="7743825"/>
            <a:ext cx="16230600" cy="857250"/>
            <a:chOff x="0" y="0"/>
            <a:chExt cx="21640800" cy="1143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6408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916" r="0" b="-31891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1640800" cy="1152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94A3B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https://</a:t>
              </a:r>
              <a:r>
                <a:rPr lang="en-US" sz="2325" b="true">
                  <a:solidFill>
                    <a:srgbClr val="00A79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dl.gs1ve.org</a:t>
              </a:r>
              <a:r>
                <a:rPr lang="en-US" sz="2325" b="true">
                  <a:solidFill>
                    <a:srgbClr val="F2633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/01/</a:t>
              </a:r>
              <a:r>
                <a:rPr lang="en-US" sz="232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07591196014853</a:t>
              </a:r>
              <a:r>
                <a:rPr lang="en-US" sz="2325" b="true">
                  <a:solidFill>
                    <a:srgbClr val="F2633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/10/</a:t>
              </a:r>
              <a:r>
                <a:rPr lang="en-US" sz="232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LOTE-VE26</a:t>
              </a:r>
              <a:r>
                <a:rPr lang="en-US" sz="2325" b="true">
                  <a:solidFill>
                    <a:srgbClr val="F2633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?17=</a:t>
              </a:r>
              <a:r>
                <a:rPr lang="en-US" sz="2325" b="true">
                  <a:solidFill>
                    <a:srgbClr val="002C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281231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85800" y="8705850"/>
            <a:ext cx="128587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A79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 Dominio web     </a:t>
            </a:r>
            <a:r>
              <a:rPr lang="en-US" sz="1500" b="true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 Identificador de aplicación (AI)     </a:t>
            </a:r>
            <a:r>
              <a:rPr lang="en-US" sz="1500" b="true">
                <a:solidFill>
                  <a:srgbClr val="002C6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 GTIN / Lote / Vencimiento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EVIDENCIA INTERNACIONAL · GS1 HEALTHCARE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Casos de éxito: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impacto real en hospitales y regulación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8656" y="1778794"/>
            <a:ext cx="5414962" cy="7158038"/>
            <a:chOff x="0" y="0"/>
            <a:chExt cx="7219950" cy="9544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19950" cy="9544050"/>
            </a:xfrm>
            <a:custGeom>
              <a:avLst/>
              <a:gdLst/>
              <a:ahLst/>
              <a:cxnLst/>
              <a:rect r="r" b="b" t="t" l="l"/>
              <a:pathLst>
                <a:path h="9544050" w="7219950">
                  <a:moveTo>
                    <a:pt x="0" y="366649"/>
                  </a:moveTo>
                  <a:cubicBezTo>
                    <a:pt x="0" y="164211"/>
                    <a:pt x="164211" y="0"/>
                    <a:pt x="366649" y="0"/>
                  </a:cubicBezTo>
                  <a:lnTo>
                    <a:pt x="6853301" y="0"/>
                  </a:lnTo>
                  <a:cubicBezTo>
                    <a:pt x="7055866" y="0"/>
                    <a:pt x="7219950" y="164211"/>
                    <a:pt x="7219950" y="366649"/>
                  </a:cubicBezTo>
                  <a:lnTo>
                    <a:pt x="7219950" y="9177401"/>
                  </a:lnTo>
                  <a:cubicBezTo>
                    <a:pt x="7219950" y="9379966"/>
                    <a:pt x="7055739" y="9544050"/>
                    <a:pt x="6853301" y="9544050"/>
                  </a:cubicBezTo>
                  <a:lnTo>
                    <a:pt x="366649" y="9544050"/>
                  </a:lnTo>
                  <a:cubicBezTo>
                    <a:pt x="164211" y="9544050"/>
                    <a:pt x="0" y="9379839"/>
                    <a:pt x="0" y="91774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1785938"/>
            <a:ext cx="5400675" cy="1857375"/>
            <a:chOff x="0" y="0"/>
            <a:chExt cx="7200900" cy="2476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009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200900">
                  <a:moveTo>
                    <a:pt x="412750" y="0"/>
                  </a:moveTo>
                  <a:lnTo>
                    <a:pt x="6788150" y="0"/>
                  </a:lnTo>
                  <a:cubicBezTo>
                    <a:pt x="7016115" y="0"/>
                    <a:pt x="7200900" y="184785"/>
                    <a:pt x="7200900" y="412750"/>
                  </a:cubicBezTo>
                  <a:lnTo>
                    <a:pt x="7200900" y="2476500"/>
                  </a:lnTo>
                  <a:lnTo>
                    <a:pt x="0" y="2476500"/>
                  </a:lnTo>
                  <a:lnTo>
                    <a:pt x="0" y="412750"/>
                  </a:lnTo>
                  <a:cubicBezTo>
                    <a:pt x="0" y="184785"/>
                    <a:pt x="184785" y="0"/>
                    <a:pt x="412750" y="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100388" y="2328862"/>
            <a:ext cx="571500" cy="571500"/>
            <a:chOff x="0" y="0"/>
            <a:chExt cx="762000" cy="762000"/>
          </a:xfrm>
        </p:grpSpPr>
        <p:sp>
          <p:nvSpPr>
            <p:cNvPr name="Freeform 18" id="18" descr="Icono Hospital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8675" y="3295650"/>
            <a:ext cx="51149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Insertar foto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50" y="3819525"/>
            <a:ext cx="4857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Reino Unido · NHS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" y="4162425"/>
            <a:ext cx="4857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CA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 Scan4Safety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" y="4591050"/>
            <a:ext cx="4857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Código para productos, lugares y pacientes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550" y="4914900"/>
            <a:ext cx="48577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Los hospitales públicos de Inglaterra identificaron con códigos cada producto, lugar y paciente.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22231" y="1778794"/>
            <a:ext cx="5414962" cy="7158038"/>
            <a:chOff x="0" y="0"/>
            <a:chExt cx="7219950" cy="9544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19950" cy="9544050"/>
            </a:xfrm>
            <a:custGeom>
              <a:avLst/>
              <a:gdLst/>
              <a:ahLst/>
              <a:cxnLst/>
              <a:rect r="r" b="b" t="t" l="l"/>
              <a:pathLst>
                <a:path h="9544050" w="7219950">
                  <a:moveTo>
                    <a:pt x="0" y="366649"/>
                  </a:moveTo>
                  <a:cubicBezTo>
                    <a:pt x="0" y="164211"/>
                    <a:pt x="164211" y="0"/>
                    <a:pt x="366649" y="0"/>
                  </a:cubicBezTo>
                  <a:lnTo>
                    <a:pt x="6853301" y="0"/>
                  </a:lnTo>
                  <a:cubicBezTo>
                    <a:pt x="7055866" y="0"/>
                    <a:pt x="7219950" y="164211"/>
                    <a:pt x="7219950" y="366649"/>
                  </a:cubicBezTo>
                  <a:lnTo>
                    <a:pt x="7219950" y="9177401"/>
                  </a:lnTo>
                  <a:cubicBezTo>
                    <a:pt x="7219950" y="9379966"/>
                    <a:pt x="7055739" y="9544050"/>
                    <a:pt x="6853301" y="9544050"/>
                  </a:cubicBezTo>
                  <a:lnTo>
                    <a:pt x="366649" y="9544050"/>
                  </a:lnTo>
                  <a:cubicBezTo>
                    <a:pt x="164211" y="9544050"/>
                    <a:pt x="0" y="9379839"/>
                    <a:pt x="0" y="91774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429375" y="1785938"/>
            <a:ext cx="5400675" cy="1857375"/>
            <a:chOff x="0" y="0"/>
            <a:chExt cx="7200900" cy="2476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009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200900">
                  <a:moveTo>
                    <a:pt x="412750" y="0"/>
                  </a:moveTo>
                  <a:lnTo>
                    <a:pt x="6788150" y="0"/>
                  </a:lnTo>
                  <a:cubicBezTo>
                    <a:pt x="7016115" y="0"/>
                    <a:pt x="7200900" y="184785"/>
                    <a:pt x="7200900" y="412750"/>
                  </a:cubicBezTo>
                  <a:lnTo>
                    <a:pt x="7200900" y="2476500"/>
                  </a:lnTo>
                  <a:lnTo>
                    <a:pt x="0" y="2476500"/>
                  </a:lnTo>
                  <a:lnTo>
                    <a:pt x="0" y="412750"/>
                  </a:lnTo>
                  <a:cubicBezTo>
                    <a:pt x="0" y="184785"/>
                    <a:pt x="184785" y="0"/>
                    <a:pt x="41275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843962" y="2328862"/>
            <a:ext cx="571500" cy="571500"/>
            <a:chOff x="0" y="0"/>
            <a:chExt cx="762000" cy="762000"/>
          </a:xfrm>
        </p:grpSpPr>
        <p:sp>
          <p:nvSpPr>
            <p:cNvPr name="Freeform 29" id="29" descr="Icono Pill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572250" y="3295650"/>
            <a:ext cx="51149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Insertar foto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15125" y="3819525"/>
            <a:ext cx="4857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Argentina (ANMAT) y Brasil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15125" y="4162425"/>
            <a:ext cx="4857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CA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ANVISA · Sírio-Libanês · Einstein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15125" y="4591050"/>
            <a:ext cx="4857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Código 2D en cada caja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15125" y="4914900"/>
            <a:ext cx="48577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Argentina y Brasil siguen cada caja de medicamentos de alto costo, del laboratorio al paciente.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165806" y="1778794"/>
            <a:ext cx="5414962" cy="7158038"/>
            <a:chOff x="0" y="0"/>
            <a:chExt cx="7219950" cy="9544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19950" cy="9544050"/>
            </a:xfrm>
            <a:custGeom>
              <a:avLst/>
              <a:gdLst/>
              <a:ahLst/>
              <a:cxnLst/>
              <a:rect r="r" b="b" t="t" l="l"/>
              <a:pathLst>
                <a:path h="9544050" w="7219950">
                  <a:moveTo>
                    <a:pt x="0" y="366649"/>
                  </a:moveTo>
                  <a:cubicBezTo>
                    <a:pt x="0" y="164211"/>
                    <a:pt x="164211" y="0"/>
                    <a:pt x="366649" y="0"/>
                  </a:cubicBezTo>
                  <a:lnTo>
                    <a:pt x="6853301" y="0"/>
                  </a:lnTo>
                  <a:cubicBezTo>
                    <a:pt x="7055866" y="0"/>
                    <a:pt x="7219950" y="164211"/>
                    <a:pt x="7219950" y="366649"/>
                  </a:cubicBezTo>
                  <a:lnTo>
                    <a:pt x="7219950" y="9177401"/>
                  </a:lnTo>
                  <a:cubicBezTo>
                    <a:pt x="7219950" y="9379966"/>
                    <a:pt x="7055739" y="9544050"/>
                    <a:pt x="6853301" y="9544050"/>
                  </a:cubicBezTo>
                  <a:lnTo>
                    <a:pt x="366649" y="9544050"/>
                  </a:lnTo>
                  <a:cubicBezTo>
                    <a:pt x="164211" y="9544050"/>
                    <a:pt x="0" y="9379839"/>
                    <a:pt x="0" y="917740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72950" y="1785938"/>
            <a:ext cx="5400675" cy="1857375"/>
            <a:chOff x="0" y="0"/>
            <a:chExt cx="7200900" cy="2476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009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200900">
                  <a:moveTo>
                    <a:pt x="412750" y="0"/>
                  </a:moveTo>
                  <a:lnTo>
                    <a:pt x="6788150" y="0"/>
                  </a:lnTo>
                  <a:cubicBezTo>
                    <a:pt x="7016115" y="0"/>
                    <a:pt x="7200900" y="184785"/>
                    <a:pt x="7200900" y="412750"/>
                  </a:cubicBezTo>
                  <a:lnTo>
                    <a:pt x="7200900" y="2476500"/>
                  </a:lnTo>
                  <a:lnTo>
                    <a:pt x="0" y="2476500"/>
                  </a:lnTo>
                  <a:lnTo>
                    <a:pt x="0" y="412750"/>
                  </a:lnTo>
                  <a:cubicBezTo>
                    <a:pt x="0" y="184785"/>
                    <a:pt x="184785" y="0"/>
                    <a:pt x="412750" y="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587538" y="2328862"/>
            <a:ext cx="571500" cy="571500"/>
            <a:chOff x="0" y="0"/>
            <a:chExt cx="762000" cy="762000"/>
          </a:xfrm>
        </p:grpSpPr>
        <p:sp>
          <p:nvSpPr>
            <p:cNvPr name="Freeform 40" id="40" descr="Icono ScanLine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315825" y="3295650"/>
            <a:ext cx="51149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Insertar foto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58700" y="3819525"/>
            <a:ext cx="4857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Unión Europea (FMD) y Colombia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58700" y="4162425"/>
            <a:ext cx="4857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CA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Catálogos compartidos (GDSN)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58700" y="4591050"/>
            <a:ext cx="4857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2633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Código 2D + prospecto en el móvil (e-PIL)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58700" y="4914900"/>
            <a:ext cx="48577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5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En Europa cada caja se verifica antes de entregarse; en Colombia comparten un mismo catálogo.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4406" y="5765006"/>
            <a:ext cx="1528762" cy="1728788"/>
            <a:chOff x="0" y="0"/>
            <a:chExt cx="2038350" cy="2305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383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2038350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1761490" y="0"/>
                  </a:lnTo>
                  <a:cubicBezTo>
                    <a:pt x="1914398" y="0"/>
                    <a:pt x="2038350" y="123952"/>
                    <a:pt x="2038350" y="276860"/>
                  </a:cubicBezTo>
                  <a:lnTo>
                    <a:pt x="2038350" y="2028190"/>
                  </a:lnTo>
                  <a:cubicBezTo>
                    <a:pt x="2038350" y="2181098"/>
                    <a:pt x="1914398" y="2305050"/>
                    <a:pt x="1761490" y="2305050"/>
                  </a:cubicBezTo>
                  <a:lnTo>
                    <a:pt x="276860" y="2305050"/>
                  </a:lnTo>
                  <a:cubicBezTo>
                    <a:pt x="123952" y="2305050"/>
                    <a:pt x="0" y="2181098"/>
                    <a:pt x="0" y="202819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71550" y="5943600"/>
            <a:ext cx="1514475" cy="571500"/>
            <a:chOff x="0" y="0"/>
            <a:chExt cx="20193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193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0193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263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76%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57275" y="6562725"/>
            <a:ext cx="13430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menos errores de medicación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593181" y="5765006"/>
            <a:ext cx="1528762" cy="1728788"/>
            <a:chOff x="0" y="0"/>
            <a:chExt cx="2038350" cy="2305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383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2038350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1761490" y="0"/>
                  </a:lnTo>
                  <a:cubicBezTo>
                    <a:pt x="1914398" y="0"/>
                    <a:pt x="2038350" y="123952"/>
                    <a:pt x="2038350" y="276860"/>
                  </a:cubicBezTo>
                  <a:lnTo>
                    <a:pt x="2038350" y="2028190"/>
                  </a:lnTo>
                  <a:cubicBezTo>
                    <a:pt x="2038350" y="2181098"/>
                    <a:pt x="1914398" y="2305050"/>
                    <a:pt x="1761490" y="2305050"/>
                  </a:cubicBezTo>
                  <a:lnTo>
                    <a:pt x="276860" y="2305050"/>
                  </a:lnTo>
                  <a:cubicBezTo>
                    <a:pt x="123952" y="2305050"/>
                    <a:pt x="0" y="2181098"/>
                    <a:pt x="0" y="202819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2600325" y="5943600"/>
            <a:ext cx="1514475" cy="571500"/>
            <a:chOff x="0" y="0"/>
            <a:chExt cx="201930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193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0193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263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+140,000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686050" y="6562725"/>
            <a:ext cx="13430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horas clínicas liberadas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221956" y="5765006"/>
            <a:ext cx="1528762" cy="1728788"/>
            <a:chOff x="0" y="0"/>
            <a:chExt cx="2038350" cy="2305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383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2038350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1761490" y="0"/>
                  </a:lnTo>
                  <a:cubicBezTo>
                    <a:pt x="1914398" y="0"/>
                    <a:pt x="2038350" y="123952"/>
                    <a:pt x="2038350" y="276860"/>
                  </a:cubicBezTo>
                  <a:lnTo>
                    <a:pt x="2038350" y="2028190"/>
                  </a:lnTo>
                  <a:cubicBezTo>
                    <a:pt x="2038350" y="2181098"/>
                    <a:pt x="1914398" y="2305050"/>
                    <a:pt x="1761490" y="2305050"/>
                  </a:cubicBezTo>
                  <a:lnTo>
                    <a:pt x="276860" y="2305050"/>
                  </a:lnTo>
                  <a:cubicBezTo>
                    <a:pt x="123952" y="2305050"/>
                    <a:pt x="0" y="2181098"/>
                    <a:pt x="0" y="202819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229100" y="5943600"/>
            <a:ext cx="1514475" cy="571500"/>
            <a:chOff x="0" y="0"/>
            <a:chExt cx="2019300" cy="762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93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5" r="0" b="-163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0193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263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&lt;30 min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4314825" y="6562725"/>
            <a:ext cx="13430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para ubicar un lote retirado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715125" y="5734050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26334"/>
                </a:solidFill>
                <a:latin typeface="Arial Bold"/>
                <a:ea typeface="Arial Bold"/>
                <a:cs typeface="Arial Bold"/>
                <a:sym typeface="Arial Bold"/>
              </a:rPr>
              <a:t>99.9%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715125" y="6686550"/>
            <a:ext cx="48577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precisión al entregar el medicamento dentro del hospital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707981" y="7422356"/>
            <a:ext cx="4843462" cy="1185862"/>
            <a:chOff x="0" y="0"/>
            <a:chExt cx="6457950" cy="15811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57950" cy="1581023"/>
            </a:xfrm>
            <a:custGeom>
              <a:avLst/>
              <a:gdLst/>
              <a:ahLst/>
              <a:cxnLst/>
              <a:rect r="r" b="b" t="t" l="l"/>
              <a:pathLst>
                <a:path h="1581023" w="6457950">
                  <a:moveTo>
                    <a:pt x="0" y="277622"/>
                  </a:moveTo>
                  <a:cubicBezTo>
                    <a:pt x="0" y="124333"/>
                    <a:pt x="124333" y="0"/>
                    <a:pt x="277622" y="0"/>
                  </a:cubicBezTo>
                  <a:lnTo>
                    <a:pt x="6180328" y="0"/>
                  </a:lnTo>
                  <a:cubicBezTo>
                    <a:pt x="6333617" y="0"/>
                    <a:pt x="6457950" y="124333"/>
                    <a:pt x="6457950" y="277622"/>
                  </a:cubicBezTo>
                  <a:lnTo>
                    <a:pt x="6457950" y="1303401"/>
                  </a:lnTo>
                  <a:cubicBezTo>
                    <a:pt x="6457950" y="1456690"/>
                    <a:pt x="6333617" y="1581023"/>
                    <a:pt x="6180328" y="1581023"/>
                  </a:cubicBezTo>
                  <a:lnTo>
                    <a:pt x="277622" y="1581023"/>
                  </a:lnTo>
                  <a:cubicBezTo>
                    <a:pt x="124333" y="1581150"/>
                    <a:pt x="0" y="1456817"/>
                    <a:pt x="0" y="1303528"/>
                  </a:cubicBezTo>
                  <a:close/>
                </a:path>
              </a:pathLst>
            </a:custGeom>
            <a:solidFill>
              <a:srgbClr val="E6F8F1"/>
            </a:solidFill>
            <a:ln w="14288" cap="sq">
              <a:solidFill>
                <a:srgbClr val="E6F8F1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915150" y="7800975"/>
            <a:ext cx="342900" cy="342900"/>
            <a:chOff x="0" y="0"/>
            <a:chExt cx="457200" cy="457200"/>
          </a:xfrm>
        </p:grpSpPr>
        <p:sp>
          <p:nvSpPr>
            <p:cNvPr name="Freeform 69" id="69" descr="Icono Shield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400925" y="7486650"/>
            <a:ext cx="4000500" cy="1057275"/>
            <a:chOff x="0" y="0"/>
            <a:chExt cx="5334000" cy="1409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340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409700"/>
                  </a:lnTo>
                  <a:lnTo>
                    <a:pt x="0" y="1409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727" r="0" b="-2372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3340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47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simple: como cada caja se puede rastrear, es más difícil que entren medicamentos falsificados.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458700" y="5734050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26334"/>
                </a:solidFill>
                <a:latin typeface="Arial Bold"/>
                <a:ea typeface="Arial Bold"/>
                <a:cs typeface="Arial Bold"/>
                <a:sym typeface="Arial Bold"/>
              </a:rPr>
              <a:t>−40%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458700" y="6686550"/>
            <a:ext cx="48577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47556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errores al comprar y facturar entre laboratorios y clínicas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</p:txBody>
      </p:sp>
      <p:sp>
        <p:nvSpPr>
          <p:cNvPr id="76" name="En simple UK"/>
          <p:cNvSpPr txBox="1"/>
          <p:nvPr/>
        </p:nvSpPr>
        <p:spPr>
          <a:xfrm>
            <a:off x="971550" y="7686675"/>
            <a:ext cx="4857750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 simple: al escanear, el hospital sabe qué se usó y en quién; el personal pasa menos tiempo contando y más con el paciente.</a:t>
            </a:r>
          </a:p>
        </p:txBody>
      </p:sp>
      <p:sp>
        <p:nvSpPr>
          <p:cNvPr id="77" name="En simple UE"/>
          <p:cNvSpPr txBox="1"/>
          <p:nvPr/>
        </p:nvSpPr>
        <p:spPr>
          <a:xfrm>
            <a:off x="12458700" y="7629525"/>
            <a:ext cx="485775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En simple: si todos usan el mismo catálogo, un producto se llama igual en todas partes y hay menos errores en pedidos y facturas.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  <p:sp>
        <p:nvSpPr>
          <p:cNvPr id="144" name="Número de punto"/>
          <p:cNvSpPr/>
          <p:nvPr/>
        </p:nvSpPr>
        <p:spPr>
          <a:xfrm>
            <a:off x="1371600" y="2400300"/>
            <a:ext cx="2714625" cy="2714625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úmero"/>
          <p:cNvSpPr txBox="1"/>
          <p:nvPr/>
        </p:nvSpPr>
        <p:spPr>
          <a:xfrm>
            <a:off x="1371600" y="2400300"/>
            <a:ext cx="2714625" cy="2714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6" name="Kicker"/>
          <p:cNvSpPr txBox="1"/>
          <p:nvPr/>
        </p:nvSpPr>
        <p:spPr>
          <a:xfrm>
            <a:off x="4714875" y="2457450"/>
            <a:ext cx="111442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99">
                <a:solidFill>
                  <a:srgbClr val="F26334"/>
                </a:solidFill>
                <a:latin typeface="Calibri"/>
                <a:ea typeface="Calibri"/>
                <a:cs typeface="Calibri"/>
              </a:rPr>
              <a:t>INICIAMOS EL PUNTO 3 DE LA AGENDA</a:t>
            </a:r>
          </a:p>
        </p:txBody>
      </p:sp>
      <p:sp>
        <p:nvSpPr>
          <p:cNvPr id="147" name="Título sección"/>
          <p:cNvSpPr txBox="1"/>
          <p:nvPr/>
        </p:nvSpPr>
        <p:spPr>
          <a:xfrm>
            <a:off x="4714875" y="2914650"/>
            <a:ext cx="9144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9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GS1 News</a:t>
            </a:r>
          </a:p>
        </p:txBody>
      </p:sp>
      <p:sp>
        <p:nvSpPr>
          <p:cNvPr id="148" name="Subtítulo sección"/>
          <p:cNvSpPr txBox="1"/>
          <p:nvPr/>
        </p:nvSpPr>
        <p:spPr>
          <a:xfrm>
            <a:off x="4714875" y="3943350"/>
            <a:ext cx="10858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Novedades globales y hoja de ruta 2026–2027</a:t>
            </a:r>
          </a:p>
        </p:txBody>
      </p:sp>
      <p:sp>
        <p:nvSpPr>
          <p:cNvPr id="149" name="Etiqueta Sunrise 2027"/>
          <p:cNvSpPr/>
          <p:nvPr/>
        </p:nvSpPr>
        <p:spPr>
          <a:xfrm>
            <a:off x="4714875" y="4714875"/>
            <a:ext cx="19431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o etiqueta"/>
          <p:cNvSpPr txBox="1"/>
          <p:nvPr/>
        </p:nvSpPr>
        <p:spPr>
          <a:xfrm>
            <a:off x="4714875" y="4714875"/>
            <a:ext cx="1943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Sunrise 2027</a:t>
            </a:r>
          </a:p>
        </p:txBody>
      </p:sp>
      <p:sp>
        <p:nvSpPr>
          <p:cNvPr id="151" name="Etiqueta GS1 Digital Link Lat"/>
          <p:cNvSpPr/>
          <p:nvPr/>
        </p:nvSpPr>
        <p:spPr>
          <a:xfrm>
            <a:off x="6829425" y="4714875"/>
            <a:ext cx="30861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o etiqueta"/>
          <p:cNvSpPr txBox="1"/>
          <p:nvPr/>
        </p:nvSpPr>
        <p:spPr>
          <a:xfrm>
            <a:off x="6829425" y="4714875"/>
            <a:ext cx="3086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GS1 Digital Link Latam</a:t>
            </a:r>
          </a:p>
        </p:txBody>
      </p:sp>
      <p:sp>
        <p:nvSpPr>
          <p:cNvPr id="153" name="Etiqueta EPCIS 2.0"/>
          <p:cNvSpPr/>
          <p:nvPr/>
        </p:nvSpPr>
        <p:spPr>
          <a:xfrm>
            <a:off x="10086975" y="4714875"/>
            <a:ext cx="16002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o etiqueta"/>
          <p:cNvSpPr txBox="1"/>
          <p:nvPr/>
        </p:nvSpPr>
        <p:spPr>
          <a:xfrm>
            <a:off x="10086975" y="4714875"/>
            <a:ext cx="1600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EPCIS 2.0</a:t>
            </a:r>
          </a:p>
        </p:txBody>
      </p:sp>
      <p:sp>
        <p:nvSpPr>
          <p:cNvPr id="155" name="Etiqueta Formación técnica"/>
          <p:cNvSpPr/>
          <p:nvPr/>
        </p:nvSpPr>
        <p:spPr>
          <a:xfrm>
            <a:off x="11858625" y="4714875"/>
            <a:ext cx="2514600" cy="542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o etiqueta"/>
          <p:cNvSpPr txBox="1"/>
          <p:nvPr/>
        </p:nvSpPr>
        <p:spPr>
          <a:xfrm>
            <a:off x="11858625" y="4714875"/>
            <a:ext cx="25146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002C6C"/>
                </a:solidFill>
                <a:latin typeface="Calibri"/>
                <a:ea typeface="Calibri"/>
                <a:cs typeface="Calibri"/>
              </a:rPr>
              <a:t>Formación técnica</a:t>
            </a:r>
          </a:p>
        </p:txBody>
      </p:sp>
      <p:sp>
        <p:nvSpPr>
          <p:cNvPr id="157" name="Círculo decorativo"/>
          <p:cNvSpPr/>
          <p:nvPr/>
        </p:nvSpPr>
        <p:spPr>
          <a:xfrm>
            <a:off x="15144750" y="2143125"/>
            <a:ext cx="2428875" cy="2428875"/>
          </a:xfrm>
          <a:prstGeom prst="ellips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Newspaper_00A7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88" y="2786062"/>
            <a:ext cx="1143000" cy="1143000"/>
          </a:xfrm>
          <a:prstGeom prst="rect">
            <a:avLst/>
          </a:prstGeom>
        </p:spPr>
      </p:pic>
      <p:sp>
        <p:nvSpPr>
          <p:cNvPr id="159" name="Progreso"/>
          <p:cNvSpPr txBox="1"/>
          <p:nvPr/>
        </p:nvSpPr>
        <p:spPr>
          <a:xfrm>
            <a:off x="1371600" y="7215188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 spc="2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PUNTOS DE LA AGENDA</a:t>
            </a:r>
          </a:p>
        </p:txBody>
      </p:sp>
      <p:sp>
        <p:nvSpPr>
          <p:cNvPr id="160" name="Progreso 1"/>
          <p:cNvSpPr/>
          <p:nvPr/>
        </p:nvSpPr>
        <p:spPr>
          <a:xfrm>
            <a:off x="137160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rogreso texto"/>
          <p:cNvSpPr txBox="1"/>
          <p:nvPr/>
        </p:nvSpPr>
        <p:spPr>
          <a:xfrm>
            <a:off x="157162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 · Rastreo Inteligente</a:t>
            </a:r>
          </a:p>
        </p:txBody>
      </p:sp>
      <p:sp>
        <p:nvSpPr>
          <p:cNvPr id="162" name="Progreso 2"/>
          <p:cNvSpPr/>
          <p:nvPr/>
        </p:nvSpPr>
        <p:spPr>
          <a:xfrm>
            <a:off x="540067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rogreso texto"/>
          <p:cNvSpPr txBox="1"/>
          <p:nvPr/>
        </p:nvSpPr>
        <p:spPr>
          <a:xfrm>
            <a:off x="560070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 · Seguridad, cadena y trazabilidad</a:t>
            </a:r>
          </a:p>
        </p:txBody>
      </p:sp>
      <p:sp>
        <p:nvSpPr>
          <p:cNvPr id="164" name="Progreso 3"/>
          <p:cNvSpPr/>
          <p:nvPr/>
        </p:nvSpPr>
        <p:spPr>
          <a:xfrm>
            <a:off x="9429750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00A79D"/>
          </a:solidFill>
          <a:ln>
            <a:noFill/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greso texto"/>
          <p:cNvSpPr txBox="1"/>
          <p:nvPr/>
        </p:nvSpPr>
        <p:spPr>
          <a:xfrm>
            <a:off x="9629775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GS1 News</a:t>
            </a:r>
          </a:p>
        </p:txBody>
      </p:sp>
      <p:sp>
        <p:nvSpPr>
          <p:cNvPr id="166" name="Progreso 4"/>
          <p:cNvSpPr/>
          <p:nvPr/>
        </p:nvSpPr>
        <p:spPr>
          <a:xfrm>
            <a:off x="13458825" y="7629525"/>
            <a:ext cx="3743325" cy="7429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rogreso texto"/>
          <p:cNvSpPr txBox="1"/>
          <p:nvPr/>
        </p:nvSpPr>
        <p:spPr>
          <a:xfrm>
            <a:off x="13658850" y="7629525"/>
            <a:ext cx="340042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· Ronda Abierta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3 · GS1 NEWS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Novedades globales y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hoja de ruta 2026–2027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430500" y="200025"/>
            <a:ext cx="2286000" cy="642938"/>
            <a:chOff x="0" y="0"/>
            <a:chExt cx="3048000" cy="857250"/>
          </a:xfrm>
        </p:grpSpPr>
        <p:sp>
          <p:nvSpPr>
            <p:cNvPr name="Freeform 14" id="14" descr="Logo GS1 Venezuela"/>
            <p:cNvSpPr/>
            <p:nvPr/>
          </p:nvSpPr>
          <p:spPr>
            <a:xfrm flipH="false" flipV="false" rot="0">
              <a:off x="0" y="0"/>
              <a:ext cx="304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23" t="0" r="-22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8656" y="1921669"/>
            <a:ext cx="8301038" cy="3328988"/>
            <a:chOff x="0" y="0"/>
            <a:chExt cx="11068050" cy="4438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050" cy="4438650"/>
            </a:xfrm>
            <a:custGeom>
              <a:avLst/>
              <a:gdLst/>
              <a:ahLst/>
              <a:cxnLst/>
              <a:rect r="r" b="b" t="t" l="l"/>
              <a:pathLst>
                <a:path h="4438650" w="11068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700766" y="0"/>
                  </a:lnTo>
                  <a:cubicBezTo>
                    <a:pt x="10903585" y="0"/>
                    <a:pt x="11068050" y="164465"/>
                    <a:pt x="11068050" y="367284"/>
                  </a:cubicBezTo>
                  <a:lnTo>
                    <a:pt x="11068050" y="4071366"/>
                  </a:lnTo>
                  <a:cubicBezTo>
                    <a:pt x="11068050" y="4274185"/>
                    <a:pt x="10903585" y="4438650"/>
                    <a:pt x="10700766" y="4438650"/>
                  </a:cubicBezTo>
                  <a:lnTo>
                    <a:pt x="367284" y="4438650"/>
                  </a:lnTo>
                  <a:cubicBezTo>
                    <a:pt x="164465" y="4438650"/>
                    <a:pt x="0" y="4274185"/>
                    <a:pt x="0" y="40713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2271712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633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8156" y="2491169"/>
            <a:ext cx="475488" cy="475488"/>
            <a:chOff x="0" y="0"/>
            <a:chExt cx="633984" cy="633984"/>
          </a:xfrm>
        </p:grpSpPr>
        <p:sp>
          <p:nvSpPr>
            <p:cNvPr name="Freeform 20" id="20" descr="Icono Sunrise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28850" y="2252662"/>
            <a:ext cx="6429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Rumbo a GS1 Sunrise 2027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8850" y="2728913"/>
            <a:ext cx="18573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2027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114800" y="2814638"/>
            <a:ext cx="4572000" cy="628650"/>
            <a:chOff x="0" y="0"/>
            <a:chExt cx="6096000" cy="838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838200"/>
            </a:xfrm>
            <a:custGeom>
              <a:avLst/>
              <a:gdLst/>
              <a:ahLst/>
              <a:cxnLst/>
              <a:rect r="r" b="b" t="t" l="l"/>
              <a:pathLst>
                <a:path h="838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096000" cy="866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año meta de GS1 Sunrise (pilotos en 48 países / 88% del PIB mundial)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228850" y="3576638"/>
            <a:ext cx="642937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Puntos de venta y farmacias avanzan hacia la lectura nativa de códigos 2D.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08306" y="1921669"/>
            <a:ext cx="8301038" cy="3328988"/>
            <a:chOff x="0" y="0"/>
            <a:chExt cx="11068050" cy="44386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68050" cy="4438650"/>
            </a:xfrm>
            <a:custGeom>
              <a:avLst/>
              <a:gdLst/>
              <a:ahLst/>
              <a:cxnLst/>
              <a:rect r="r" b="b" t="t" l="l"/>
              <a:pathLst>
                <a:path h="4438650" w="11068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700766" y="0"/>
                  </a:lnTo>
                  <a:cubicBezTo>
                    <a:pt x="10903585" y="0"/>
                    <a:pt x="11068050" y="164465"/>
                    <a:pt x="11068050" y="367284"/>
                  </a:cubicBezTo>
                  <a:lnTo>
                    <a:pt x="11068050" y="4071366"/>
                  </a:lnTo>
                  <a:cubicBezTo>
                    <a:pt x="11068050" y="4274185"/>
                    <a:pt x="10903585" y="4438650"/>
                    <a:pt x="10700766" y="4438650"/>
                  </a:cubicBezTo>
                  <a:lnTo>
                    <a:pt x="367284" y="4438650"/>
                  </a:lnTo>
                  <a:cubicBezTo>
                    <a:pt x="164465" y="4438650"/>
                    <a:pt x="0" y="4274185"/>
                    <a:pt x="0" y="40713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58350" y="2271712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A9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77806" y="2491169"/>
            <a:ext cx="475488" cy="475488"/>
            <a:chOff x="0" y="0"/>
            <a:chExt cx="633984" cy="633984"/>
          </a:xfrm>
        </p:grpSpPr>
        <p:sp>
          <p:nvSpPr>
            <p:cNvPr name="Freeform 32" id="32" descr="Icono QrCode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58500" y="2252662"/>
            <a:ext cx="6429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Plataforma GS1 Digital Link Latam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58500" y="2719388"/>
            <a:ext cx="64293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0B132B"/>
                </a:solidFill>
                <a:latin typeface="Calibri (MS)"/>
                <a:ea typeface="Calibri (MS)"/>
                <a:cs typeface="Calibri (MS)"/>
                <a:sym typeface="Calibri (MS)"/>
              </a:rPr>
              <a:t>Disponible para afiliados de GS1 Venezuela en </a:t>
            </a:r>
            <a:r>
              <a:rPr lang="en-US" sz="1875" b="true">
                <a:solidFill>
                  <a:srgbClr val="0097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app.gs1digitallink.lat</a:t>
            </a:r>
            <a:r>
              <a:rPr lang="en-US" sz="1875">
                <a:solidFill>
                  <a:srgbClr val="0B132B"/>
                </a:solidFill>
                <a:latin typeface="Calibri (MS)"/>
                <a:ea typeface="Calibri (MS)"/>
                <a:cs typeface="Calibri (MS)"/>
                <a:sym typeface="Calibri (MS)"/>
              </a:rPr>
              <a:t>. Exportación de arte tanto para QR Digital Link como GS1 DataMatrix: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58500" y="4071938"/>
            <a:ext cx="857250" cy="428625"/>
            <a:chOff x="0" y="0"/>
            <a:chExt cx="1143000" cy="571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3544" y="0"/>
                  </a:lnTo>
                  <a:cubicBezTo>
                    <a:pt x="1044702" y="0"/>
                    <a:pt x="1143000" y="98298"/>
                    <a:pt x="1143000" y="219456"/>
                  </a:cubicBezTo>
                  <a:lnTo>
                    <a:pt x="1143000" y="352044"/>
                  </a:lnTo>
                  <a:cubicBezTo>
                    <a:pt x="1143000" y="473202"/>
                    <a:pt x="1044702" y="571500"/>
                    <a:pt x="923544" y="571500"/>
                  </a:cubicBezTo>
                  <a:lnTo>
                    <a:pt x="219456" y="571500"/>
                  </a:lnTo>
                  <a:cubicBezTo>
                    <a:pt x="98298" y="571500"/>
                    <a:pt x="0" y="473202"/>
                    <a:pt x="0" y="352044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58500" y="4071938"/>
            <a:ext cx="857250" cy="428625"/>
            <a:chOff x="0" y="0"/>
            <a:chExt cx="1143000" cy="571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14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SVG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58625" y="4071938"/>
            <a:ext cx="857250" cy="428625"/>
            <a:chOff x="0" y="0"/>
            <a:chExt cx="1143000" cy="571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3544" y="0"/>
                  </a:lnTo>
                  <a:cubicBezTo>
                    <a:pt x="1044702" y="0"/>
                    <a:pt x="1143000" y="98298"/>
                    <a:pt x="1143000" y="219456"/>
                  </a:cubicBezTo>
                  <a:lnTo>
                    <a:pt x="1143000" y="352044"/>
                  </a:lnTo>
                  <a:cubicBezTo>
                    <a:pt x="1143000" y="473202"/>
                    <a:pt x="1044702" y="571500"/>
                    <a:pt x="923544" y="571500"/>
                  </a:cubicBezTo>
                  <a:lnTo>
                    <a:pt x="219456" y="571500"/>
                  </a:lnTo>
                  <a:cubicBezTo>
                    <a:pt x="98298" y="571500"/>
                    <a:pt x="0" y="473202"/>
                    <a:pt x="0" y="352044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58625" y="4071938"/>
            <a:ext cx="857250" cy="428625"/>
            <a:chOff x="0" y="0"/>
            <a:chExt cx="1143000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14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58750" y="4071938"/>
            <a:ext cx="857250" cy="428625"/>
            <a:chOff x="0" y="0"/>
            <a:chExt cx="1143000" cy="571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3544" y="0"/>
                  </a:lnTo>
                  <a:cubicBezTo>
                    <a:pt x="1044702" y="0"/>
                    <a:pt x="1143000" y="98298"/>
                    <a:pt x="1143000" y="219456"/>
                  </a:cubicBezTo>
                  <a:lnTo>
                    <a:pt x="1143000" y="352044"/>
                  </a:lnTo>
                  <a:cubicBezTo>
                    <a:pt x="1143000" y="473202"/>
                    <a:pt x="1044702" y="571500"/>
                    <a:pt x="923544" y="571500"/>
                  </a:cubicBezTo>
                  <a:lnTo>
                    <a:pt x="219456" y="571500"/>
                  </a:lnTo>
                  <a:cubicBezTo>
                    <a:pt x="98298" y="571500"/>
                    <a:pt x="0" y="473202"/>
                    <a:pt x="0" y="352044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858750" y="4071938"/>
            <a:ext cx="857250" cy="428625"/>
            <a:chOff x="0" y="0"/>
            <a:chExt cx="1143000" cy="571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4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PDF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858875" y="4071938"/>
            <a:ext cx="857250" cy="428625"/>
            <a:chOff x="0" y="0"/>
            <a:chExt cx="1143000" cy="571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3544" y="0"/>
                  </a:lnTo>
                  <a:cubicBezTo>
                    <a:pt x="1044702" y="0"/>
                    <a:pt x="1143000" y="98298"/>
                    <a:pt x="1143000" y="219456"/>
                  </a:cubicBezTo>
                  <a:lnTo>
                    <a:pt x="1143000" y="352044"/>
                  </a:lnTo>
                  <a:cubicBezTo>
                    <a:pt x="1143000" y="473202"/>
                    <a:pt x="1044702" y="571500"/>
                    <a:pt x="923544" y="571500"/>
                  </a:cubicBezTo>
                  <a:lnTo>
                    <a:pt x="219456" y="571500"/>
                  </a:lnTo>
                  <a:cubicBezTo>
                    <a:pt x="98298" y="571500"/>
                    <a:pt x="0" y="473202"/>
                    <a:pt x="0" y="352044"/>
                  </a:cubicBezTo>
                  <a:close/>
                </a:path>
              </a:pathLst>
            </a:custGeom>
            <a:solidFill>
              <a:srgbClr val="E0F4F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858875" y="4071938"/>
            <a:ext cx="857250" cy="428625"/>
            <a:chOff x="0" y="0"/>
            <a:chExt cx="1143000" cy="571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430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1430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97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EPS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8656" y="5493544"/>
            <a:ext cx="8301038" cy="3328988"/>
            <a:chOff x="0" y="0"/>
            <a:chExt cx="11068050" cy="44386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068050" cy="4438650"/>
            </a:xfrm>
            <a:custGeom>
              <a:avLst/>
              <a:gdLst/>
              <a:ahLst/>
              <a:cxnLst/>
              <a:rect r="r" b="b" t="t" l="l"/>
              <a:pathLst>
                <a:path h="4438650" w="11068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700766" y="0"/>
                  </a:lnTo>
                  <a:cubicBezTo>
                    <a:pt x="10903585" y="0"/>
                    <a:pt x="11068050" y="164465"/>
                    <a:pt x="11068050" y="367284"/>
                  </a:cubicBezTo>
                  <a:lnTo>
                    <a:pt x="11068050" y="4071366"/>
                  </a:lnTo>
                  <a:cubicBezTo>
                    <a:pt x="11068050" y="4274185"/>
                    <a:pt x="10903585" y="4438650"/>
                    <a:pt x="10700766" y="4438650"/>
                  </a:cubicBezTo>
                  <a:lnTo>
                    <a:pt x="367284" y="4438650"/>
                  </a:lnTo>
                  <a:cubicBezTo>
                    <a:pt x="164465" y="4438650"/>
                    <a:pt x="0" y="4274185"/>
                    <a:pt x="0" y="40713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28700" y="5843588"/>
            <a:ext cx="914400" cy="914400"/>
            <a:chOff x="0" y="0"/>
            <a:chExt cx="12192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A79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48156" y="6063044"/>
            <a:ext cx="475488" cy="475488"/>
            <a:chOff x="0" y="0"/>
            <a:chExt cx="633984" cy="633984"/>
          </a:xfrm>
        </p:grpSpPr>
        <p:sp>
          <p:nvSpPr>
            <p:cNvPr name="Freeform 60" id="60" descr="Icono Share2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2228850" y="5824538"/>
            <a:ext cx="6429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EPCIS 2.0 e interoperabilidad con IA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228850" y="6348412"/>
            <a:ext cx="6429375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Nuevo estándar global para compartir eventos de visibilidad en cadenas de suministro de salud con máxima ciberseguridad.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308306" y="5493544"/>
            <a:ext cx="8301038" cy="3328988"/>
            <a:chOff x="0" y="0"/>
            <a:chExt cx="11068050" cy="44386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68050" cy="4438650"/>
            </a:xfrm>
            <a:custGeom>
              <a:avLst/>
              <a:gdLst/>
              <a:ahLst/>
              <a:cxnLst/>
              <a:rect r="r" b="b" t="t" l="l"/>
              <a:pathLst>
                <a:path h="4438650" w="1106805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700766" y="0"/>
                  </a:lnTo>
                  <a:cubicBezTo>
                    <a:pt x="10903585" y="0"/>
                    <a:pt x="11068050" y="164465"/>
                    <a:pt x="11068050" y="367284"/>
                  </a:cubicBezTo>
                  <a:lnTo>
                    <a:pt x="11068050" y="4071366"/>
                  </a:lnTo>
                  <a:cubicBezTo>
                    <a:pt x="11068050" y="4274185"/>
                    <a:pt x="10903585" y="4438650"/>
                    <a:pt x="10700766" y="4438650"/>
                  </a:cubicBezTo>
                  <a:lnTo>
                    <a:pt x="367284" y="4438650"/>
                  </a:lnTo>
                  <a:cubicBezTo>
                    <a:pt x="164465" y="4438650"/>
                    <a:pt x="0" y="4274185"/>
                    <a:pt x="0" y="407136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658350" y="5843588"/>
            <a:ext cx="914400" cy="914400"/>
            <a:chOff x="0" y="0"/>
            <a:chExt cx="12192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77806" y="6063044"/>
            <a:ext cx="475488" cy="475488"/>
            <a:chOff x="0" y="0"/>
            <a:chExt cx="633984" cy="633984"/>
          </a:xfrm>
        </p:grpSpPr>
        <p:sp>
          <p:nvSpPr>
            <p:cNvPr name="Freeform 68" id="68" descr="Icono GraduationCap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0858500" y="5824538"/>
            <a:ext cx="6429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Formación y acompañamiento técnico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858500" y="6348412"/>
            <a:ext cx="6429375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Consultoría del Departamento de Estándares de GS1 Venezuela para adecuar líneas de empaque, asignación de GLN/GTIN y catalogación.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5500"/>
            <a:ext cx="1428750" cy="400050"/>
            <a:chOff x="0" y="0"/>
            <a:chExt cx="1905000" cy="533400"/>
          </a:xfrm>
        </p:grpSpPr>
        <p:sp>
          <p:nvSpPr>
            <p:cNvPr name="Freeform 3" id="3" descr="Logo GS1 Venezuela"/>
            <p:cNvSpPr/>
            <p:nvPr/>
          </p:nvSpPr>
          <p:spPr>
            <a:xfrm flipH="false" flipV="false" rot="0">
              <a:off x="0" y="0"/>
              <a:ext cx="1905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801225"/>
            <a:ext cx="8572500" cy="285750"/>
            <a:chOff x="0" y="0"/>
            <a:chExt cx="114300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300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Comité Salud GS1 · 5 Nov 2026 · www.gs1ve.org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73375" y="0"/>
            <a:ext cx="2714625" cy="1228725"/>
            <a:chOff x="0" y="0"/>
            <a:chExt cx="3619500" cy="1638300"/>
          </a:xfrm>
        </p:grpSpPr>
        <p:sp>
          <p:nvSpPr>
            <p:cNvPr name="Freeform 8" id="8" descr="Onda decorativa"/>
            <p:cNvSpPr/>
            <p:nvPr/>
          </p:nvSpPr>
          <p:spPr>
            <a:xfrm flipH="false" flipV="false" rot="0">
              <a:off x="0" y="0"/>
              <a:ext cx="36195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" r="0" b="-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01750" y="9372600"/>
            <a:ext cx="4286250" cy="914400"/>
            <a:chOff x="0" y="0"/>
            <a:chExt cx="5715000" cy="1219200"/>
          </a:xfrm>
        </p:grpSpPr>
        <p:sp>
          <p:nvSpPr>
            <p:cNvPr name="Freeform 10" id="10" descr="Onda decorativa"/>
            <p:cNvSpPr/>
            <p:nvPr/>
          </p:nvSpPr>
          <p:spPr>
            <a:xfrm flipH="false" flipV="false" rot="0">
              <a:off x="0" y="0"/>
              <a:ext cx="5715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85800" y="371475"/>
            <a:ext cx="100012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 · PUNTO 4 · MESA DE TRABAJO DEL COMITÉ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723900"/>
            <a:ext cx="13716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Ronda </a:t>
            </a:r>
            <a:r>
              <a:rPr lang="en-US" sz="390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Abierta</a:t>
            </a:r>
          </a:p>
        </p:txBody>
      </p:sp>
      <p:grpSp>
        <p:nvGrpSpPr>
          <p:cNvPr name="Group 13" id="13"/>
          <p:cNvGrpSpPr/>
          <p:nvPr/>
        </p:nvGrpSpPr>
        <p:grpSpPr>
          <a:xfrm rot="-180000">
            <a:off x="828675" y="1971675"/>
            <a:ext cx="5200650" cy="6343650"/>
            <a:chOff x="0" y="0"/>
            <a:chExt cx="6934200" cy="8458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34200" cy="8458200"/>
            </a:xfrm>
            <a:custGeom>
              <a:avLst/>
              <a:gdLst/>
              <a:ahLst/>
              <a:cxnLst/>
              <a:rect r="r" b="b" t="t" l="l"/>
              <a:pathLst>
                <a:path h="8458200" w="6934200">
                  <a:moveTo>
                    <a:pt x="0" y="647192"/>
                  </a:moveTo>
                  <a:cubicBezTo>
                    <a:pt x="0" y="289687"/>
                    <a:pt x="289687" y="0"/>
                    <a:pt x="647192" y="0"/>
                  </a:cubicBezTo>
                  <a:lnTo>
                    <a:pt x="6287008" y="0"/>
                  </a:lnTo>
                  <a:cubicBezTo>
                    <a:pt x="6644513" y="0"/>
                    <a:pt x="6934200" y="289687"/>
                    <a:pt x="6934200" y="647192"/>
                  </a:cubicBezTo>
                  <a:lnTo>
                    <a:pt x="6934200" y="7811008"/>
                  </a:lnTo>
                  <a:cubicBezTo>
                    <a:pt x="6934200" y="8168386"/>
                    <a:pt x="6644513" y="8458200"/>
                    <a:pt x="6287008" y="8458200"/>
                  </a:cubicBezTo>
                  <a:lnTo>
                    <a:pt x="647192" y="8458200"/>
                  </a:lnTo>
                  <a:cubicBezTo>
                    <a:pt x="289687" y="8458200"/>
                    <a:pt x="0" y="8168513"/>
                    <a:pt x="0" y="7811008"/>
                  </a:cubicBezTo>
                  <a:close/>
                </a:path>
              </a:pathLst>
            </a:custGeom>
            <a:solidFill>
              <a:srgbClr val="0097B2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451735" y="4166235"/>
            <a:ext cx="1954530" cy="1954530"/>
            <a:chOff x="0" y="0"/>
            <a:chExt cx="2606040" cy="2606040"/>
          </a:xfrm>
        </p:grpSpPr>
        <p:sp>
          <p:nvSpPr>
            <p:cNvPr name="Freeform 16" id="16" descr="Icono Users"/>
            <p:cNvSpPr/>
            <p:nvPr/>
          </p:nvSpPr>
          <p:spPr>
            <a:xfrm flipH="false" flipV="false" rot="0">
              <a:off x="0" y="0"/>
              <a:ext cx="2606040" cy="2606040"/>
            </a:xfrm>
            <a:custGeom>
              <a:avLst/>
              <a:gdLst/>
              <a:ahLst/>
              <a:cxnLst/>
              <a:rect r="r" b="b" t="t" l="l"/>
              <a:pathLst>
                <a:path h="2606040" w="2606040">
                  <a:moveTo>
                    <a:pt x="0" y="0"/>
                  </a:moveTo>
                  <a:lnTo>
                    <a:pt x="2606040" y="0"/>
                  </a:lnTo>
                  <a:lnTo>
                    <a:pt x="2606040" y="2606040"/>
                  </a:lnTo>
                  <a:lnTo>
                    <a:pt x="0" y="260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1550" y="7896225"/>
            <a:ext cx="49149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Insertar foto: mesa de trabajo del comité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8725" y="7829550"/>
            <a:ext cx="3571875" cy="485775"/>
            <a:chOff x="0" y="0"/>
            <a:chExt cx="4762500" cy="647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62500" cy="647700"/>
            </a:xfrm>
            <a:custGeom>
              <a:avLst/>
              <a:gdLst/>
              <a:ahLst/>
              <a:cxnLst/>
              <a:rect r="r" b="b" t="t" l="l"/>
              <a:pathLst>
                <a:path h="647700" w="47625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4438650" y="0"/>
                  </a:lnTo>
                  <a:cubicBezTo>
                    <a:pt x="4617466" y="0"/>
                    <a:pt x="4762500" y="145034"/>
                    <a:pt x="4762500" y="323850"/>
                  </a:cubicBezTo>
                  <a:cubicBezTo>
                    <a:pt x="4762500" y="502666"/>
                    <a:pt x="4617466" y="647700"/>
                    <a:pt x="44386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002C6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8725" y="7829550"/>
            <a:ext cx="3571875" cy="485775"/>
            <a:chOff x="0" y="0"/>
            <a:chExt cx="4762500" cy="647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62500" cy="647700"/>
            </a:xfrm>
            <a:custGeom>
              <a:avLst/>
              <a:gdLst/>
              <a:ahLst/>
              <a:cxnLst/>
              <a:rect r="r" b="b" t="t" l="l"/>
              <a:pathLst>
                <a:path h="6477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7625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Comité Salud GS1 · 5 Nov 2026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6807815" y="9780270"/>
            <a:ext cx="67437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  <p:sp>
        <p:nvSpPr>
          <p:cNvPr id="60" name="Tarjeta"/>
          <p:cNvSpPr/>
          <p:nvPr/>
        </p:nvSpPr>
        <p:spPr>
          <a:xfrm>
            <a:off x="6715125" y="2143125"/>
            <a:ext cx="10887075" cy="600075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4287">
            <a:solidFill>
              <a:srgbClr val="E2E8F0"/>
            </a:solidFill>
          </a:ln>
          <a:effectLst>
            <a:outerShdw blurRad="190500" dist="38100" dir="5400000" algn="t" rotWithShape="0">
              <a:srgbClr val="1E3A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cono mensaje"/>
          <p:cNvSpPr/>
          <p:nvPr/>
        </p:nvSpPr>
        <p:spPr>
          <a:xfrm>
            <a:off x="7286625" y="2657475"/>
            <a:ext cx="1200150" cy="1200150"/>
          </a:xfrm>
          <a:prstGeom prst="ellipse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MessagesSquar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2971800"/>
            <a:ext cx="571500" cy="571500"/>
          </a:xfrm>
          <a:prstGeom prst="rect">
            <a:avLst/>
          </a:prstGeom>
        </p:spPr>
      </p:pic>
      <p:sp>
        <p:nvSpPr>
          <p:cNvPr id="63" name="Agradecimiento título"/>
          <p:cNvSpPr txBox="1"/>
          <p:nvPr/>
        </p:nvSpPr>
        <p:spPr>
          <a:xfrm>
            <a:off x="8858250" y="2657475"/>
            <a:ext cx="842962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50" b="1" i="0">
                <a:solidFill>
                  <a:srgbClr val="002C6C"/>
                </a:solidFill>
                <a:latin typeface="Arial"/>
                <a:ea typeface="Arial"/>
                <a:cs typeface="Arial"/>
              </a:rPr>
              <a:t>Gracias por ser parte</a:t>
            </a:r>
          </a:p>
          <a:p>
            <a:pPr algn="l"/>
            <a:r>
              <a:rPr sz="3450" b="1" i="0">
                <a:solidFill>
                  <a:srgbClr val="1CA9C9"/>
                </a:solidFill>
                <a:latin typeface="Arial"/>
                <a:ea typeface="Arial"/>
                <a:cs typeface="Arial"/>
              </a:rPr>
              <a:t>del Comité Salud GS1</a:t>
            </a:r>
          </a:p>
        </p:txBody>
      </p:sp>
      <p:sp>
        <p:nvSpPr>
          <p:cNvPr id="64" name="Mensaje"/>
          <p:cNvSpPr txBox="1"/>
          <p:nvPr/>
        </p:nvSpPr>
        <p:spPr>
          <a:xfrm>
            <a:off x="7286625" y="4514850"/>
            <a:ext cx="9858375" cy="2428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 experiencia y su participación hacen posible que la trazabilidad y la seguridad del paciente avancen en Venezuela.</a:t>
            </a:r>
          </a:p>
          <a:p>
            <a:pPr algn="l"/>
            <a:r>
              <a:rPr sz="2500" b="1" i="0">
                <a:solidFill>
                  <a:srgbClr val="F26334"/>
                </a:solidFill>
                <a:latin typeface="Calibri"/>
                <a:ea typeface="Calibri"/>
                <a:cs typeface="Calibri"/>
              </a:rPr>
              <a:t>Ahora es su turno: la palabra es suya.</a:t>
            </a:r>
          </a:p>
        </p:txBody>
      </p:sp>
      <p:sp>
        <p:nvSpPr>
          <p:cNvPr id="65" name="Lema"/>
          <p:cNvSpPr txBox="1"/>
          <p:nvPr/>
        </p:nvSpPr>
        <p:spPr>
          <a:xfrm>
            <a:off x="7286625" y="7000875"/>
            <a:ext cx="9858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1">
                <a:solidFill>
                  <a:srgbClr val="002C6C"/>
                </a:solidFill>
                <a:latin typeface="Arial"/>
                <a:ea typeface="Arial"/>
                <a:cs typeface="Arial"/>
              </a:rPr>
              <a:t>Datos estándar, decisiones seguras.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011" y="242888"/>
            <a:ext cx="18288000" cy="10287000"/>
            <a:chOff x="0" y="0"/>
            <a:chExt cx="24384000" cy="13716000"/>
          </a:xfrm>
        </p:grpSpPr>
        <p:sp>
          <p:nvSpPr>
            <p:cNvPr name="Freeform 3" id="3" descr="Ondas corporativas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0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0" y="285750"/>
            <a:ext cx="2400300" cy="1200150"/>
            <a:chOff x="0" y="0"/>
            <a:chExt cx="3200400" cy="1600200"/>
          </a:xfrm>
        </p:grpSpPr>
        <p:sp>
          <p:nvSpPr>
            <p:cNvPr name="Freeform 5" id="5" descr="Logo GS1 Venezuela"/>
            <p:cNvSpPr/>
            <p:nvPr/>
          </p:nvSpPr>
          <p:spPr>
            <a:xfrm flipH="false" flipV="false" rot="0">
              <a:off x="0" y="0"/>
              <a:ext cx="3200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29500" y="1457325"/>
            <a:ext cx="10287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Únete al </a:t>
            </a:r>
            <a:r>
              <a:rPr lang="en-US" sz="4950" b="true">
                <a:solidFill>
                  <a:srgbClr val="1CA9C9"/>
                </a:solidFill>
                <a:latin typeface="Arial Bold"/>
                <a:ea typeface="Arial Bold"/>
                <a:cs typeface="Arial Bold"/>
                <a:sym typeface="Arial Bold"/>
              </a:rPr>
              <a:t>Comité Salud GS1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0" y="2305050"/>
            <a:ext cx="100012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 tu acceso a la plataforma Digital Link.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50231" y="3564731"/>
            <a:ext cx="4300538" cy="4300538"/>
            <a:chOff x="0" y="0"/>
            <a:chExt cx="5734050" cy="5734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34050" cy="5734050"/>
            </a:xfrm>
            <a:custGeom>
              <a:avLst/>
              <a:gdLst/>
              <a:ahLst/>
              <a:cxnLst/>
              <a:rect r="r" b="b" t="t" l="l"/>
              <a:pathLst>
                <a:path h="5734050" w="5734050">
                  <a:moveTo>
                    <a:pt x="0" y="458724"/>
                  </a:moveTo>
                  <a:cubicBezTo>
                    <a:pt x="0" y="205359"/>
                    <a:pt x="205359" y="0"/>
                    <a:pt x="458724" y="0"/>
                  </a:cubicBezTo>
                  <a:lnTo>
                    <a:pt x="5275326" y="0"/>
                  </a:lnTo>
                  <a:cubicBezTo>
                    <a:pt x="5528691" y="0"/>
                    <a:pt x="5734050" y="205359"/>
                    <a:pt x="5734050" y="458724"/>
                  </a:cubicBezTo>
                  <a:lnTo>
                    <a:pt x="5734050" y="5275326"/>
                  </a:lnTo>
                  <a:cubicBezTo>
                    <a:pt x="5734050" y="5528691"/>
                    <a:pt x="5528691" y="5734050"/>
                    <a:pt x="5275326" y="5734050"/>
                  </a:cubicBezTo>
                  <a:lnTo>
                    <a:pt x="458724" y="5734050"/>
                  </a:lnTo>
                  <a:cubicBezTo>
                    <a:pt x="205359" y="5734050"/>
                    <a:pt x="0" y="5528691"/>
                    <a:pt x="0" y="5275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00275" y="3914775"/>
            <a:ext cx="3600450" cy="3600450"/>
            <a:chOff x="0" y="0"/>
            <a:chExt cx="4800600" cy="4800600"/>
          </a:xfrm>
        </p:grpSpPr>
        <p:sp>
          <p:nvSpPr>
            <p:cNvPr name="Freeform 11" id="11" descr="Código QR ilustrativo"/>
            <p:cNvSpPr/>
            <p:nvPr/>
          </p:nvSpPr>
          <p:spPr>
            <a:xfrm flipH="false" flipV="false" rot="0">
              <a:off x="0" y="0"/>
              <a:ext cx="48006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4800600"/>
                  </a:lnTo>
                  <a:lnTo>
                    <a:pt x="0" y="480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449760">
            <a:off x="1635176" y="3376612"/>
            <a:ext cx="730139" cy="0"/>
          </a:xfrm>
          <a:prstGeom prst="line">
            <a:avLst/>
          </a:prstGeom>
          <a:ln cap="rnd" w="47625">
            <a:solidFill>
              <a:srgbClr val="002C6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 rot="4950240">
            <a:off x="1320851" y="3690938"/>
            <a:ext cx="730139" cy="0"/>
          </a:xfrm>
          <a:prstGeom prst="line">
            <a:avLst/>
          </a:prstGeom>
          <a:ln cap="rnd" w="47625">
            <a:solidFill>
              <a:srgbClr val="002C6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rot="449760">
            <a:off x="5635676" y="3376612"/>
            <a:ext cx="730139" cy="0"/>
          </a:xfrm>
          <a:prstGeom prst="line">
            <a:avLst/>
          </a:prstGeom>
          <a:ln cap="rnd" w="47625">
            <a:solidFill>
              <a:srgbClr val="1CA9C9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5" id="15"/>
          <p:cNvSpPr/>
          <p:nvPr/>
        </p:nvSpPr>
        <p:spPr>
          <a:xfrm rot="4950240">
            <a:off x="5950001" y="3690938"/>
            <a:ext cx="730139" cy="0"/>
          </a:xfrm>
          <a:prstGeom prst="line">
            <a:avLst/>
          </a:prstGeom>
          <a:ln cap="rnd" w="47625">
            <a:solidFill>
              <a:srgbClr val="1CA9C9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6" id="16"/>
          <p:cNvSpPr/>
          <p:nvPr/>
        </p:nvSpPr>
        <p:spPr>
          <a:xfrm rot="449760">
            <a:off x="1635176" y="8005762"/>
            <a:ext cx="730139" cy="0"/>
          </a:xfrm>
          <a:prstGeom prst="line">
            <a:avLst/>
          </a:prstGeom>
          <a:ln cap="rnd" w="47625">
            <a:solidFill>
              <a:srgbClr val="1CA9C9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 rot="4950240">
            <a:off x="1320851" y="7691438"/>
            <a:ext cx="730139" cy="0"/>
          </a:xfrm>
          <a:prstGeom prst="line">
            <a:avLst/>
          </a:prstGeom>
          <a:ln cap="rnd" w="47625">
            <a:solidFill>
              <a:srgbClr val="1CA9C9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 rot="449760">
            <a:off x="5635676" y="8005762"/>
            <a:ext cx="730139" cy="0"/>
          </a:xfrm>
          <a:prstGeom prst="line">
            <a:avLst/>
          </a:prstGeom>
          <a:ln cap="rnd" w="47625">
            <a:solidFill>
              <a:srgbClr val="002C6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 rot="4950240">
            <a:off x="5950001" y="7691438"/>
            <a:ext cx="730139" cy="0"/>
          </a:xfrm>
          <a:prstGeom prst="line">
            <a:avLst/>
          </a:prstGeom>
          <a:ln cap="rnd" w="47625">
            <a:solidFill>
              <a:srgbClr val="002C6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857375" y="83153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 spc="299">
                <a:solidFill>
                  <a:srgbClr val="F26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ESCANEA · SOLICITA ACCESO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22356" y="3050381"/>
            <a:ext cx="10186988" cy="842962"/>
            <a:chOff x="0" y="0"/>
            <a:chExt cx="13582650" cy="11239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82523" cy="1123823"/>
            </a:xfrm>
            <a:custGeom>
              <a:avLst/>
              <a:gdLst/>
              <a:ahLst/>
              <a:cxnLst/>
              <a:rect r="r" b="b" t="t" l="l"/>
              <a:pathLst>
                <a:path h="1123823" w="13582523">
                  <a:moveTo>
                    <a:pt x="0" y="558038"/>
                  </a:moveTo>
                  <a:cubicBezTo>
                    <a:pt x="0" y="249809"/>
                    <a:pt x="249809" y="0"/>
                    <a:pt x="558038" y="0"/>
                  </a:cubicBezTo>
                  <a:lnTo>
                    <a:pt x="13024486" y="0"/>
                  </a:lnTo>
                  <a:cubicBezTo>
                    <a:pt x="13332713" y="0"/>
                    <a:pt x="13582523" y="249809"/>
                    <a:pt x="13582523" y="558038"/>
                  </a:cubicBezTo>
                  <a:lnTo>
                    <a:pt x="13582523" y="565785"/>
                  </a:lnTo>
                  <a:cubicBezTo>
                    <a:pt x="13582523" y="874014"/>
                    <a:pt x="13332713" y="1123823"/>
                    <a:pt x="13024486" y="1123823"/>
                  </a:cubicBezTo>
                  <a:lnTo>
                    <a:pt x="558038" y="1123823"/>
                  </a:lnTo>
                  <a:cubicBezTo>
                    <a:pt x="249809" y="1123950"/>
                    <a:pt x="0" y="874141"/>
                    <a:pt x="0" y="5659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715250" y="3314700"/>
            <a:ext cx="314325" cy="314325"/>
            <a:chOff x="0" y="0"/>
            <a:chExt cx="419100" cy="419100"/>
          </a:xfrm>
        </p:grpSpPr>
        <p:sp>
          <p:nvSpPr>
            <p:cNvPr name="Freeform 24" id="24" descr="Icono MapPin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0" y="3057525"/>
            <a:ext cx="9144000" cy="828675"/>
            <a:chOff x="0" y="0"/>
            <a:chExt cx="12192000" cy="1104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1920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Oficina GS1 Venezuela. </a:t>
              </a:r>
              <a:r>
                <a:rPr lang="en-US" sz="1725">
                  <a:solidFill>
                    <a:srgbClr val="0B1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Ruices, Calle Los Laboratorios, Edf. Quorum, Piso 1, Oficina K, Caracas, Venezuela.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22356" y="4079081"/>
            <a:ext cx="10186988" cy="642938"/>
            <a:chOff x="0" y="0"/>
            <a:chExt cx="13582650" cy="857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582650" cy="857250"/>
            </a:xfrm>
            <a:custGeom>
              <a:avLst/>
              <a:gdLst/>
              <a:ahLst/>
              <a:cxnLst/>
              <a:rect r="r" b="b" t="t" l="l"/>
              <a:pathLst>
                <a:path h="857250" w="135826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lnTo>
                    <a:pt x="13154025" y="0"/>
                  </a:lnTo>
                  <a:cubicBezTo>
                    <a:pt x="13390753" y="0"/>
                    <a:pt x="13582650" y="191897"/>
                    <a:pt x="13582650" y="428625"/>
                  </a:cubicBezTo>
                  <a:cubicBezTo>
                    <a:pt x="13582650" y="665353"/>
                    <a:pt x="13390753" y="857250"/>
                    <a:pt x="13154025" y="857250"/>
                  </a:cubicBezTo>
                  <a:lnTo>
                    <a:pt x="428625" y="857250"/>
                  </a:ln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715250" y="4243388"/>
            <a:ext cx="314325" cy="314325"/>
            <a:chOff x="0" y="0"/>
            <a:chExt cx="419100" cy="419100"/>
          </a:xfrm>
        </p:grpSpPr>
        <p:sp>
          <p:nvSpPr>
            <p:cNvPr name="Freeform 31" id="31" descr="Icono Phone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0" y="4086225"/>
            <a:ext cx="9144000" cy="628650"/>
            <a:chOff x="0" y="0"/>
            <a:chExt cx="12192000" cy="838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2192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3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+58 414-2771877  /  +58 412-628-3276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22356" y="4907756"/>
            <a:ext cx="10186988" cy="957262"/>
            <a:chOff x="0" y="0"/>
            <a:chExt cx="13582650" cy="12763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82523" cy="1276350"/>
            </a:xfrm>
            <a:custGeom>
              <a:avLst/>
              <a:gdLst/>
              <a:ahLst/>
              <a:cxnLst/>
              <a:rect r="r" b="b" t="t" l="l"/>
              <a:pathLst>
                <a:path h="1276350" w="13582523">
                  <a:moveTo>
                    <a:pt x="0" y="556895"/>
                  </a:moveTo>
                  <a:cubicBezTo>
                    <a:pt x="0" y="249301"/>
                    <a:pt x="249301" y="0"/>
                    <a:pt x="556895" y="0"/>
                  </a:cubicBezTo>
                  <a:lnTo>
                    <a:pt x="13025628" y="0"/>
                  </a:lnTo>
                  <a:cubicBezTo>
                    <a:pt x="13333222" y="0"/>
                    <a:pt x="13582523" y="249301"/>
                    <a:pt x="13582523" y="556895"/>
                  </a:cubicBezTo>
                  <a:lnTo>
                    <a:pt x="13582523" y="719455"/>
                  </a:lnTo>
                  <a:cubicBezTo>
                    <a:pt x="13582523" y="1027049"/>
                    <a:pt x="13333222" y="1276350"/>
                    <a:pt x="13025628" y="1276350"/>
                  </a:cubicBezTo>
                  <a:lnTo>
                    <a:pt x="556895" y="1276350"/>
                  </a:lnTo>
                  <a:cubicBezTo>
                    <a:pt x="249301" y="1276350"/>
                    <a:pt x="0" y="1027049"/>
                    <a:pt x="0" y="7194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715250" y="5229225"/>
            <a:ext cx="314325" cy="314325"/>
            <a:chOff x="0" y="0"/>
            <a:chExt cx="419100" cy="419100"/>
          </a:xfrm>
        </p:grpSpPr>
        <p:sp>
          <p:nvSpPr>
            <p:cNvPr name="Freeform 38" id="38" descr="Icono Mail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0" y="4953000"/>
            <a:ext cx="9144000" cy="714375"/>
            <a:chOff x="0" y="0"/>
            <a:chExt cx="12192000" cy="952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408" r="0" b="-2154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2192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B132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Dsanchez@gs1ve.org · Acastro@gs1ve.org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22356" y="6050756"/>
            <a:ext cx="10186988" cy="642938"/>
            <a:chOff x="0" y="0"/>
            <a:chExt cx="13582650" cy="85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582650" cy="857250"/>
            </a:xfrm>
            <a:custGeom>
              <a:avLst/>
              <a:gdLst/>
              <a:ahLst/>
              <a:cxnLst/>
              <a:rect r="r" b="b" t="t" l="l"/>
              <a:pathLst>
                <a:path h="857250" w="135826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lnTo>
                    <a:pt x="13154025" y="0"/>
                  </a:lnTo>
                  <a:cubicBezTo>
                    <a:pt x="13390753" y="0"/>
                    <a:pt x="13582650" y="191897"/>
                    <a:pt x="13582650" y="428625"/>
                  </a:cubicBezTo>
                  <a:cubicBezTo>
                    <a:pt x="13582650" y="665353"/>
                    <a:pt x="13390753" y="857250"/>
                    <a:pt x="13154025" y="857250"/>
                  </a:cubicBezTo>
                  <a:lnTo>
                    <a:pt x="428625" y="857250"/>
                  </a:ln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715250" y="6215062"/>
            <a:ext cx="314325" cy="314325"/>
            <a:chOff x="0" y="0"/>
            <a:chExt cx="419100" cy="419100"/>
          </a:xfrm>
        </p:grpSpPr>
        <p:sp>
          <p:nvSpPr>
            <p:cNvPr name="Freeform 45" id="45" descr="Icono Globe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0" y="6057900"/>
            <a:ext cx="9144000" cy="628650"/>
            <a:chOff x="0" y="0"/>
            <a:chExt cx="12192000" cy="838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21920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B1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www.gs1ve.org  ·  Instagram @GS1Venezuela  ·  RIF J-00336360-0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429500" y="7705725"/>
            <a:ext cx="714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02C6C"/>
                </a:solidFill>
                <a:latin typeface="Arial Bold"/>
                <a:ea typeface="Arial Bold"/>
                <a:cs typeface="Arial Bold"/>
                <a:sym typeface="Arial Bold"/>
              </a:rPr>
              <a:t>Datos estándar, </a:t>
            </a:r>
            <a:r>
              <a:rPr lang="en-US" sz="2550" b="true">
                <a:solidFill>
                  <a:srgbClr val="F26334"/>
                </a:solidFill>
                <a:latin typeface="Arial Bold"/>
                <a:ea typeface="Arial Bold"/>
                <a:cs typeface="Arial Bold"/>
                <a:sym typeface="Arial Bold"/>
              </a:rPr>
              <a:t>decisiones seguras.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DAHZaUtQJGU</dc:identifier>
  <dcterms:modified xsi:type="dcterms:W3CDTF">2011-08-01T06:04:30Z</dcterms:modified>
  <cp:revision>1</cp:revision>
  <dc:title>Comite-Salud-GS1 (2).pptx</dc:title>
</cp:coreProperties>
</file>