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Reemplazar los marcadores de foto (cápsula y círculo) por fotos de atención médica.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GS1_OSCURO-image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1_CLAR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GS1 Venezu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7000"/>
            <a:ext cx="9525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8500" y="653415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Comité Salud GS1 · 5 Nov 2026 · www.gs1ve.org</a:t>
            </a:r>
            <a:endParaRPr lang="en-US" sz="900" dirty="0"/>
          </a:p>
        </p:txBody>
      </p:sp>
      <p:pic>
        <p:nvPicPr>
          <p:cNvPr id="4" name="Image 1" descr="Onda deco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0" y="0"/>
            <a:ext cx="1809750" cy="81915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1_OSCUR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GS1 Venezu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7000"/>
            <a:ext cx="9525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8500" y="653415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Comité Salud GS1 · 5 Nov 2026 · www.gs1ve.org</a:t>
            </a:r>
            <a:endParaRPr lang="en-US" sz="900" dirty="0"/>
          </a:p>
        </p:txBody>
      </p:sp>
      <p:pic>
        <p:nvPicPr>
          <p:cNvPr id="4" name="Image 1" descr="Onda deco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0" y="0"/>
            <a:ext cx="1809750" cy="81915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495300"/>
            <a:ext cx="9525000" cy="723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1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das corporativ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Logo GS1 Venezu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500"/>
            <a:ext cx="1600200" cy="800100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33400" y="10287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COMITÉ</a:t>
            </a:r>
            <a:endParaRPr lang="en-US" sz="6900" dirty="0"/>
          </a:p>
        </p:txBody>
      </p:sp>
      <p:sp>
        <p:nvSpPr>
          <p:cNvPr id="5" name="Text 1"/>
          <p:cNvSpPr txBox="1"/>
          <p:nvPr/>
        </p:nvSpPr>
        <p:spPr>
          <a:xfrm>
            <a:off x="533400" y="196215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Salud GS1</a:t>
            </a:r>
            <a:endParaRPr lang="en-US" sz="5800" dirty="0"/>
          </a:p>
        </p:txBody>
      </p:sp>
      <p:sp>
        <p:nvSpPr>
          <p:cNvPr id="6" name="Icono BrainCircuit"/>
          <p:cNvSpPr/>
          <p:nvPr/>
        </p:nvSpPr>
        <p:spPr>
          <a:xfrm>
            <a:off x="533400" y="3028950"/>
            <a:ext cx="342900" cy="3429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7" name="Image 2" descr="Icono BrainCircu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6" y="3111246"/>
            <a:ext cx="178308" cy="1783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90600" y="30099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Rastreo Inteligente: IA Aplicada a la Trazabilidad Médica.</a:t>
            </a:r>
            <a:endParaRPr lang="en-US" sz="1200" dirty="0"/>
          </a:p>
        </p:txBody>
      </p:sp>
      <p:sp>
        <p:nvSpPr>
          <p:cNvPr id="9" name="Icono ShieldPlus"/>
          <p:cNvSpPr/>
          <p:nvPr/>
        </p:nvSpPr>
        <p:spPr>
          <a:xfrm>
            <a:off x="533400" y="3524250"/>
            <a:ext cx="342900" cy="3429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10" name="Image 3" descr="Icono ShieldPl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" y="3606546"/>
            <a:ext cx="178308" cy="1783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90600" y="35052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Seguridad del paciente, eficiencia de la cadena de suministro y trazabilidad de medicamentos.</a:t>
            </a:r>
            <a:endParaRPr lang="en-US" sz="1200" dirty="0"/>
          </a:p>
        </p:txBody>
      </p:sp>
      <p:sp>
        <p:nvSpPr>
          <p:cNvPr id="12" name="Icono Newspaper"/>
          <p:cNvSpPr/>
          <p:nvPr/>
        </p:nvSpPr>
        <p:spPr>
          <a:xfrm>
            <a:off x="533400" y="4019550"/>
            <a:ext cx="342900" cy="3429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13" name="Image 4" descr="Icono Newspap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6" y="4101846"/>
            <a:ext cx="178308" cy="1783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90600" y="40005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GS1 News.</a:t>
            </a:r>
            <a:endParaRPr lang="en-US" sz="1200" dirty="0"/>
          </a:p>
        </p:txBody>
      </p:sp>
      <p:sp>
        <p:nvSpPr>
          <p:cNvPr id="15" name="Icono MessagesSquare"/>
          <p:cNvSpPr/>
          <p:nvPr/>
        </p:nvSpPr>
        <p:spPr>
          <a:xfrm>
            <a:off x="533400" y="4514850"/>
            <a:ext cx="342900" cy="3429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16" name="Image 5" descr="Icono MessagesSqua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696" y="4597146"/>
            <a:ext cx="178308" cy="1783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90600" y="44958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Ronda Abierta.</a:t>
            </a:r>
            <a:endParaRPr lang="en-US" sz="1200" dirty="0"/>
          </a:p>
        </p:txBody>
      </p:sp>
      <p:sp>
        <p:nvSpPr>
          <p:cNvPr id="18" name="Tarjeta"/>
          <p:cNvSpPr/>
          <p:nvPr/>
        </p:nvSpPr>
        <p:spPr>
          <a:xfrm>
            <a:off x="533400" y="5467350"/>
            <a:ext cx="6381750" cy="1066800"/>
          </a:xfrm>
          <a:prstGeom prst="roundRect">
            <a:avLst>
              <a:gd name="adj" fmla="val 25714"/>
            </a:avLst>
          </a:prstGeom>
          <a:solidFill>
            <a:schemeClr val="accent1"/>
          </a:solidFill>
          <a:ln w="9525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9" name="Image 6" descr="Icono CalendarDay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619750"/>
            <a:ext cx="209550" cy="20955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047750" y="560070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Noviembre, 2026</a:t>
            </a:r>
            <a:endParaRPr lang="en-US" sz="1600" dirty="0"/>
          </a:p>
        </p:txBody>
      </p:sp>
      <p:pic>
        <p:nvPicPr>
          <p:cNvPr id="21" name="Image 7" descr="Icono Clo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981700"/>
            <a:ext cx="171450" cy="17145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047750" y="59626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8:30 am – 10:00 am</a:t>
            </a: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3143250" y="5638800"/>
            <a:ext cx="0" cy="72390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24" name="Image 8" descr="Icono MapPi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5657850"/>
            <a:ext cx="209550" cy="20955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3619500" y="5619750"/>
            <a:ext cx="3143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Oficina GS1 Venezuela. </a:t>
            </a:r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Los Ruices, Calle Los Laboratorios, Edf. Quorum, Piso 1, Oficina K (Caracas).</a:t>
            </a:r>
            <a:endParaRPr lang="en-US" sz="1100" dirty="0"/>
          </a:p>
        </p:txBody>
      </p:sp>
      <p:pic>
        <p:nvPicPr>
          <p:cNvPr id="26" name="Image 9" descr="Médico y pacient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360000">
            <a:off x="7953375" y="1428750"/>
            <a:ext cx="2628900" cy="4248150"/>
          </a:xfrm>
          <a:prstGeom prst="rect">
            <a:avLst/>
          </a:prstGeom>
        </p:spPr>
      </p:pic>
      <p:pic>
        <p:nvPicPr>
          <p:cNvPr id="27" name="Image 10" descr="Médico con iconos de salud y protecció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0" y="3028950"/>
            <a:ext cx="2381250" cy="2381250"/>
          </a:xfrm>
          <a:prstGeom prst="rect">
            <a:avLst/>
          </a:prstGeom>
        </p:spPr>
      </p:pic>
      <p:sp>
        <p:nvSpPr>
          <p:cNvPr id="28" name="Círculo"/>
          <p:cNvSpPr/>
          <p:nvPr/>
        </p:nvSpPr>
        <p:spPr>
          <a:xfrm>
            <a:off x="8905875" y="2714625"/>
            <a:ext cx="552450" cy="552450"/>
          </a:xfrm>
          <a:prstGeom prst="ellipse">
            <a:avLst/>
          </a:prstGeom>
          <a:solidFill>
            <a:schemeClr val="bg1"/>
          </a:solidFill>
          <a:ln w="38100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9" name="Text 16"/>
          <p:cNvSpPr txBox="1"/>
          <p:nvPr/>
        </p:nvSpPr>
        <p:spPr>
          <a:xfrm>
            <a:off x="8905875" y="2714625"/>
            <a:ext cx="552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</a:t>
            </a:r>
            <a:endParaRPr lang="en-US" sz="3400" dirty="0"/>
          </a:p>
        </p:txBody>
      </p:sp>
      <p:sp>
        <p:nvSpPr>
          <p:cNvPr id="30" name="Icono ShieldCheck"/>
          <p:cNvSpPr/>
          <p:nvPr/>
        </p:nvSpPr>
        <p:spPr>
          <a:xfrm>
            <a:off x="10382250" y="123825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11" descr="Icono ShieldChec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1978" y="1347978"/>
            <a:ext cx="237744" cy="237744"/>
          </a:xfrm>
          <a:prstGeom prst="rect">
            <a:avLst/>
          </a:prstGeom>
        </p:spPr>
      </p:pic>
      <p:pic>
        <p:nvPicPr>
          <p:cNvPr id="32" name="Image 12" descr="Icono Phon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0250" y="6324600"/>
            <a:ext cx="152400" cy="152400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9829800" y="63055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+58 414 2771877</a:t>
            </a:r>
            <a:endParaRPr lang="en-US" sz="1100" dirty="0"/>
          </a:p>
        </p:txBody>
      </p:sp>
      <p:pic>
        <p:nvPicPr>
          <p:cNvPr id="34" name="Image 13" descr="Icono Glob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0250" y="6553200"/>
            <a:ext cx="152400" cy="1524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9829800" y="65341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www.gs1ve.org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COMITÉ SALUD GS1 · 5 NOVIEMBRE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Agenda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hoy</a:t>
            </a:r>
            <a:endParaRPr lang="en-US" sz="2600" dirty="0"/>
          </a:p>
        </p:txBody>
      </p:sp>
      <p:sp>
        <p:nvSpPr>
          <p:cNvPr id="4" name="Tarjeta"/>
          <p:cNvSpPr/>
          <p:nvPr/>
        </p:nvSpPr>
        <p:spPr>
          <a:xfrm>
            <a:off x="457200" y="1428750"/>
            <a:ext cx="2667000" cy="36195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5" name="Insignia 1"/>
          <p:cNvSpPr/>
          <p:nvPr/>
        </p:nvSpPr>
        <p:spPr>
          <a:xfrm>
            <a:off x="647700" y="1600200"/>
            <a:ext cx="381000" cy="381000"/>
          </a:xfrm>
          <a:prstGeom prst="ellipse">
            <a:avLst/>
          </a:prstGeom>
          <a:solidFill>
            <a:srgbClr val="002C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7700" y="16002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Icono BrainCircuit"/>
          <p:cNvSpPr/>
          <p:nvPr/>
        </p:nvSpPr>
        <p:spPr>
          <a:xfrm>
            <a:off x="2457450" y="1600200"/>
            <a:ext cx="476250" cy="47625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8" name="Image 0" descr="Icono BrainCirc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714500"/>
            <a:ext cx="247650" cy="2476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7700" y="219075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Rastreo Inteligente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7700" y="27051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IA aplicada a la trazabilidad médica</a:t>
            </a:r>
            <a:endParaRPr lang="en-US" sz="1100" dirty="0"/>
          </a:p>
        </p:txBody>
      </p:sp>
      <p:sp>
        <p:nvSpPr>
          <p:cNvPr id="11" name="Viñeta"/>
          <p:cNvSpPr/>
          <p:nvPr/>
        </p:nvSpPr>
        <p:spPr>
          <a:xfrm>
            <a:off x="666750" y="3295650"/>
            <a:ext cx="76200" cy="76200"/>
          </a:xfrm>
          <a:prstGeom prst="ellipse">
            <a:avLst/>
          </a:prstGeom>
          <a:solidFill>
            <a:srgbClr val="002C6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8200" y="32004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Datos estándar + IA</a:t>
            </a:r>
            <a:endParaRPr lang="en-US" sz="1150" dirty="0"/>
          </a:p>
        </p:txBody>
      </p:sp>
      <p:sp>
        <p:nvSpPr>
          <p:cNvPr id="13" name="Viñeta"/>
          <p:cNvSpPr/>
          <p:nvPr/>
        </p:nvSpPr>
        <p:spPr>
          <a:xfrm>
            <a:off x="666750" y="3790950"/>
            <a:ext cx="76200" cy="76200"/>
          </a:xfrm>
          <a:prstGeom prst="ellipse">
            <a:avLst/>
          </a:prstGeom>
          <a:solidFill>
            <a:srgbClr val="002C6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8200" y="36957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Predicción, visión artificial y anomalías</a:t>
            </a:r>
            <a:endParaRPr lang="en-US" sz="1150" dirty="0"/>
          </a:p>
        </p:txBody>
      </p:sp>
      <p:sp>
        <p:nvSpPr>
          <p:cNvPr id="15" name="Tarjeta"/>
          <p:cNvSpPr/>
          <p:nvPr/>
        </p:nvSpPr>
        <p:spPr>
          <a:xfrm>
            <a:off x="3327368" y="1428750"/>
            <a:ext cx="2667000" cy="36195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6" name="Insignia 2"/>
          <p:cNvSpPr/>
          <p:nvPr/>
        </p:nvSpPr>
        <p:spPr>
          <a:xfrm>
            <a:off x="3517868" y="1600200"/>
            <a:ext cx="381000" cy="38100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517868" y="16002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Icono ShieldPlus"/>
          <p:cNvSpPr/>
          <p:nvPr/>
        </p:nvSpPr>
        <p:spPr>
          <a:xfrm>
            <a:off x="5327618" y="1600200"/>
            <a:ext cx="476250" cy="47625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19" name="Image 1" descr="Icono Shield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18" y="1714500"/>
            <a:ext cx="247650" cy="24765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517868" y="219075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Seguridad, cadena y trazabilidad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3517868" y="27051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Pacientes, suministro y medicamentos</a:t>
            </a:r>
            <a:endParaRPr lang="en-US" sz="1100" dirty="0"/>
          </a:p>
        </p:txBody>
      </p:sp>
      <p:sp>
        <p:nvSpPr>
          <p:cNvPr id="22" name="Viñeta"/>
          <p:cNvSpPr/>
          <p:nvPr/>
        </p:nvSpPr>
        <p:spPr>
          <a:xfrm>
            <a:off x="3536918" y="3295650"/>
            <a:ext cx="76200" cy="7620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708368" y="32004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Los 5 Correctos (BCMA)</a:t>
            </a:r>
            <a:endParaRPr lang="en-US" sz="1150" dirty="0"/>
          </a:p>
        </p:txBody>
      </p:sp>
      <p:sp>
        <p:nvSpPr>
          <p:cNvPr id="24" name="Viñeta"/>
          <p:cNvSpPr/>
          <p:nvPr/>
        </p:nvSpPr>
        <p:spPr>
          <a:xfrm>
            <a:off x="3536918" y="3790950"/>
            <a:ext cx="76200" cy="7620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708368" y="36957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Eficiencia de la cadena</a:t>
            </a:r>
            <a:endParaRPr lang="en-US" sz="1150" dirty="0"/>
          </a:p>
        </p:txBody>
      </p:sp>
      <p:sp>
        <p:nvSpPr>
          <p:cNvPr id="26" name="Viñeta"/>
          <p:cNvSpPr/>
          <p:nvPr/>
        </p:nvSpPr>
        <p:spPr>
          <a:xfrm>
            <a:off x="3536918" y="4286250"/>
            <a:ext cx="76200" cy="7620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708368" y="41910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 EAN-13 a 2D: DataMatrix y QR GS1</a:t>
            </a:r>
            <a:endParaRPr lang="en-US" sz="1150" dirty="0"/>
          </a:p>
        </p:txBody>
      </p:sp>
      <p:sp>
        <p:nvSpPr>
          <p:cNvPr id="28" name="Tarjeta"/>
          <p:cNvSpPr/>
          <p:nvPr/>
        </p:nvSpPr>
        <p:spPr>
          <a:xfrm>
            <a:off x="6197537" y="1428750"/>
            <a:ext cx="2667000" cy="36195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9" name="Insignia 3"/>
          <p:cNvSpPr/>
          <p:nvPr/>
        </p:nvSpPr>
        <p:spPr>
          <a:xfrm>
            <a:off x="6388036" y="1600200"/>
            <a:ext cx="381000" cy="381000"/>
          </a:xfrm>
          <a:prstGeom prst="ellipse">
            <a:avLst/>
          </a:prstGeom>
          <a:solidFill>
            <a:srgbClr val="F26334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388036" y="16002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Icono Newspaper"/>
          <p:cNvSpPr/>
          <p:nvPr/>
        </p:nvSpPr>
        <p:spPr>
          <a:xfrm>
            <a:off x="8197787" y="1600200"/>
            <a:ext cx="476250" cy="47625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32" name="Image 2" descr="Icono Newspa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87" y="1714500"/>
            <a:ext cx="247650" cy="24765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388036" y="219075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GS1 News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6388036" y="27051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Novedades y hoja de ruta</a:t>
            </a:r>
            <a:endParaRPr lang="en-US" sz="1100" dirty="0"/>
          </a:p>
        </p:txBody>
      </p:sp>
      <p:sp>
        <p:nvSpPr>
          <p:cNvPr id="35" name="Viñeta"/>
          <p:cNvSpPr/>
          <p:nvPr/>
        </p:nvSpPr>
        <p:spPr>
          <a:xfrm>
            <a:off x="6407087" y="3295650"/>
            <a:ext cx="76200" cy="76200"/>
          </a:xfrm>
          <a:prstGeom prst="ellipse">
            <a:avLst/>
          </a:prstGeom>
          <a:solidFill>
            <a:srgbClr val="F26334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578537" y="32004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Sunrise 2027</a:t>
            </a:r>
            <a:endParaRPr lang="en-US" sz="1150" dirty="0"/>
          </a:p>
        </p:txBody>
      </p:sp>
      <p:sp>
        <p:nvSpPr>
          <p:cNvPr id="37" name="Viñeta"/>
          <p:cNvSpPr/>
          <p:nvPr/>
        </p:nvSpPr>
        <p:spPr>
          <a:xfrm>
            <a:off x="6407087" y="3790950"/>
            <a:ext cx="76200" cy="76200"/>
          </a:xfrm>
          <a:prstGeom prst="ellipse">
            <a:avLst/>
          </a:prstGeom>
          <a:solidFill>
            <a:srgbClr val="F26334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578537" y="36957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GS1 Digital Link Latam</a:t>
            </a:r>
            <a:endParaRPr lang="en-US" sz="1150" dirty="0"/>
          </a:p>
        </p:txBody>
      </p:sp>
      <p:sp>
        <p:nvSpPr>
          <p:cNvPr id="39" name="Viñeta"/>
          <p:cNvSpPr/>
          <p:nvPr/>
        </p:nvSpPr>
        <p:spPr>
          <a:xfrm>
            <a:off x="6407087" y="4286250"/>
            <a:ext cx="76200" cy="76200"/>
          </a:xfrm>
          <a:prstGeom prst="ellipse">
            <a:avLst/>
          </a:prstGeom>
          <a:solidFill>
            <a:srgbClr val="F26334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6578537" y="41910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EPCIS 2.0</a:t>
            </a:r>
            <a:endParaRPr lang="en-US" sz="1150" dirty="0"/>
          </a:p>
        </p:txBody>
      </p:sp>
      <p:sp>
        <p:nvSpPr>
          <p:cNvPr id="41" name="Tarjeta"/>
          <p:cNvSpPr/>
          <p:nvPr/>
        </p:nvSpPr>
        <p:spPr>
          <a:xfrm>
            <a:off x="9067705" y="1428750"/>
            <a:ext cx="2667000" cy="36195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2" name="Insignia 4"/>
          <p:cNvSpPr/>
          <p:nvPr/>
        </p:nvSpPr>
        <p:spPr>
          <a:xfrm>
            <a:off x="9258205" y="1600200"/>
            <a:ext cx="381000" cy="38100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9258205" y="16002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Icono MessagesSquare"/>
          <p:cNvSpPr/>
          <p:nvPr/>
        </p:nvSpPr>
        <p:spPr>
          <a:xfrm>
            <a:off x="11067955" y="1600200"/>
            <a:ext cx="476250" cy="476250"/>
          </a:xfrm>
          <a:prstGeom prst="ellipse">
            <a:avLst/>
          </a:prstGeom>
          <a:solidFill>
            <a:srgbClr val="00A79D"/>
          </a:solidFill>
          <a:ln/>
        </p:spPr>
      </p:sp>
      <p:pic>
        <p:nvPicPr>
          <p:cNvPr id="45" name="Image 3" descr="Icono Messages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2255" y="1714500"/>
            <a:ext cx="247650" cy="247650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9258205" y="219075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Ronda Abierta</a:t>
            </a:r>
            <a:endParaRPr lang="en-US" sz="1500" dirty="0"/>
          </a:p>
        </p:txBody>
      </p:sp>
      <p:sp>
        <p:nvSpPr>
          <p:cNvPr id="47" name="Text 41"/>
          <p:cNvSpPr txBox="1"/>
          <p:nvPr/>
        </p:nvSpPr>
        <p:spPr>
          <a:xfrm>
            <a:off x="9258205" y="27051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Mesa de trabajo del Comité</a:t>
            </a:r>
            <a:endParaRPr lang="en-US" sz="1100" dirty="0"/>
          </a:p>
        </p:txBody>
      </p:sp>
      <p:sp>
        <p:nvSpPr>
          <p:cNvPr id="48" name="Viñeta"/>
          <p:cNvSpPr/>
          <p:nvPr/>
        </p:nvSpPr>
        <p:spPr>
          <a:xfrm>
            <a:off x="9277255" y="3295650"/>
            <a:ext cx="76200" cy="7620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9448705" y="32004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Retos de implementación</a:t>
            </a:r>
            <a:endParaRPr lang="en-US" sz="1150" dirty="0"/>
          </a:p>
        </p:txBody>
      </p:sp>
      <p:sp>
        <p:nvSpPr>
          <p:cNvPr id="50" name="Viñeta"/>
          <p:cNvSpPr/>
          <p:nvPr/>
        </p:nvSpPr>
        <p:spPr>
          <a:xfrm>
            <a:off x="9277255" y="3790950"/>
            <a:ext cx="76200" cy="7620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9448705" y="36957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Integración y educación</a:t>
            </a:r>
            <a:endParaRPr lang="en-US" sz="1150" dirty="0"/>
          </a:p>
        </p:txBody>
      </p:sp>
      <p:sp>
        <p:nvSpPr>
          <p:cNvPr id="52" name="Viñeta"/>
          <p:cNvSpPr/>
          <p:nvPr/>
        </p:nvSpPr>
        <p:spPr>
          <a:xfrm>
            <a:off x="9277255" y="4286250"/>
            <a:ext cx="76200" cy="7620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9448705" y="41910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Próximos pilotos</a:t>
            </a:r>
            <a:endParaRPr lang="en-US" sz="1150" dirty="0"/>
          </a:p>
        </p:txBody>
      </p:sp>
      <p:sp>
        <p:nvSpPr>
          <p:cNvPr id="54" name="Tarjeta"/>
          <p:cNvSpPr/>
          <p:nvPr/>
        </p:nvSpPr>
        <p:spPr>
          <a:xfrm>
            <a:off x="457200" y="5257800"/>
            <a:ext cx="11277600" cy="666750"/>
          </a:xfrm>
          <a:prstGeom prst="roundRect">
            <a:avLst>
              <a:gd name="adj" fmla="val 41143"/>
            </a:avLst>
          </a:prstGeom>
          <a:solidFill>
            <a:schemeClr val="accent1"/>
          </a:solidFill>
          <a:ln w="9525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55" name="Image 4" descr="Icono CalendarDay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86400"/>
            <a:ext cx="209550" cy="209550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971550" y="5457825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Noviembre, 2026 · 8:30 am – 10:00 am</a:t>
            </a:r>
            <a:endParaRPr lang="en-US" sz="1300" dirty="0"/>
          </a:p>
        </p:txBody>
      </p:sp>
      <p:pic>
        <p:nvPicPr>
          <p:cNvPr id="57" name="Image 5" descr="Icono MapP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5486400"/>
            <a:ext cx="209550" cy="209550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5048250" y="53911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Oficina GS1 Venezuela · Los Ruices, Calle Los Laboratorios, Edf. Quorum, Piso 1, Oficina K (Caracas)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1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52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Rastreo Inteligente: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 IA parte del dato estándar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1920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Los algoritmos de IA son tan buenos como la calidad de los datos estándar que los alimentan.</a:t>
            </a:r>
            <a:endParaRPr lang="en-US" sz="1300" dirty="0"/>
          </a:p>
        </p:txBody>
      </p:sp>
      <p:sp>
        <p:nvSpPr>
          <p:cNvPr id="5" name="Tarjeta oscura"/>
          <p:cNvSpPr/>
          <p:nvPr/>
        </p:nvSpPr>
        <p:spPr>
          <a:xfrm>
            <a:off x="457200" y="1714500"/>
            <a:ext cx="3467100" cy="3429000"/>
          </a:xfrm>
          <a:prstGeom prst="roundRect">
            <a:avLst>
              <a:gd name="adj" fmla="val 48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Icono Database"/>
          <p:cNvSpPr/>
          <p:nvPr/>
        </p:nvSpPr>
        <p:spPr>
          <a:xfrm>
            <a:off x="647700" y="1885950"/>
            <a:ext cx="495300" cy="4953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7" name="Image 0" descr="Icono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572" y="2004822"/>
            <a:ext cx="257556" cy="2575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76350" y="19050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· Datos estándar GS1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76350" y="215265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Identificadores únicos y universales</a:t>
            </a:r>
            <a:endParaRPr lang="en-US" sz="1050" dirty="0"/>
          </a:p>
        </p:txBody>
      </p:sp>
      <p:sp>
        <p:nvSpPr>
          <p:cNvPr id="10" name="Dato GTIN"/>
          <p:cNvSpPr/>
          <p:nvPr/>
        </p:nvSpPr>
        <p:spPr>
          <a:xfrm>
            <a:off x="647700" y="268605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2000" y="268605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68605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qué producto</a:t>
            </a:r>
            <a:endParaRPr lang="en-US" sz="1100" dirty="0"/>
          </a:p>
        </p:txBody>
      </p:sp>
      <p:sp>
        <p:nvSpPr>
          <p:cNvPr id="13" name="Dato GLN"/>
          <p:cNvSpPr/>
          <p:nvPr/>
        </p:nvSpPr>
        <p:spPr>
          <a:xfrm>
            <a:off x="647700" y="323850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2000" y="32385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323850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dónde (ubicación)</a:t>
            </a:r>
            <a:endParaRPr lang="en-US" sz="1100" dirty="0"/>
          </a:p>
        </p:txBody>
      </p:sp>
      <p:sp>
        <p:nvSpPr>
          <p:cNvPr id="16" name="Dato Lote / Serie"/>
          <p:cNvSpPr/>
          <p:nvPr/>
        </p:nvSpPr>
        <p:spPr>
          <a:xfrm>
            <a:off x="647700" y="379095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2000" y="379095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 / Serie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379095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qué unidad</a:t>
            </a:r>
            <a:endParaRPr lang="en-US" sz="1100" dirty="0"/>
          </a:p>
        </p:txBody>
      </p:sp>
      <p:sp>
        <p:nvSpPr>
          <p:cNvPr id="19" name="Dato SSCC"/>
          <p:cNvSpPr/>
          <p:nvPr/>
        </p:nvSpPr>
        <p:spPr>
          <a:xfrm>
            <a:off x="647700" y="434340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62000" y="43434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SSCC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434340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qué envío</a:t>
            </a:r>
            <a:endParaRPr lang="en-US" sz="1100" dirty="0"/>
          </a:p>
        </p:txBody>
      </p:sp>
      <p:sp>
        <p:nvSpPr>
          <p:cNvPr id="22" name="Flecha"/>
          <p:cNvSpPr/>
          <p:nvPr/>
        </p:nvSpPr>
        <p:spPr>
          <a:xfrm>
            <a:off x="4000500" y="3276600"/>
            <a:ext cx="285750" cy="28575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3" name="Tarjeta oscura"/>
          <p:cNvSpPr/>
          <p:nvPr/>
        </p:nvSpPr>
        <p:spPr>
          <a:xfrm>
            <a:off x="4362450" y="1714500"/>
            <a:ext cx="3467100" cy="3429000"/>
          </a:xfrm>
          <a:prstGeom prst="roundRect">
            <a:avLst>
              <a:gd name="adj" fmla="val 48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Icono Radar"/>
          <p:cNvSpPr/>
          <p:nvPr/>
        </p:nvSpPr>
        <p:spPr>
          <a:xfrm>
            <a:off x="4552950" y="1885950"/>
            <a:ext cx="495300" cy="49530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25" name="Image 1" descr="Icono Ra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822" y="2004822"/>
            <a:ext cx="257556" cy="2575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181600" y="19050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· Eventos EPCIS 2.0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181600" y="215265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Cada movimiento queda registrado</a:t>
            </a:r>
            <a:endParaRPr lang="en-US" sz="1050" dirty="0"/>
          </a:p>
        </p:txBody>
      </p:sp>
      <p:sp>
        <p:nvSpPr>
          <p:cNvPr id="28" name="Dato QUÉ"/>
          <p:cNvSpPr/>
          <p:nvPr/>
        </p:nvSpPr>
        <p:spPr>
          <a:xfrm>
            <a:off x="4552950" y="268605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667250" y="268605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734050" y="268605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producto y cantidad</a:t>
            </a:r>
            <a:endParaRPr lang="en-US" sz="1100" dirty="0"/>
          </a:p>
        </p:txBody>
      </p:sp>
      <p:sp>
        <p:nvSpPr>
          <p:cNvPr id="31" name="Dato DÓNDE"/>
          <p:cNvSpPr/>
          <p:nvPr/>
        </p:nvSpPr>
        <p:spPr>
          <a:xfrm>
            <a:off x="4552950" y="323850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667250" y="32385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DÓNDE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734050" y="323850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ubicación GLN</a:t>
            </a:r>
            <a:endParaRPr lang="en-US" sz="1100" dirty="0"/>
          </a:p>
        </p:txBody>
      </p:sp>
      <p:sp>
        <p:nvSpPr>
          <p:cNvPr id="34" name="Dato CUÁNDO"/>
          <p:cNvSpPr/>
          <p:nvPr/>
        </p:nvSpPr>
        <p:spPr>
          <a:xfrm>
            <a:off x="4552950" y="379095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667250" y="379095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734050" y="379095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fecha y hora</a:t>
            </a:r>
            <a:endParaRPr lang="en-US" sz="1100" dirty="0"/>
          </a:p>
        </p:txBody>
      </p:sp>
      <p:sp>
        <p:nvSpPr>
          <p:cNvPr id="37" name="Dato POR QUÉ"/>
          <p:cNvSpPr/>
          <p:nvPr/>
        </p:nvSpPr>
        <p:spPr>
          <a:xfrm>
            <a:off x="4552950" y="434340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667250" y="43434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5734050" y="434340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recepción, despacho, dispensación</a:t>
            </a:r>
            <a:endParaRPr lang="en-US" sz="1100" dirty="0"/>
          </a:p>
        </p:txBody>
      </p:sp>
      <p:sp>
        <p:nvSpPr>
          <p:cNvPr id="40" name="Flecha"/>
          <p:cNvSpPr/>
          <p:nvPr/>
        </p:nvSpPr>
        <p:spPr>
          <a:xfrm>
            <a:off x="7905750" y="3276600"/>
            <a:ext cx="285750" cy="28575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1" name="Tarjeta oscura"/>
          <p:cNvSpPr/>
          <p:nvPr/>
        </p:nvSpPr>
        <p:spPr>
          <a:xfrm>
            <a:off x="8267700" y="1714500"/>
            <a:ext cx="3467100" cy="3429000"/>
          </a:xfrm>
          <a:prstGeom prst="roundRect">
            <a:avLst>
              <a:gd name="adj" fmla="val 48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Icono Cpu"/>
          <p:cNvSpPr/>
          <p:nvPr/>
        </p:nvSpPr>
        <p:spPr>
          <a:xfrm>
            <a:off x="8458200" y="1885950"/>
            <a:ext cx="495300" cy="495300"/>
          </a:xfrm>
          <a:prstGeom prst="ellipse">
            <a:avLst/>
          </a:prstGeom>
          <a:solidFill>
            <a:srgbClr val="00A79D"/>
          </a:solidFill>
          <a:ln/>
        </p:spPr>
      </p:sp>
      <p:pic>
        <p:nvPicPr>
          <p:cNvPr id="43" name="Image 2" descr="Icono C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004822"/>
            <a:ext cx="257556" cy="257556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9086850" y="19050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· Inteligencia artificial</a:t>
            </a:r>
            <a:endParaRPr lang="en-US" sz="1400" dirty="0"/>
          </a:p>
        </p:txBody>
      </p:sp>
      <p:sp>
        <p:nvSpPr>
          <p:cNvPr id="45" name="Text 40"/>
          <p:cNvSpPr txBox="1"/>
          <p:nvPr/>
        </p:nvSpPr>
        <p:spPr>
          <a:xfrm>
            <a:off x="9086850" y="215265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Modelos sobre datos confiables</a:t>
            </a:r>
            <a:endParaRPr lang="en-US" sz="1050" dirty="0"/>
          </a:p>
        </p:txBody>
      </p:sp>
      <p:sp>
        <p:nvSpPr>
          <p:cNvPr id="46" name="Dato Predicción"/>
          <p:cNvSpPr/>
          <p:nvPr/>
        </p:nvSpPr>
        <p:spPr>
          <a:xfrm>
            <a:off x="8458200" y="268605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8572500" y="268605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Predicción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9639300" y="268605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demanda y escasez</a:t>
            </a:r>
            <a:endParaRPr lang="en-US" sz="1100" dirty="0"/>
          </a:p>
        </p:txBody>
      </p:sp>
      <p:sp>
        <p:nvSpPr>
          <p:cNvPr id="49" name="Dato Visión"/>
          <p:cNvSpPr/>
          <p:nvPr/>
        </p:nvSpPr>
        <p:spPr>
          <a:xfrm>
            <a:off x="8458200" y="323850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572500" y="32385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Visión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9639300" y="323850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verificación de códigos 2D</a:t>
            </a:r>
            <a:endParaRPr lang="en-US" sz="1100" dirty="0"/>
          </a:p>
        </p:txBody>
      </p:sp>
      <p:sp>
        <p:nvSpPr>
          <p:cNvPr id="52" name="Dato Anomalías"/>
          <p:cNvSpPr/>
          <p:nvPr/>
        </p:nvSpPr>
        <p:spPr>
          <a:xfrm>
            <a:off x="8458200" y="3790950"/>
            <a:ext cx="30861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8572500" y="379095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Anomalías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9639300" y="3790950"/>
            <a:ext cx="186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desvíos y cadena de frío</a:t>
            </a:r>
            <a:endParaRPr lang="en-US" sz="1100" dirty="0"/>
          </a:p>
        </p:txBody>
      </p:sp>
      <p:sp>
        <p:nvSpPr>
          <p:cNvPr id="55" name="Tarjeta oscura"/>
          <p:cNvSpPr/>
          <p:nvPr/>
        </p:nvSpPr>
        <p:spPr>
          <a:xfrm>
            <a:off x="457200" y="5353050"/>
            <a:ext cx="11277600" cy="800100"/>
          </a:xfrm>
          <a:prstGeom prst="roundRect">
            <a:avLst>
              <a:gd name="adj" fmla="val 20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56" name="Image 3" descr="Icono Triangle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81650"/>
            <a:ext cx="285750" cy="285750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104900" y="5391150"/>
            <a:ext cx="10382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Sin estándar, no hay IA confiable: </a:t>
            </a:r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códigos genéricos, datos incompletos o duplicados producen predicciones y alertas poco fiables.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1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52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Tres usos de la IA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 GS1 en salud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1920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Los algoritmos de IA son tan buenos como la calidad de los datos estándar que los alimentan.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7640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IA + GS1 · GTIN + GLN + EPCIS 2.0</a:t>
            </a:r>
            <a:endParaRPr lang="en-US" sz="900" dirty="0"/>
          </a:p>
        </p:txBody>
      </p:sp>
      <p:sp>
        <p:nvSpPr>
          <p:cNvPr id="6" name="Tarjeta oscura"/>
          <p:cNvSpPr/>
          <p:nvPr/>
        </p:nvSpPr>
        <p:spPr>
          <a:xfrm>
            <a:off x="457200" y="1924050"/>
            <a:ext cx="5715000" cy="1085850"/>
          </a:xfrm>
          <a:prstGeom prst="roundRect">
            <a:avLst>
              <a:gd name="adj" fmla="val 1515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Icono ChartLine"/>
          <p:cNvSpPr/>
          <p:nvPr/>
        </p:nvSpPr>
        <p:spPr>
          <a:xfrm>
            <a:off x="628650" y="2114550"/>
            <a:ext cx="457200" cy="4572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8" name="Image 0" descr="Icono 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78" y="222427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8250" y="20764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Modelos predictivos de demanda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8250" y="234315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Anticipan la escasez de insumos críticos y reactivos en clínicas y hospitales venezolanos.</a:t>
            </a:r>
            <a:endParaRPr lang="en-US" sz="1100" dirty="0"/>
          </a:p>
        </p:txBody>
      </p:sp>
      <p:sp>
        <p:nvSpPr>
          <p:cNvPr id="11" name="Tarjeta oscura"/>
          <p:cNvSpPr/>
          <p:nvPr/>
        </p:nvSpPr>
        <p:spPr>
          <a:xfrm>
            <a:off x="457200" y="3162300"/>
            <a:ext cx="5715000" cy="1085850"/>
          </a:xfrm>
          <a:prstGeom prst="roundRect">
            <a:avLst>
              <a:gd name="adj" fmla="val 1515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Icono ScanEye"/>
          <p:cNvSpPr/>
          <p:nvPr/>
        </p:nvSpPr>
        <p:spPr>
          <a:xfrm>
            <a:off x="628650" y="3352800"/>
            <a:ext cx="457200" cy="45720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13" name="Image 1" descr="Icono Scan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" y="34625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8250" y="33147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Visión artificial en líneas de empaque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38250" y="35814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Verificación a alta velocidad de GS1 DataMatrix y QR GS1 Digital Link.</a:t>
            </a:r>
            <a:endParaRPr lang="en-US" sz="1100" dirty="0"/>
          </a:p>
        </p:txBody>
      </p:sp>
      <p:sp>
        <p:nvSpPr>
          <p:cNvPr id="16" name="Tarjeta oscura"/>
          <p:cNvSpPr/>
          <p:nvPr/>
        </p:nvSpPr>
        <p:spPr>
          <a:xfrm>
            <a:off x="457200" y="4400550"/>
            <a:ext cx="5715000" cy="1085850"/>
          </a:xfrm>
          <a:prstGeom prst="roundRect">
            <a:avLst>
              <a:gd name="adj" fmla="val 1515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Icono Snowflake"/>
          <p:cNvSpPr/>
          <p:nvPr/>
        </p:nvSpPr>
        <p:spPr>
          <a:xfrm>
            <a:off x="628650" y="4591050"/>
            <a:ext cx="457200" cy="457200"/>
          </a:xfrm>
          <a:prstGeom prst="ellipse">
            <a:avLst/>
          </a:prstGeom>
          <a:solidFill>
            <a:srgbClr val="00A79D"/>
          </a:solidFill>
          <a:ln/>
        </p:spPr>
      </p:sp>
      <p:pic>
        <p:nvPicPr>
          <p:cNvPr id="18" name="Image 2" descr="Icono Snowfl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" y="470077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8250" y="45529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Detección de anomalías con Machine Learning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238250" y="481965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Alerta temprana de desvíos a canales irregulares y rupturas de cadena de frío (insulinas, vacunas, biológicos).</a:t>
            </a:r>
            <a:endParaRPr lang="en-US" sz="1100" dirty="0"/>
          </a:p>
        </p:txBody>
      </p:sp>
      <p:sp>
        <p:nvSpPr>
          <p:cNvPr id="21" name="FOTO (reemplazar): cadena de suministro"/>
          <p:cNvSpPr/>
          <p:nvPr/>
        </p:nvSpPr>
        <p:spPr>
          <a:xfrm>
            <a:off x="6667500" y="1857375"/>
            <a:ext cx="2047875" cy="2047875"/>
          </a:xfrm>
          <a:prstGeom prst="roundRect">
            <a:avLst>
              <a:gd name="adj" fmla="val 15628"/>
            </a:avLst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2" name="Image 3" descr="Icono Wareho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341" y="2492216"/>
            <a:ext cx="778193" cy="778193"/>
          </a:xfrm>
          <a:prstGeom prst="rect">
            <a:avLst/>
          </a:prstGeom>
        </p:spPr>
      </p:pic>
      <p:sp>
        <p:nvSpPr>
          <p:cNvPr id="23" name="Etiqueta foto"/>
          <p:cNvSpPr txBox="1"/>
          <p:nvPr/>
        </p:nvSpPr>
        <p:spPr>
          <a:xfrm>
            <a:off x="6743700" y="3657600"/>
            <a:ext cx="1895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foto: cadena de suministro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 flipV="1">
            <a:off x="9191625" y="2047875"/>
            <a:ext cx="762000" cy="19050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91625" y="2238375"/>
            <a:ext cx="762000" cy="38100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flipV="1">
            <a:off x="9191625" y="2047875"/>
            <a:ext cx="762000" cy="85725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flipV="1">
            <a:off x="9191625" y="2619375"/>
            <a:ext cx="762000" cy="28575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191625" y="2905125"/>
            <a:ext cx="762000" cy="28575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 flipV="1">
            <a:off x="9191625" y="2619375"/>
            <a:ext cx="762000" cy="95250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 flipV="1">
            <a:off x="9191625" y="3190875"/>
            <a:ext cx="762000" cy="38100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953625" y="2047875"/>
            <a:ext cx="857250" cy="28575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 flipV="1">
            <a:off x="9953625" y="2333625"/>
            <a:ext cx="857250" cy="28575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953625" y="2619375"/>
            <a:ext cx="857250" cy="28575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 flipV="1">
            <a:off x="9953625" y="2905125"/>
            <a:ext cx="857250" cy="28575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953625" y="3190875"/>
            <a:ext cx="857250" cy="333375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810875" y="2333625"/>
            <a:ext cx="714375" cy="333375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 flipV="1">
            <a:off x="10810875" y="2667000"/>
            <a:ext cx="714375" cy="238125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810875" y="2905125"/>
            <a:ext cx="714375" cy="381000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 flipV="1">
            <a:off x="10810875" y="3286125"/>
            <a:ext cx="714375" cy="238125"/>
          </a:xfrm>
          <a:prstGeom prst="line">
            <a:avLst/>
          </a:prstGeom>
          <a:noFill/>
          <a:ln w="12700">
            <a:solidFill>
              <a:srgbClr val="1CA9C9">
                <a:alpha val="60000"/>
              </a:srgbClr>
            </a:solidFill>
            <a:prstDash val="solid"/>
          </a:ln>
        </p:spPr>
      </p:sp>
      <p:sp>
        <p:nvSpPr>
          <p:cNvPr id="40" name="Nodo"/>
          <p:cNvSpPr/>
          <p:nvPr/>
        </p:nvSpPr>
        <p:spPr>
          <a:xfrm>
            <a:off x="9105900" y="215265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1" name="Nodo"/>
          <p:cNvSpPr/>
          <p:nvPr/>
        </p:nvSpPr>
        <p:spPr>
          <a:xfrm>
            <a:off x="9105900" y="281940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2" name="Nodo"/>
          <p:cNvSpPr/>
          <p:nvPr/>
        </p:nvSpPr>
        <p:spPr>
          <a:xfrm>
            <a:off x="9105900" y="348615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3" name="Nodo"/>
          <p:cNvSpPr/>
          <p:nvPr/>
        </p:nvSpPr>
        <p:spPr>
          <a:xfrm>
            <a:off x="9867900" y="196215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4" name="Nodo"/>
          <p:cNvSpPr/>
          <p:nvPr/>
        </p:nvSpPr>
        <p:spPr>
          <a:xfrm>
            <a:off x="9867900" y="253365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5" name="Nodo"/>
          <p:cNvSpPr/>
          <p:nvPr/>
        </p:nvSpPr>
        <p:spPr>
          <a:xfrm>
            <a:off x="9867900" y="310515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6" name="Nodo"/>
          <p:cNvSpPr/>
          <p:nvPr/>
        </p:nvSpPr>
        <p:spPr>
          <a:xfrm>
            <a:off x="10725150" y="224790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7" name="Nodo"/>
          <p:cNvSpPr/>
          <p:nvPr/>
        </p:nvSpPr>
        <p:spPr>
          <a:xfrm>
            <a:off x="10725150" y="2819400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8" name="Nodo"/>
          <p:cNvSpPr/>
          <p:nvPr/>
        </p:nvSpPr>
        <p:spPr>
          <a:xfrm>
            <a:off x="10725150" y="3438525"/>
            <a:ext cx="171450" cy="171450"/>
          </a:xfrm>
          <a:prstGeom prst="ellipse">
            <a:avLst/>
          </a:prstGeom>
          <a:solidFill>
            <a:srgbClr val="0B132B"/>
          </a:solidFill>
          <a:ln w="19050">
            <a:solidFill>
              <a:srgbClr val="1CA9C9"/>
            </a:solidFill>
            <a:prstDash val="solid"/>
          </a:ln>
        </p:spPr>
      </p:sp>
      <p:sp>
        <p:nvSpPr>
          <p:cNvPr id="49" name="Nodo salida"/>
          <p:cNvSpPr/>
          <p:nvPr/>
        </p:nvSpPr>
        <p:spPr>
          <a:xfrm>
            <a:off x="11401425" y="2543175"/>
            <a:ext cx="247650" cy="2476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0" name="Nodo salida"/>
          <p:cNvSpPr/>
          <p:nvPr/>
        </p:nvSpPr>
        <p:spPr>
          <a:xfrm>
            <a:off x="11401425" y="3162300"/>
            <a:ext cx="247650" cy="2476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8905875" y="181927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</a:t>
            </a:r>
            <a:endParaRPr lang="en-US" sz="800" dirty="0"/>
          </a:p>
        </p:txBody>
      </p:sp>
      <p:sp>
        <p:nvSpPr>
          <p:cNvPr id="52" name="Text 46"/>
          <p:cNvSpPr txBox="1"/>
          <p:nvPr/>
        </p:nvSpPr>
        <p:spPr>
          <a:xfrm>
            <a:off x="8905875" y="372427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GLN</a:t>
            </a:r>
            <a:endParaRPr lang="en-US" sz="800" dirty="0"/>
          </a:p>
        </p:txBody>
      </p:sp>
      <p:sp>
        <p:nvSpPr>
          <p:cNvPr id="53" name="Text 47"/>
          <p:cNvSpPr txBox="1"/>
          <p:nvPr/>
        </p:nvSpPr>
        <p:spPr>
          <a:xfrm>
            <a:off x="10029825" y="372427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EPCIS</a:t>
            </a:r>
            <a:endParaRPr lang="en-US" sz="800" dirty="0"/>
          </a:p>
        </p:txBody>
      </p:sp>
      <p:sp>
        <p:nvSpPr>
          <p:cNvPr id="54" name="Tarjeta oscura"/>
          <p:cNvSpPr/>
          <p:nvPr/>
        </p:nvSpPr>
        <p:spPr>
          <a:xfrm>
            <a:off x="6667500" y="4143375"/>
            <a:ext cx="5067300" cy="1809750"/>
          </a:xfrm>
          <a:prstGeom prst="roundRect">
            <a:avLst>
              <a:gd name="adj" fmla="val 909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6877050" y="43053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IMPACTO DIRECTO EN VENEZUELA</a:t>
            </a:r>
            <a:endParaRPr lang="en-US" sz="900" dirty="0"/>
          </a:p>
        </p:txBody>
      </p:sp>
      <p:pic>
        <p:nvPicPr>
          <p:cNvPr id="56" name="Image 4" descr="Icono 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050" y="4629150"/>
            <a:ext cx="209550" cy="209550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7200900" y="4610100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Optimización de rutas logísticas entre laboratorios nacionales, droguerías y farmacias en todo el país.</a:t>
            </a:r>
            <a:endParaRPr lang="en-US" sz="1150" dirty="0"/>
          </a:p>
        </p:txBody>
      </p:sp>
      <p:pic>
        <p:nvPicPr>
          <p:cNvPr id="58" name="Image 5" descr="Icono Hourgla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7050" y="5219700"/>
            <a:ext cx="209550" cy="209550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7200900" y="5200650"/>
            <a:ext cx="4286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Gestión de vencimientos </a:t>
            </a:r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FEFO</a:t>
            </a:r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 (First Expired, First Out): menos mermas financieras por caducidad.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2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Seguridad del paciente: los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Correctos</a:t>
            </a:r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(BCMA)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68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Escaneo a pie de cama — Bedside Barcode Medication Administration</a:t>
            </a:r>
            <a:endParaRPr lang="en-US" sz="1100" dirty="0"/>
          </a:p>
        </p:txBody>
      </p:sp>
      <p:pic>
        <p:nvPicPr>
          <p:cNvPr id="5" name="Image 0" descr="Médico sosteniendo la mano del pac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571500" y="1524000"/>
            <a:ext cx="2381250" cy="3848100"/>
          </a:xfrm>
          <a:prstGeom prst="rect">
            <a:avLst/>
          </a:prstGeom>
        </p:spPr>
      </p:pic>
      <p:pic>
        <p:nvPicPr>
          <p:cNvPr id="6" name="Image 1" descr="Médico con iconos de salud y protec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4191000"/>
            <a:ext cx="1809750" cy="1809750"/>
          </a:xfrm>
          <a:prstGeom prst="rect">
            <a:avLst/>
          </a:prstGeom>
        </p:spPr>
      </p:pic>
      <p:sp>
        <p:nvSpPr>
          <p:cNvPr id="7" name="Tarjeta"/>
          <p:cNvSpPr/>
          <p:nvPr/>
        </p:nvSpPr>
        <p:spPr>
          <a:xfrm>
            <a:off x="3905250" y="1524000"/>
            <a:ext cx="782955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8" name="Insignia 1"/>
          <p:cNvSpPr/>
          <p:nvPr/>
        </p:nvSpPr>
        <p:spPr>
          <a:xfrm>
            <a:off x="4095750" y="1685925"/>
            <a:ext cx="438150" cy="438150"/>
          </a:xfrm>
          <a:prstGeom prst="ellipse">
            <a:avLst/>
          </a:prstGeom>
          <a:solidFill>
            <a:srgbClr val="002C6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095750" y="16859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24400" y="16192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Paciente correcto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724400" y="1866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Escaneo del código GS1 del brazalete de identificación hospitalaria.</a:t>
            </a:r>
            <a:endParaRPr lang="en-US" sz="1100" dirty="0"/>
          </a:p>
        </p:txBody>
      </p:sp>
      <p:sp>
        <p:nvSpPr>
          <p:cNvPr id="12" name="Etiqueta GSRN"/>
          <p:cNvSpPr/>
          <p:nvPr/>
        </p:nvSpPr>
        <p:spPr>
          <a:xfrm>
            <a:off x="10668000" y="1771650"/>
            <a:ext cx="838200" cy="266700"/>
          </a:xfrm>
          <a:prstGeom prst="roundRect">
            <a:avLst>
              <a:gd name="adj" fmla="val 171429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0668000" y="17716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GSRN</a:t>
            </a:r>
            <a:endParaRPr lang="en-US" sz="1000" dirty="0"/>
          </a:p>
        </p:txBody>
      </p:sp>
      <p:sp>
        <p:nvSpPr>
          <p:cNvPr id="14" name="Tarjeta"/>
          <p:cNvSpPr/>
          <p:nvPr/>
        </p:nvSpPr>
        <p:spPr>
          <a:xfrm>
            <a:off x="3905250" y="2400300"/>
            <a:ext cx="782955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5" name="Insignia 2"/>
          <p:cNvSpPr/>
          <p:nvPr/>
        </p:nvSpPr>
        <p:spPr>
          <a:xfrm>
            <a:off x="4095750" y="2562225"/>
            <a:ext cx="438150" cy="43815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095750" y="25622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724400" y="24955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Medicamento correcto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4724400" y="2743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Validación instantánea del GTIN contra la prescripción médica electrónica.</a:t>
            </a:r>
            <a:endParaRPr lang="en-US" sz="1100" dirty="0"/>
          </a:p>
        </p:txBody>
      </p:sp>
      <p:sp>
        <p:nvSpPr>
          <p:cNvPr id="19" name="Etiqueta GTIN"/>
          <p:cNvSpPr/>
          <p:nvPr/>
        </p:nvSpPr>
        <p:spPr>
          <a:xfrm>
            <a:off x="10668000" y="2647950"/>
            <a:ext cx="838200" cy="266700"/>
          </a:xfrm>
          <a:prstGeom prst="roundRect">
            <a:avLst>
              <a:gd name="adj" fmla="val 171429"/>
            </a:avLst>
          </a:prstGeom>
          <a:solidFill>
            <a:srgbClr val="F1F5F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668000" y="26479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6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</a:t>
            </a:r>
            <a:endParaRPr lang="en-US" sz="1000" dirty="0"/>
          </a:p>
        </p:txBody>
      </p:sp>
      <p:sp>
        <p:nvSpPr>
          <p:cNvPr id="21" name="Tarjeta"/>
          <p:cNvSpPr/>
          <p:nvPr/>
        </p:nvSpPr>
        <p:spPr>
          <a:xfrm>
            <a:off x="3905250" y="3276600"/>
            <a:ext cx="782955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2" name="Insignia 3"/>
          <p:cNvSpPr/>
          <p:nvPr/>
        </p:nvSpPr>
        <p:spPr>
          <a:xfrm>
            <a:off x="4095750" y="3438525"/>
            <a:ext cx="438150" cy="438150"/>
          </a:xfrm>
          <a:prstGeom prst="ellipse">
            <a:avLst/>
          </a:prstGeom>
          <a:solidFill>
            <a:srgbClr val="002C6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095750" y="34385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724400" y="33718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Dosis correcta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4724400" y="3619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Confirma la concentración (500 mg vs 1000 mg) y evita errores LASA (Look-Alike, Sound-Alike).</a:t>
            </a:r>
            <a:endParaRPr lang="en-US" sz="1100" dirty="0"/>
          </a:p>
        </p:txBody>
      </p:sp>
      <p:sp>
        <p:nvSpPr>
          <p:cNvPr id="26" name="Etiqueta LASA"/>
          <p:cNvSpPr/>
          <p:nvPr/>
        </p:nvSpPr>
        <p:spPr>
          <a:xfrm>
            <a:off x="10668000" y="3524250"/>
            <a:ext cx="838200" cy="266700"/>
          </a:xfrm>
          <a:prstGeom prst="roundRect">
            <a:avLst>
              <a:gd name="adj" fmla="val 171429"/>
            </a:avLst>
          </a:prstGeom>
          <a:solidFill>
            <a:srgbClr val="F1F5F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668000" y="35242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LASA</a:t>
            </a:r>
            <a:endParaRPr lang="en-US" sz="1000" dirty="0"/>
          </a:p>
        </p:txBody>
      </p:sp>
      <p:sp>
        <p:nvSpPr>
          <p:cNvPr id="28" name="Tarjeta"/>
          <p:cNvSpPr/>
          <p:nvPr/>
        </p:nvSpPr>
        <p:spPr>
          <a:xfrm>
            <a:off x="3905250" y="4152900"/>
            <a:ext cx="782955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9" name="Insignia 4"/>
          <p:cNvSpPr/>
          <p:nvPr/>
        </p:nvSpPr>
        <p:spPr>
          <a:xfrm>
            <a:off x="4095750" y="4314825"/>
            <a:ext cx="438150" cy="43815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095750" y="43148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724400" y="42481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Vía y hora correctas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4724400" y="44958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Registro automático en la Historia Clínica Electrónica.</a:t>
            </a:r>
            <a:endParaRPr lang="en-US" sz="1100" dirty="0"/>
          </a:p>
        </p:txBody>
      </p:sp>
      <p:sp>
        <p:nvSpPr>
          <p:cNvPr id="33" name="Etiqueta HCE"/>
          <p:cNvSpPr/>
          <p:nvPr/>
        </p:nvSpPr>
        <p:spPr>
          <a:xfrm>
            <a:off x="10668000" y="4400550"/>
            <a:ext cx="838200" cy="266700"/>
          </a:xfrm>
          <a:prstGeom prst="roundRect">
            <a:avLst>
              <a:gd name="adj" fmla="val 171429"/>
            </a:avLst>
          </a:prstGeom>
          <a:solidFill>
            <a:srgbClr val="F1F5F9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10668000" y="44005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HCE</a:t>
            </a:r>
            <a:endParaRPr lang="en-US" sz="1000" dirty="0"/>
          </a:p>
        </p:txBody>
      </p:sp>
      <p:sp>
        <p:nvSpPr>
          <p:cNvPr id="35" name="Tarjeta"/>
          <p:cNvSpPr/>
          <p:nvPr/>
        </p:nvSpPr>
        <p:spPr>
          <a:xfrm>
            <a:off x="3905250" y="5029200"/>
            <a:ext cx="782955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6" name="Insignia 5"/>
          <p:cNvSpPr/>
          <p:nvPr/>
        </p:nvSpPr>
        <p:spPr>
          <a:xfrm>
            <a:off x="4095750" y="5191125"/>
            <a:ext cx="438150" cy="4381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095750" y="51911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4724400" y="51244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Vigencia garantizada</a:t>
            </a:r>
            <a:endParaRPr lang="en-US" sz="1350" dirty="0"/>
          </a:p>
        </p:txBody>
      </p:sp>
      <p:sp>
        <p:nvSpPr>
          <p:cNvPr id="39" name="Text 35"/>
          <p:cNvSpPr txBox="1"/>
          <p:nvPr/>
        </p:nvSpPr>
        <p:spPr>
          <a:xfrm>
            <a:off x="4724400" y="53721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El sistema bloquea la dosis si (17) indica vencido o si el lote (10) tiene alerta de retiro.</a:t>
            </a:r>
            <a:endParaRPr lang="en-US" sz="1100" dirty="0"/>
          </a:p>
        </p:txBody>
      </p:sp>
      <p:pic>
        <p:nvPicPr>
          <p:cNvPr id="40" name="Image 2" descr="Icono B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5276850"/>
            <a:ext cx="285750" cy="2857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2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Eficiencia de la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cadena de suministro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68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Un mismo lenguaje GS1 desde el laboratorio hasta el paciente</a:t>
            </a:r>
            <a:endParaRPr lang="en-US" sz="1100" dirty="0"/>
          </a:p>
        </p:txBody>
      </p:sp>
      <p:sp>
        <p:nvSpPr>
          <p:cNvPr id="5" name="Nodo Laboratorio"/>
          <p:cNvSpPr/>
          <p:nvPr/>
        </p:nvSpPr>
        <p:spPr>
          <a:xfrm>
            <a:off x="1409700" y="1524000"/>
            <a:ext cx="762000" cy="762000"/>
          </a:xfrm>
          <a:prstGeom prst="ellipse">
            <a:avLst/>
          </a:prstGeom>
          <a:solidFill>
            <a:srgbClr val="002C6C"/>
          </a:solidFill>
          <a:ln/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6" name="Image 0" descr="Icono Fac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14500"/>
            <a:ext cx="381000" cy="381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400300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8" name="Claves GS1"/>
          <p:cNvSpPr/>
          <p:nvPr/>
        </p:nvSpPr>
        <p:spPr>
          <a:xfrm>
            <a:off x="838200" y="2667000"/>
            <a:ext cx="1905000" cy="266700"/>
          </a:xfrm>
          <a:prstGeom prst="roundRect">
            <a:avLst>
              <a:gd name="adj" fmla="val 171429"/>
            </a:avLst>
          </a:prstGeom>
          <a:solidFill>
            <a:srgbClr val="E0F4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8200" y="26670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 · Lote · Serie</a:t>
            </a:r>
            <a:endParaRPr lang="en-US" sz="1050" dirty="0"/>
          </a:p>
        </p:txBody>
      </p:sp>
      <p:sp>
        <p:nvSpPr>
          <p:cNvPr id="10" name="Flecha flujo"/>
          <p:cNvSpPr/>
          <p:nvPr/>
        </p:nvSpPr>
        <p:spPr>
          <a:xfrm>
            <a:off x="2381250" y="1771650"/>
            <a:ext cx="1428750" cy="2667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Nodo Droguería / Distribuidor"/>
          <p:cNvSpPr/>
          <p:nvPr/>
        </p:nvSpPr>
        <p:spPr>
          <a:xfrm>
            <a:off x="4279868" y="1524000"/>
            <a:ext cx="762000" cy="762000"/>
          </a:xfrm>
          <a:prstGeom prst="ellipse">
            <a:avLst/>
          </a:prstGeom>
          <a:solidFill>
            <a:srgbClr val="1CA9C9"/>
          </a:solidFill>
          <a:ln/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2" name="Image 1" descr="Icono Tr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368" y="1714500"/>
            <a:ext cx="381000" cy="3810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27368" y="2400300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Droguería / Distribuidor</a:t>
            </a:r>
            <a:endParaRPr lang="en-US" sz="1300" dirty="0"/>
          </a:p>
        </p:txBody>
      </p:sp>
      <p:sp>
        <p:nvSpPr>
          <p:cNvPr id="14" name="Claves GS1"/>
          <p:cNvSpPr/>
          <p:nvPr/>
        </p:nvSpPr>
        <p:spPr>
          <a:xfrm>
            <a:off x="3708368" y="2667000"/>
            <a:ext cx="1905000" cy="266700"/>
          </a:xfrm>
          <a:prstGeom prst="roundRect">
            <a:avLst>
              <a:gd name="adj" fmla="val 171429"/>
            </a:avLst>
          </a:prstGeom>
          <a:solidFill>
            <a:srgbClr val="E0F4F9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708368" y="26670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SSCC · GLN</a:t>
            </a:r>
            <a:endParaRPr lang="en-US" sz="1050" dirty="0"/>
          </a:p>
        </p:txBody>
      </p:sp>
      <p:sp>
        <p:nvSpPr>
          <p:cNvPr id="16" name="Flecha flujo"/>
          <p:cNvSpPr/>
          <p:nvPr/>
        </p:nvSpPr>
        <p:spPr>
          <a:xfrm>
            <a:off x="5251418" y="1771650"/>
            <a:ext cx="1428750" cy="2667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7" name="Nodo Farmacia / Clínica"/>
          <p:cNvSpPr/>
          <p:nvPr/>
        </p:nvSpPr>
        <p:spPr>
          <a:xfrm>
            <a:off x="7150037" y="1524000"/>
            <a:ext cx="762000" cy="762000"/>
          </a:xfrm>
          <a:prstGeom prst="ellipse">
            <a:avLst/>
          </a:prstGeom>
          <a:solidFill>
            <a:srgbClr val="F26334"/>
          </a:solidFill>
          <a:ln/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8" name="Image 2" descr="Icono 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537" y="1714500"/>
            <a:ext cx="381000" cy="3810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97537" y="2400300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Farmacia / Clínica</a:t>
            </a:r>
            <a:endParaRPr lang="en-US" sz="1300" dirty="0"/>
          </a:p>
        </p:txBody>
      </p:sp>
      <p:sp>
        <p:nvSpPr>
          <p:cNvPr id="20" name="Claves GS1"/>
          <p:cNvSpPr/>
          <p:nvPr/>
        </p:nvSpPr>
        <p:spPr>
          <a:xfrm>
            <a:off x="6578537" y="2667000"/>
            <a:ext cx="1905000" cy="266700"/>
          </a:xfrm>
          <a:prstGeom prst="roundRect">
            <a:avLst>
              <a:gd name="adj" fmla="val 171429"/>
            </a:avLst>
          </a:prstGeom>
          <a:solidFill>
            <a:srgbClr val="E0F4F9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578537" y="26670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 · GLN</a:t>
            </a:r>
            <a:endParaRPr lang="en-US" sz="1050" dirty="0"/>
          </a:p>
        </p:txBody>
      </p:sp>
      <p:sp>
        <p:nvSpPr>
          <p:cNvPr id="22" name="Flecha flujo"/>
          <p:cNvSpPr/>
          <p:nvPr/>
        </p:nvSpPr>
        <p:spPr>
          <a:xfrm>
            <a:off x="8121586" y="1771650"/>
            <a:ext cx="1428750" cy="2667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3" name="Nodo Paciente"/>
          <p:cNvSpPr/>
          <p:nvPr/>
        </p:nvSpPr>
        <p:spPr>
          <a:xfrm>
            <a:off x="10020205" y="1524000"/>
            <a:ext cx="762000" cy="762000"/>
          </a:xfrm>
          <a:prstGeom prst="ellipse">
            <a:avLst/>
          </a:prstGeom>
          <a:solidFill>
            <a:srgbClr val="00A79D"/>
          </a:solidFill>
          <a:ln/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4" name="Image 3" descr="Icono Us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705" y="1714500"/>
            <a:ext cx="381000" cy="3810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67705" y="2400300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Paciente</a:t>
            </a:r>
            <a:endParaRPr lang="en-US" sz="1300" dirty="0"/>
          </a:p>
        </p:txBody>
      </p:sp>
      <p:sp>
        <p:nvSpPr>
          <p:cNvPr id="26" name="Claves GS1"/>
          <p:cNvSpPr/>
          <p:nvPr/>
        </p:nvSpPr>
        <p:spPr>
          <a:xfrm>
            <a:off x="9448705" y="2667000"/>
            <a:ext cx="1905000" cy="266700"/>
          </a:xfrm>
          <a:prstGeom prst="roundRect">
            <a:avLst>
              <a:gd name="adj" fmla="val 171429"/>
            </a:avLst>
          </a:prstGeom>
          <a:solidFill>
            <a:srgbClr val="E0F4F9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9448705" y="26670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GSRN · e-PIL</a:t>
            </a:r>
            <a:endParaRPr lang="en-US" sz="1050" dirty="0"/>
          </a:p>
        </p:txBody>
      </p:sp>
      <p:sp>
        <p:nvSpPr>
          <p:cNvPr id="28" name="Tarjeta"/>
          <p:cNvSpPr/>
          <p:nvPr/>
        </p:nvSpPr>
        <p:spPr>
          <a:xfrm>
            <a:off x="457200" y="3333750"/>
            <a:ext cx="2667000" cy="2286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9" name="Icono Eye"/>
          <p:cNvSpPr/>
          <p:nvPr/>
        </p:nvSpPr>
        <p:spPr>
          <a:xfrm>
            <a:off x="647700" y="3505200"/>
            <a:ext cx="457200" cy="4572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30" name="Image 4" descr="Icono 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" y="361492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47700" y="40957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Visibilidad en tiempo real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647700" y="45529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Cada movimiento se registra con EPCIS 2.0 y es consultable por los socios autorizados.</a:t>
            </a:r>
            <a:endParaRPr lang="en-US" sz="1100" dirty="0"/>
          </a:p>
        </p:txBody>
      </p:sp>
      <p:sp>
        <p:nvSpPr>
          <p:cNvPr id="33" name="Tarjeta"/>
          <p:cNvSpPr/>
          <p:nvPr/>
        </p:nvSpPr>
        <p:spPr>
          <a:xfrm>
            <a:off x="3327368" y="3333750"/>
            <a:ext cx="2667000" cy="2286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4" name="Icono Hourglass"/>
          <p:cNvSpPr/>
          <p:nvPr/>
        </p:nvSpPr>
        <p:spPr>
          <a:xfrm>
            <a:off x="3517868" y="3505200"/>
            <a:ext cx="457200" cy="45720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35" name="Image 5" descr="Icono Hourgla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596" y="3614928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517868" y="40957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Vencimientos FEFO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3517868" y="45529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 despacha primero lo que vence primero, con lote y fecha leídos del código.</a:t>
            </a:r>
            <a:endParaRPr lang="en-US" sz="1100" dirty="0"/>
          </a:p>
        </p:txBody>
      </p:sp>
      <p:sp>
        <p:nvSpPr>
          <p:cNvPr id="38" name="Tarjeta"/>
          <p:cNvSpPr/>
          <p:nvPr/>
        </p:nvSpPr>
        <p:spPr>
          <a:xfrm>
            <a:off x="6197537" y="3333750"/>
            <a:ext cx="2667000" cy="2286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9" name="Icono Undo2"/>
          <p:cNvSpPr/>
          <p:nvPr/>
        </p:nvSpPr>
        <p:spPr>
          <a:xfrm>
            <a:off x="6388036" y="3505200"/>
            <a:ext cx="457200" cy="457200"/>
          </a:xfrm>
          <a:prstGeom prst="ellipse">
            <a:avLst/>
          </a:prstGeom>
          <a:solidFill>
            <a:srgbClr val="00A79D"/>
          </a:solidFill>
          <a:ln/>
        </p:spPr>
      </p:sp>
      <p:pic>
        <p:nvPicPr>
          <p:cNvPr id="40" name="Image 6" descr="Icono Undo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7764" y="3614928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388036" y="40957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Retiro de lotes ágil</a:t>
            </a:r>
            <a:endParaRPr lang="en-US" sz="1350" dirty="0"/>
          </a:p>
        </p:txBody>
      </p:sp>
      <p:sp>
        <p:nvSpPr>
          <p:cNvPr id="42" name="Text 33"/>
          <p:cNvSpPr txBox="1"/>
          <p:nvPr/>
        </p:nvSpPr>
        <p:spPr>
          <a:xfrm>
            <a:off x="6388036" y="45529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 recall se ubica por lote y GLN, sin revisar inventario caja por caja.</a:t>
            </a:r>
            <a:endParaRPr lang="en-US" sz="1100" dirty="0"/>
          </a:p>
        </p:txBody>
      </p:sp>
      <p:sp>
        <p:nvSpPr>
          <p:cNvPr id="43" name="Tarjeta"/>
          <p:cNvSpPr/>
          <p:nvPr/>
        </p:nvSpPr>
        <p:spPr>
          <a:xfrm>
            <a:off x="9067705" y="3333750"/>
            <a:ext cx="2667000" cy="2286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4" name="Icono Snowflake"/>
          <p:cNvSpPr/>
          <p:nvPr/>
        </p:nvSpPr>
        <p:spPr>
          <a:xfrm>
            <a:off x="9258205" y="3505200"/>
            <a:ext cx="457200" cy="4572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45" name="Image 7" descr="Icono Snowflak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7933" y="3614928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258205" y="40957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Cadena de frío</a:t>
            </a:r>
            <a:endParaRPr lang="en-US" sz="1350" dirty="0"/>
          </a:p>
        </p:txBody>
      </p:sp>
      <p:sp>
        <p:nvSpPr>
          <p:cNvPr id="47" name="Text 37"/>
          <p:cNvSpPr txBox="1"/>
          <p:nvPr/>
        </p:nvSpPr>
        <p:spPr>
          <a:xfrm>
            <a:off x="9258205" y="45529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Alertas ante desvíos de temperatura en insulinas, vacunas y biológicos.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2 · TRAZABILIDAD DE MEDICAMENTOS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la barra tradicional al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estándar 2D en salud</a:t>
            </a:r>
            <a:endParaRPr lang="en-US" sz="2600" dirty="0"/>
          </a:p>
        </p:txBody>
      </p:sp>
      <p:sp>
        <p:nvSpPr>
          <p:cNvPr id="4" name="Tarjeta"/>
          <p:cNvSpPr/>
          <p:nvPr/>
        </p:nvSpPr>
        <p:spPr>
          <a:xfrm>
            <a:off x="457200" y="1238250"/>
            <a:ext cx="3543300" cy="2495550"/>
          </a:xfrm>
          <a:prstGeom prst="roundRect">
            <a:avLst>
              <a:gd name="adj" fmla="val 73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5" name="Etapa"/>
          <p:cNvSpPr/>
          <p:nvPr/>
        </p:nvSpPr>
        <p:spPr>
          <a:xfrm>
            <a:off x="800100" y="1371600"/>
            <a:ext cx="2857500" cy="247650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13716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1973 – 2022 · Hasta ahora</a:t>
            </a:r>
            <a:endParaRPr lang="en-US" sz="1000" dirty="0"/>
          </a:p>
        </p:txBody>
      </p:sp>
      <p:pic>
        <p:nvPicPr>
          <p:cNvPr id="7" name="Image 0" descr="Caja Acetaminofén 500 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0" y="1676400"/>
            <a:ext cx="1905000" cy="1524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2450" y="321945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EAN-13 · código 1D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34290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Solo identifica el GTIN, de forma estática.</a:t>
            </a:r>
            <a:endParaRPr lang="en-US" sz="1000" dirty="0"/>
          </a:p>
        </p:txBody>
      </p:sp>
      <p:sp>
        <p:nvSpPr>
          <p:cNvPr id="10" name="Tarjeta"/>
          <p:cNvSpPr/>
          <p:nvPr/>
        </p:nvSpPr>
        <p:spPr>
          <a:xfrm>
            <a:off x="4305300" y="1238250"/>
            <a:ext cx="3543300" cy="2495550"/>
          </a:xfrm>
          <a:prstGeom prst="roundRect">
            <a:avLst>
              <a:gd name="adj" fmla="val 73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1" name="Etapa"/>
          <p:cNvSpPr/>
          <p:nvPr/>
        </p:nvSpPr>
        <p:spPr>
          <a:xfrm>
            <a:off x="4648200" y="1371600"/>
            <a:ext cx="2857500" cy="247650"/>
          </a:xfrm>
          <a:prstGeom prst="roundRect">
            <a:avLst>
              <a:gd name="adj" fmla="val 184615"/>
            </a:avLst>
          </a:prstGeom>
          <a:solidFill>
            <a:srgbClr val="FDE9E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48200" y="13716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2023 – 2026 · Transición dual</a:t>
            </a:r>
            <a:endParaRPr lang="en-US" sz="1000" dirty="0"/>
          </a:p>
        </p:txBody>
      </p:sp>
      <p:pic>
        <p:nvPicPr>
          <p:cNvPr id="13" name="Image 1" descr="Caja Acetaminofén 500 m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90700"/>
            <a:ext cx="1638300" cy="1314450"/>
          </a:xfrm>
          <a:prstGeom prst="rect">
            <a:avLst/>
          </a:prstGeom>
        </p:spPr>
      </p:pic>
      <p:pic>
        <p:nvPicPr>
          <p:cNvPr id="14" name="Image 2" descr="Caja Acetaminofén 500 m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90700"/>
            <a:ext cx="1638300" cy="13144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00550" y="321945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Coexisten 1D + 2D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457700" y="34290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 preparan lectores ópticos en farmacias y centros de salud.</a:t>
            </a:r>
            <a:endParaRPr lang="en-US" sz="1000" dirty="0"/>
          </a:p>
        </p:txBody>
      </p:sp>
      <p:sp>
        <p:nvSpPr>
          <p:cNvPr id="17" name="Tarjeta"/>
          <p:cNvSpPr/>
          <p:nvPr/>
        </p:nvSpPr>
        <p:spPr>
          <a:xfrm>
            <a:off x="8153400" y="1238250"/>
            <a:ext cx="3543300" cy="2495550"/>
          </a:xfrm>
          <a:prstGeom prst="roundRect">
            <a:avLst>
              <a:gd name="adj" fmla="val 7328"/>
            </a:avLst>
          </a:prstGeom>
          <a:solidFill>
            <a:schemeClr val="bg1"/>
          </a:solidFill>
          <a:ln w="19050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8" name="Etapa"/>
          <p:cNvSpPr/>
          <p:nvPr/>
        </p:nvSpPr>
        <p:spPr>
          <a:xfrm>
            <a:off x="8496300" y="1371600"/>
            <a:ext cx="2857500" cy="247650"/>
          </a:xfrm>
          <a:prstGeom prst="roundRect">
            <a:avLst>
              <a:gd name="adj" fmla="val 184615"/>
            </a:avLst>
          </a:prstGeom>
          <a:solidFill>
            <a:srgbClr val="1CA9C9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496300" y="13716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2027+ · Ambición global y Healthcare</a:t>
            </a:r>
            <a:endParaRPr lang="en-US" sz="1000" dirty="0"/>
          </a:p>
        </p:txBody>
      </p:sp>
      <p:pic>
        <p:nvPicPr>
          <p:cNvPr id="20" name="Image 3" descr="Caja Acetaminofén 500 m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1790700"/>
            <a:ext cx="1638300" cy="1314450"/>
          </a:xfrm>
          <a:prstGeom prst="rect">
            <a:avLst/>
          </a:prstGeom>
        </p:spPr>
      </p:pic>
      <p:pic>
        <p:nvPicPr>
          <p:cNvPr id="21" name="Image 4" descr="Caja Acetaminofén 500 m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1790700"/>
            <a:ext cx="1638300" cy="131445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48650" y="321945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GS1 DataMatrix + QR Digital Link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8305800" y="34290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Trazabilidad clínica/regulatoria + interacción con el paciente.</a:t>
            </a:r>
            <a:endParaRPr lang="en-US" sz="1000" dirty="0"/>
          </a:p>
        </p:txBody>
      </p:sp>
      <p:sp>
        <p:nvSpPr>
          <p:cNvPr id="24" name="Flecha"/>
          <p:cNvSpPr/>
          <p:nvPr/>
        </p:nvSpPr>
        <p:spPr>
          <a:xfrm>
            <a:off x="4038600" y="2362200"/>
            <a:ext cx="247650" cy="24765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Flecha"/>
          <p:cNvSpPr/>
          <p:nvPr/>
        </p:nvSpPr>
        <p:spPr>
          <a:xfrm>
            <a:off x="7886700" y="2362200"/>
            <a:ext cx="247650" cy="24765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6" name="Tarjeta"/>
          <p:cNvSpPr/>
          <p:nvPr/>
        </p:nvSpPr>
        <p:spPr>
          <a:xfrm>
            <a:off x="457200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590550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(01)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07591196014853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90550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GTIN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ID único del medicamento (prefijo 759 GS1 Venezuela)</a:t>
            </a:r>
            <a:endParaRPr lang="en-US" sz="1050" dirty="0"/>
          </a:p>
        </p:txBody>
      </p:sp>
      <p:sp>
        <p:nvSpPr>
          <p:cNvPr id="29" name="Tarjeta"/>
          <p:cNvSpPr/>
          <p:nvPr/>
        </p:nvSpPr>
        <p:spPr>
          <a:xfrm>
            <a:off x="3327368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3460718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(17)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281231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3460718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Vencimiento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31 Dic 2028</a:t>
            </a:r>
            <a:endParaRPr lang="en-US" sz="1050" dirty="0"/>
          </a:p>
        </p:txBody>
      </p:sp>
      <p:sp>
        <p:nvSpPr>
          <p:cNvPr id="32" name="Tarjeta"/>
          <p:cNvSpPr/>
          <p:nvPr/>
        </p:nvSpPr>
        <p:spPr>
          <a:xfrm>
            <a:off x="6197537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6330886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LOTE-VE26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330886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Lote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de producción</a:t>
            </a:r>
            <a:endParaRPr lang="en-US" sz="1050" dirty="0"/>
          </a:p>
        </p:txBody>
      </p:sp>
      <p:sp>
        <p:nvSpPr>
          <p:cNvPr id="35" name="Tarjeta"/>
          <p:cNvSpPr/>
          <p:nvPr/>
        </p:nvSpPr>
        <p:spPr>
          <a:xfrm>
            <a:off x="9067705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9201055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(21)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SN998877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201055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Serie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autenticación unitaria anti-falsificación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9530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ESTRUCTURA GS1 DIGITAL LINK</a:t>
            </a:r>
            <a:endParaRPr lang="en-US" sz="900" dirty="0"/>
          </a:p>
        </p:txBody>
      </p:sp>
      <p:sp>
        <p:nvSpPr>
          <p:cNvPr id="39" name="Tarjeta"/>
          <p:cNvSpPr/>
          <p:nvPr/>
        </p:nvSpPr>
        <p:spPr>
          <a:xfrm>
            <a:off x="457200" y="5162550"/>
            <a:ext cx="11277600" cy="571500"/>
          </a:xfrm>
          <a:prstGeom prst="roundRect">
            <a:avLst>
              <a:gd name="adj" fmla="val 32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685800" y="5162550"/>
            <a:ext cx="1082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algn="l"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dl.gs1ve.org</a:t>
            </a:r>
            <a:pPr algn="l"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/01/</a:t>
            </a:r>
            <a:pPr algn="l" indent="0" marL="0">
              <a:buNone/>
            </a:pPr>
            <a:r>
              <a:rPr lang="en-US" sz="15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07591196014853</a:t>
            </a:r>
            <a:pPr algn="l"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/10/</a:t>
            </a:r>
            <a:pPr algn="l" indent="0" marL="0">
              <a:buNone/>
            </a:pPr>
            <a:r>
              <a:rPr lang="en-US" sz="15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LOTE-VE26</a:t>
            </a:r>
            <a:pPr algn="l"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?17=</a:t>
            </a:r>
            <a:pPr algn="l" indent="0" marL="0">
              <a:buNone/>
            </a:pPr>
            <a:r>
              <a:rPr lang="en-US" sz="15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281231</a:t>
            </a:r>
            <a:endParaRPr lang="en-US" sz="155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58293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● Dominio web     </a:t>
            </a:r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● Identificador de aplicación (AI)   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● GTIN / Lote / Vencimiento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izquierdo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3" name="Fondo derecho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38500" y="1905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ANALOGÍA CONCEPTUAL</a:t>
            </a:r>
            <a:endParaRPr lang="en-US" sz="900" dirty="0"/>
          </a:p>
        </p:txBody>
      </p:sp>
      <p:sp>
        <p:nvSpPr>
          <p:cNvPr id="5" name="Tarjeta"/>
          <p:cNvSpPr/>
          <p:nvPr/>
        </p:nvSpPr>
        <p:spPr>
          <a:xfrm>
            <a:off x="3143250" y="400050"/>
            <a:ext cx="5905500" cy="552450"/>
          </a:xfrm>
          <a:prstGeom prst="roundRect">
            <a:avLst>
              <a:gd name="adj" fmla="val 8275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143250" y="400050"/>
            <a:ext cx="590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 Libro </a:t>
            </a:r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vs. </a:t>
            </a:r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 Televisor Clínico</a:t>
            </a:r>
            <a:endParaRPr lang="en-US" sz="2200" dirty="0"/>
          </a:p>
        </p:txBody>
      </p:sp>
      <p:sp>
        <p:nvSpPr>
          <p:cNvPr id="7" name="Icono TriangleAlert"/>
          <p:cNvSpPr/>
          <p:nvPr/>
        </p:nvSpPr>
        <p:spPr>
          <a:xfrm>
            <a:off x="457200" y="1238250"/>
            <a:ext cx="419100" cy="4191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mage 0" descr="Icono Triangle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338834"/>
            <a:ext cx="217932" cy="2179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0600" y="12192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3415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QR genérico / estático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990600" y="14859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Como un libro impreso</a:t>
            </a:r>
            <a:endParaRPr lang="en-US" sz="1050" dirty="0"/>
          </a:p>
        </p:txBody>
      </p:sp>
      <p:sp>
        <p:nvSpPr>
          <p:cNvPr id="11" name="Tarjeta"/>
          <p:cNvSpPr/>
          <p:nvPr/>
        </p:nvSpPr>
        <p:spPr>
          <a:xfrm>
            <a:off x="457200" y="1866900"/>
            <a:ext cx="1809750" cy="1809750"/>
          </a:xfrm>
          <a:prstGeom prst="roundRect">
            <a:avLst>
              <a:gd name="adj" fmla="val 101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2" name="Image 1" descr="QR genér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81200"/>
            <a:ext cx="1581150" cy="1581150"/>
          </a:xfrm>
          <a:prstGeom prst="rect">
            <a:avLst/>
          </a:prstGeom>
        </p:spPr>
      </p:pic>
      <p:sp>
        <p:nvSpPr>
          <p:cNvPr id="13" name="Tarjeta"/>
          <p:cNvSpPr/>
          <p:nvPr/>
        </p:nvSpPr>
        <p:spPr>
          <a:xfrm>
            <a:off x="2495550" y="2190750"/>
            <a:ext cx="28575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2628900" y="2286000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http://mi-laboratorio.com/prospecto.pdf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2628900" y="278130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fija · no editable</a:t>
            </a:r>
            <a:endParaRPr lang="en-US" sz="950" dirty="0"/>
          </a:p>
        </p:txBody>
      </p:sp>
      <p:pic>
        <p:nvPicPr>
          <p:cNvPr id="16" name="Image 2" descr="Icono Circle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81450"/>
            <a:ext cx="209550" cy="2095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1050" y="39624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La URL queda fija una vez impreso el empaque.</a:t>
            </a:r>
            <a:endParaRPr lang="en-US" sz="1200" dirty="0"/>
          </a:p>
        </p:txBody>
      </p:sp>
      <p:pic>
        <p:nvPicPr>
          <p:cNvPr id="18" name="Image 3" descr="Icono Circle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76750"/>
            <a:ext cx="209550" cy="2095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81050" y="44577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No sirve para pasar por caja ni sistemas hospitalarios.</a:t>
            </a:r>
            <a:endParaRPr lang="en-US" sz="1200" dirty="0"/>
          </a:p>
        </p:txBody>
      </p:sp>
      <p:pic>
        <p:nvPicPr>
          <p:cNvPr id="20" name="Image 4" descr="Icono Circle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72050"/>
            <a:ext cx="209550" cy="20955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1050" y="49530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Si cambia la normativa sanitaria, se desecha el material de empaque.</a:t>
            </a:r>
            <a:endParaRPr lang="en-US" sz="1200" dirty="0"/>
          </a:p>
        </p:txBody>
      </p:sp>
      <p:sp>
        <p:nvSpPr>
          <p:cNvPr id="22" name="Icono BadgeCheck"/>
          <p:cNvSpPr/>
          <p:nvPr/>
        </p:nvSpPr>
        <p:spPr>
          <a:xfrm>
            <a:off x="6572250" y="1238250"/>
            <a:ext cx="419100" cy="4191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mage 5" descr="Icono Badge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834" y="1338834"/>
            <a:ext cx="217932" cy="2179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105650" y="121920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QR GS1 Digital Link</a:t>
            </a:r>
            <a:endParaRPr lang="en-US" sz="1650" dirty="0"/>
          </a:p>
        </p:txBody>
      </p:sp>
      <p:sp>
        <p:nvSpPr>
          <p:cNvPr id="25" name="Text 17"/>
          <p:cNvSpPr txBox="1"/>
          <p:nvPr/>
        </p:nvSpPr>
        <p:spPr>
          <a:xfrm>
            <a:off x="7105650" y="1485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Como un televisor inteligente · Sello GS1 Venezuela</a:t>
            </a:r>
            <a:endParaRPr lang="en-US" sz="1050" dirty="0"/>
          </a:p>
        </p:txBody>
      </p:sp>
      <p:sp>
        <p:nvSpPr>
          <p:cNvPr id="26" name="Tarjeta"/>
          <p:cNvSpPr/>
          <p:nvPr/>
        </p:nvSpPr>
        <p:spPr>
          <a:xfrm>
            <a:off x="6572250" y="1866900"/>
            <a:ext cx="1809750" cy="1809750"/>
          </a:xfrm>
          <a:prstGeom prst="roundRect">
            <a:avLst>
              <a:gd name="adj" fmla="val 10105"/>
            </a:avLst>
          </a:prstGeom>
          <a:solidFill>
            <a:schemeClr val="bg1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7" name="Image 6" descr="QR GS1 Digital Lin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550" y="1981200"/>
            <a:ext cx="1581150" cy="1581150"/>
          </a:xfrm>
          <a:prstGeom prst="rect">
            <a:avLst/>
          </a:prstGeom>
        </p:spPr>
      </p:pic>
      <p:sp>
        <p:nvSpPr>
          <p:cNvPr id="28" name="Control remoto"/>
          <p:cNvSpPr/>
          <p:nvPr/>
        </p:nvSpPr>
        <p:spPr>
          <a:xfrm>
            <a:off x="8610600" y="2133600"/>
            <a:ext cx="2857500" cy="1047750"/>
          </a:xfrm>
          <a:prstGeom prst="roundRect">
            <a:avLst>
              <a:gd name="adj" fmla="val 10473"/>
            </a:avLst>
          </a:prstGeom>
          <a:solidFill>
            <a:srgbClr val="000000">
              <a:alpha val="30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8763000" y="2247900"/>
            <a:ext cx="247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CAMBIAR EL CANAL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8763000" y="24574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dl.gs1ve.org/01/0759…</a:t>
            </a:r>
            <a:endParaRPr lang="en-US" sz="1000" dirty="0"/>
          </a:p>
        </p:txBody>
      </p:sp>
      <p:sp>
        <p:nvSpPr>
          <p:cNvPr id="31" name="Insignia 1"/>
          <p:cNvSpPr/>
          <p:nvPr/>
        </p:nvSpPr>
        <p:spPr>
          <a:xfrm>
            <a:off x="8763000" y="2743200"/>
            <a:ext cx="285750" cy="2857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8763000" y="27432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Insignia 2"/>
          <p:cNvSpPr/>
          <p:nvPr/>
        </p:nvSpPr>
        <p:spPr>
          <a:xfrm>
            <a:off x="9124950" y="2743200"/>
            <a:ext cx="285750" cy="2857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9124950" y="27432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Insignia 3"/>
          <p:cNvSpPr/>
          <p:nvPr/>
        </p:nvSpPr>
        <p:spPr>
          <a:xfrm>
            <a:off x="9486900" y="2743200"/>
            <a:ext cx="285750" cy="28575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9486900" y="27432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Canal 1"/>
          <p:cNvSpPr/>
          <p:nvPr/>
        </p:nvSpPr>
        <p:spPr>
          <a:xfrm>
            <a:off x="6572250" y="3924300"/>
            <a:ext cx="5143500" cy="628650"/>
          </a:xfrm>
          <a:prstGeom prst="roundRect">
            <a:avLst>
              <a:gd name="adj" fmla="val 1745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8" name="Insignia 1"/>
          <p:cNvSpPr/>
          <p:nvPr/>
        </p:nvSpPr>
        <p:spPr>
          <a:xfrm>
            <a:off x="6705600" y="4086225"/>
            <a:ext cx="304800" cy="304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6705600" y="408622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143750" y="3981450"/>
            <a:ext cx="4476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Farmacia / Hospital: </a:t>
            </a:r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lectura de GTIN, lote y vencimiento en el punto de dispensación.</a:t>
            </a:r>
            <a:endParaRPr lang="en-US" sz="1100" dirty="0"/>
          </a:p>
        </p:txBody>
      </p:sp>
      <p:sp>
        <p:nvSpPr>
          <p:cNvPr id="41" name="Canal 2"/>
          <p:cNvSpPr/>
          <p:nvPr/>
        </p:nvSpPr>
        <p:spPr>
          <a:xfrm>
            <a:off x="6572250" y="4648200"/>
            <a:ext cx="5143500" cy="628650"/>
          </a:xfrm>
          <a:prstGeom prst="roundRect">
            <a:avLst>
              <a:gd name="adj" fmla="val 1745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2" name="Insignia 2"/>
          <p:cNvSpPr/>
          <p:nvPr/>
        </p:nvSpPr>
        <p:spPr>
          <a:xfrm>
            <a:off x="6705600" y="4810125"/>
            <a:ext cx="304800" cy="304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6705600" y="481012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7143750" y="4705350"/>
            <a:ext cx="4476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Paciente: </a:t>
            </a:r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prospecto digital (e-PIL), video de aplicación y validación de originalidad.</a:t>
            </a:r>
            <a:endParaRPr lang="en-US" sz="1100" dirty="0"/>
          </a:p>
        </p:txBody>
      </p:sp>
      <p:sp>
        <p:nvSpPr>
          <p:cNvPr id="45" name="Canal 3"/>
          <p:cNvSpPr/>
          <p:nvPr/>
        </p:nvSpPr>
        <p:spPr>
          <a:xfrm>
            <a:off x="6572250" y="5372100"/>
            <a:ext cx="5143500" cy="628650"/>
          </a:xfrm>
          <a:prstGeom prst="roundRect">
            <a:avLst>
              <a:gd name="adj" fmla="val 1745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6" name="Insignia 3"/>
          <p:cNvSpPr/>
          <p:nvPr/>
        </p:nvSpPr>
        <p:spPr>
          <a:xfrm>
            <a:off x="6705600" y="5534025"/>
            <a:ext cx="304800" cy="304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6705600" y="553402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7143750" y="5429250"/>
            <a:ext cx="4476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Emergencia sanitaria: </a:t>
            </a:r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alerta de farmacovigilancia o retiro de lote (Recall) inmediata.</a:t>
            </a:r>
            <a:endParaRPr lang="en-US" sz="1100" dirty="0"/>
          </a:p>
        </p:txBody>
      </p:sp>
      <p:sp>
        <p:nvSpPr>
          <p:cNvPr id="49" name="VS"/>
          <p:cNvSpPr/>
          <p:nvPr/>
        </p:nvSpPr>
        <p:spPr>
          <a:xfrm>
            <a:off x="5838825" y="3143250"/>
            <a:ext cx="514350" cy="51435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50" name="Text 41"/>
          <p:cNvSpPr txBox="1"/>
          <p:nvPr/>
        </p:nvSpPr>
        <p:spPr>
          <a:xfrm>
            <a:off x="5838825" y="314325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VS</a:t>
            </a:r>
            <a:endParaRPr lang="en-US" sz="1500" dirty="0"/>
          </a:p>
        </p:txBody>
      </p:sp>
      <p:sp>
        <p:nvSpPr>
          <p:cNvPr id="51" name="Text 42"/>
          <p:cNvSpPr txBox="1"/>
          <p:nvPr/>
        </p:nvSpPr>
        <p:spPr>
          <a:xfrm>
            <a:off x="457200" y="65722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Comité Salud GS1 · 5 Nov 2026</a:t>
            </a:r>
            <a:endParaRPr lang="en-US" sz="900" dirty="0"/>
          </a:p>
        </p:txBody>
      </p:sp>
      <p:pic>
        <p:nvPicPr>
          <p:cNvPr id="52" name="Image 7" descr="Logo GS1 Venezuel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0" y="6496050"/>
            <a:ext cx="9525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3 · GS1 NEWS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52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Novedades globales y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hoja de ruta 2026–2027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1500" y="2266950"/>
            <a:ext cx="11049000" cy="0"/>
          </a:xfrm>
          <a:prstGeom prst="line">
            <a:avLst/>
          </a:prstGeom>
          <a:noFill/>
          <a:ln w="38100">
            <a:solidFill>
              <a:srgbClr val="1CA9C9"/>
            </a:solidFill>
            <a:prstDash val="solid"/>
          </a:ln>
        </p:spPr>
      </p:sp>
      <p:sp>
        <p:nvSpPr>
          <p:cNvPr id="5" name="Tarjeta oscura"/>
          <p:cNvSpPr/>
          <p:nvPr/>
        </p:nvSpPr>
        <p:spPr>
          <a:xfrm>
            <a:off x="457200" y="2609850"/>
            <a:ext cx="2667000" cy="3238500"/>
          </a:xfrm>
          <a:prstGeom prst="roundRect">
            <a:avLst>
              <a:gd name="adj" fmla="val 6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Insignia 1"/>
          <p:cNvSpPr/>
          <p:nvPr/>
        </p:nvSpPr>
        <p:spPr>
          <a:xfrm>
            <a:off x="1600200" y="2076450"/>
            <a:ext cx="381000" cy="381000"/>
          </a:xfrm>
          <a:prstGeom prst="ellipse">
            <a:avLst/>
          </a:prstGeom>
          <a:solidFill>
            <a:srgbClr val="F263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20764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Icono Sunr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781300"/>
            <a:ext cx="304800" cy="304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7700" y="3181350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Rumbo a GS1 Sunrise 2027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7700" y="369570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2027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47700" y="41148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año meta de GS1 Sunrise: códigos 2D en el punto de venta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7700" y="4495800"/>
            <a:ext cx="2324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Puntos de venta y farmacias avanzan hacia la lectura nativa de códigos 2D.</a:t>
            </a:r>
            <a:endParaRPr lang="en-US" sz="1100" dirty="0"/>
          </a:p>
        </p:txBody>
      </p:sp>
      <p:sp>
        <p:nvSpPr>
          <p:cNvPr id="13" name="Tarjeta oscura"/>
          <p:cNvSpPr/>
          <p:nvPr/>
        </p:nvSpPr>
        <p:spPr>
          <a:xfrm>
            <a:off x="3327368" y="2609850"/>
            <a:ext cx="2667000" cy="3238500"/>
          </a:xfrm>
          <a:prstGeom prst="roundRect">
            <a:avLst>
              <a:gd name="adj" fmla="val 6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Insignia 2"/>
          <p:cNvSpPr/>
          <p:nvPr/>
        </p:nvSpPr>
        <p:spPr>
          <a:xfrm>
            <a:off x="4470368" y="2076450"/>
            <a:ext cx="381000" cy="38100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70368" y="20764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Icono Qr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868" y="2781300"/>
            <a:ext cx="304800" cy="3048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17868" y="3181350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Plataforma GS1 Digital Link Latam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517868" y="36957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Disponible para afiliados de GS1 Venezuela.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517868" y="4095750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app.gs1digitallink.lat</a:t>
            </a:r>
            <a:endParaRPr lang="en-US" sz="950" dirty="0"/>
          </a:p>
        </p:txBody>
      </p:sp>
      <p:sp>
        <p:nvSpPr>
          <p:cNvPr id="20" name="Formato SVG"/>
          <p:cNvSpPr/>
          <p:nvPr/>
        </p:nvSpPr>
        <p:spPr>
          <a:xfrm>
            <a:off x="3517868" y="4343400"/>
            <a:ext cx="438150" cy="228600"/>
          </a:xfrm>
          <a:prstGeom prst="roundRect">
            <a:avLst>
              <a:gd name="adj" fmla="val 4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517868" y="43434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SVG</a:t>
            </a:r>
            <a:endParaRPr lang="en-US" sz="950" dirty="0"/>
          </a:p>
        </p:txBody>
      </p:sp>
      <p:sp>
        <p:nvSpPr>
          <p:cNvPr id="22" name="Formato PNG"/>
          <p:cNvSpPr/>
          <p:nvPr/>
        </p:nvSpPr>
        <p:spPr>
          <a:xfrm>
            <a:off x="4032218" y="4343400"/>
            <a:ext cx="438150" cy="228600"/>
          </a:xfrm>
          <a:prstGeom prst="roundRect">
            <a:avLst>
              <a:gd name="adj" fmla="val 4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032218" y="43434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</a:t>
            </a:r>
            <a:endParaRPr lang="en-US" sz="950" dirty="0"/>
          </a:p>
        </p:txBody>
      </p:sp>
      <p:sp>
        <p:nvSpPr>
          <p:cNvPr id="24" name="Formato PDF"/>
          <p:cNvSpPr/>
          <p:nvPr/>
        </p:nvSpPr>
        <p:spPr>
          <a:xfrm>
            <a:off x="4546568" y="4343400"/>
            <a:ext cx="438150" cy="228600"/>
          </a:xfrm>
          <a:prstGeom prst="roundRect">
            <a:avLst>
              <a:gd name="adj" fmla="val 4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546568" y="43434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950" dirty="0"/>
          </a:p>
        </p:txBody>
      </p:sp>
      <p:sp>
        <p:nvSpPr>
          <p:cNvPr id="26" name="Formato EPS"/>
          <p:cNvSpPr/>
          <p:nvPr/>
        </p:nvSpPr>
        <p:spPr>
          <a:xfrm>
            <a:off x="5060918" y="4343400"/>
            <a:ext cx="438150" cy="228600"/>
          </a:xfrm>
          <a:prstGeom prst="roundRect">
            <a:avLst>
              <a:gd name="adj" fmla="val 4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060918" y="43434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3517868" y="4686300"/>
            <a:ext cx="2324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Arte para QR Digital Link y GS1 DataMatrix.</a:t>
            </a:r>
            <a:endParaRPr lang="en-US" sz="1100" dirty="0"/>
          </a:p>
        </p:txBody>
      </p:sp>
      <p:sp>
        <p:nvSpPr>
          <p:cNvPr id="29" name="Tarjeta oscura"/>
          <p:cNvSpPr/>
          <p:nvPr/>
        </p:nvSpPr>
        <p:spPr>
          <a:xfrm>
            <a:off x="6197537" y="2609850"/>
            <a:ext cx="2667000" cy="3238500"/>
          </a:xfrm>
          <a:prstGeom prst="roundRect">
            <a:avLst>
              <a:gd name="adj" fmla="val 6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Insignia 3"/>
          <p:cNvSpPr/>
          <p:nvPr/>
        </p:nvSpPr>
        <p:spPr>
          <a:xfrm>
            <a:off x="7340537" y="2076450"/>
            <a:ext cx="381000" cy="38100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340537" y="20764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pic>
        <p:nvPicPr>
          <p:cNvPr id="32" name="Image 2" descr="Icono Share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036" y="2781300"/>
            <a:ext cx="304800" cy="3048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388036" y="3181350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EPCIS 2.0 e interoperabilidad con IA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388036" y="3695700"/>
            <a:ext cx="2324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Nuevo estándar global para compartir eventos de visibilidad en cadenas de suministro de salud con máxima ciberseguridad.</a:t>
            </a:r>
            <a:endParaRPr lang="en-US" sz="1100" dirty="0"/>
          </a:p>
        </p:txBody>
      </p:sp>
      <p:sp>
        <p:nvSpPr>
          <p:cNvPr id="35" name="Tarjeta oscura"/>
          <p:cNvSpPr/>
          <p:nvPr/>
        </p:nvSpPr>
        <p:spPr>
          <a:xfrm>
            <a:off x="9067705" y="2609850"/>
            <a:ext cx="2667000" cy="3238500"/>
          </a:xfrm>
          <a:prstGeom prst="roundRect">
            <a:avLst>
              <a:gd name="adj" fmla="val 6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Insignia 4"/>
          <p:cNvSpPr/>
          <p:nvPr/>
        </p:nvSpPr>
        <p:spPr>
          <a:xfrm>
            <a:off x="10210705" y="2076450"/>
            <a:ext cx="381000" cy="381000"/>
          </a:xfrm>
          <a:prstGeom prst="ellipse">
            <a:avLst/>
          </a:prstGeom>
          <a:solidFill>
            <a:srgbClr val="F26334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10210705" y="20764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pic>
        <p:nvPicPr>
          <p:cNvPr id="38" name="Image 3" descr="Icono 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205" y="2781300"/>
            <a:ext cx="304800" cy="3048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258205" y="3181350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Formación y acompañamiento técnico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9258205" y="3695700"/>
            <a:ext cx="2324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Consultoría del Departamento de Estándares de GS1 Venezuela para adecuar líneas de empaque y catalogación.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4 · MESA DE TRABAJO DEL COMITÉ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Ronda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Abierta</a:t>
            </a:r>
            <a:endParaRPr lang="en-US" sz="2600" dirty="0"/>
          </a:p>
        </p:txBody>
      </p:sp>
      <p:sp>
        <p:nvSpPr>
          <p:cNvPr id="4" name="FOTO (reemplazar): comité"/>
          <p:cNvSpPr/>
          <p:nvPr/>
        </p:nvSpPr>
        <p:spPr>
          <a:xfrm>
            <a:off x="9715500" y="323850"/>
            <a:ext cx="1181100" cy="1181100"/>
          </a:xfrm>
          <a:prstGeom prst="ellipse">
            <a:avLst/>
          </a:prstGeom>
          <a:solidFill>
            <a:schemeClr val="accent6"/>
          </a:solidFill>
          <a:ln w="635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5" name="Image 0" descr="Icono 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641" y="689991"/>
            <a:ext cx="448818" cy="448818"/>
          </a:xfrm>
          <a:prstGeom prst="rect">
            <a:avLst/>
          </a:prstGeom>
        </p:spPr>
      </p:pic>
      <p:sp>
        <p:nvSpPr>
          <p:cNvPr id="6" name="Etiqueta foto"/>
          <p:cNvSpPr txBox="1"/>
          <p:nvPr/>
        </p:nvSpPr>
        <p:spPr>
          <a:xfrm>
            <a:off x="9791700" y="1257300"/>
            <a:ext cx="102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foto: comité</a:t>
            </a:r>
            <a:endParaRPr lang="en-US" sz="800" dirty="0"/>
          </a:p>
        </p:txBody>
      </p:sp>
      <p:sp>
        <p:nvSpPr>
          <p:cNvPr id="7" name="Tarjeta"/>
          <p:cNvSpPr/>
          <p:nvPr/>
        </p:nvSpPr>
        <p:spPr>
          <a:xfrm>
            <a:off x="457200" y="1676400"/>
            <a:ext cx="5505450" cy="1962150"/>
          </a:xfrm>
          <a:prstGeom prst="roundRect">
            <a:avLst>
              <a:gd name="adj" fmla="val 932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8" name="Insignia 1"/>
          <p:cNvSpPr/>
          <p:nvPr/>
        </p:nvSpPr>
        <p:spPr>
          <a:xfrm>
            <a:off x="666750" y="1885950"/>
            <a:ext cx="476250" cy="476250"/>
          </a:xfrm>
          <a:prstGeom prst="ellipse">
            <a:avLst/>
          </a:prstGeom>
          <a:solidFill>
            <a:srgbClr val="002C6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6750" y="188595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14450" y="18859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Retos en empaque primario y secundario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14450" y="247650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¿Cómo preparan los laboratorios nacionales sus líneas de impresión para códigos 2D variables (lote / vencimiento)?</a:t>
            </a:r>
            <a:endParaRPr lang="en-US" sz="1250" dirty="0"/>
          </a:p>
        </p:txBody>
      </p:sp>
      <p:sp>
        <p:nvSpPr>
          <p:cNvPr id="12" name="Tarjeta"/>
          <p:cNvSpPr/>
          <p:nvPr/>
        </p:nvSpPr>
        <p:spPr>
          <a:xfrm>
            <a:off x="6229350" y="1676400"/>
            <a:ext cx="5505450" cy="1962150"/>
          </a:xfrm>
          <a:prstGeom prst="roundRect">
            <a:avLst>
              <a:gd name="adj" fmla="val 932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3" name="Insignia 2"/>
          <p:cNvSpPr/>
          <p:nvPr/>
        </p:nvSpPr>
        <p:spPr>
          <a:xfrm>
            <a:off x="6438900" y="1885950"/>
            <a:ext cx="476250" cy="476250"/>
          </a:xfrm>
          <a:prstGeom prst="ellipse">
            <a:avLst/>
          </a:prstGeom>
          <a:solidFill>
            <a:srgbClr val="1CA9C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38900" y="188595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18859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Integración con farmacias y clínicas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47650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Homologación de lectores ópticos 2D y de sistemas ERP / HIS en Venezuela.</a:t>
            </a:r>
            <a:endParaRPr lang="en-US" sz="1250" dirty="0"/>
          </a:p>
        </p:txBody>
      </p:sp>
      <p:sp>
        <p:nvSpPr>
          <p:cNvPr id="17" name="Tarjeta"/>
          <p:cNvSpPr/>
          <p:nvPr/>
        </p:nvSpPr>
        <p:spPr>
          <a:xfrm>
            <a:off x="457200" y="3829050"/>
            <a:ext cx="5505450" cy="1962150"/>
          </a:xfrm>
          <a:prstGeom prst="roundRect">
            <a:avLst>
              <a:gd name="adj" fmla="val 932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8" name="Insignia 3"/>
          <p:cNvSpPr/>
          <p:nvPr/>
        </p:nvSpPr>
        <p:spPr>
          <a:xfrm>
            <a:off x="666750" y="4038600"/>
            <a:ext cx="476250" cy="476250"/>
          </a:xfrm>
          <a:prstGeom prst="ellipse">
            <a:avLst/>
          </a:prstGeom>
          <a:solidFill>
            <a:srgbClr val="F2633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6750" y="403860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14450" y="403860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Educación al médico y al paciente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14450" y="462915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Estrategias conjuntas para impulsar el escaneo de verificación de autenticidad y la lectura del prospecto digital.</a:t>
            </a:r>
            <a:endParaRPr lang="en-US" sz="1250" dirty="0"/>
          </a:p>
        </p:txBody>
      </p:sp>
      <p:sp>
        <p:nvSpPr>
          <p:cNvPr id="22" name="Tarjeta"/>
          <p:cNvSpPr/>
          <p:nvPr/>
        </p:nvSpPr>
        <p:spPr>
          <a:xfrm>
            <a:off x="6229350" y="3829050"/>
            <a:ext cx="5505450" cy="1962150"/>
          </a:xfrm>
          <a:prstGeom prst="roundRect">
            <a:avLst>
              <a:gd name="adj" fmla="val 932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3" name="Insignia 4"/>
          <p:cNvSpPr/>
          <p:nvPr/>
        </p:nvSpPr>
        <p:spPr>
          <a:xfrm>
            <a:off x="6438900" y="4038600"/>
            <a:ext cx="476250" cy="47625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38900" y="403860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403860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Próximos pilotos 2026–2027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462915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Definición de las mesas técnicas de trabajo del Comité Salud.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das corporativ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Logo GS1 Venezu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0500"/>
            <a:ext cx="1600200" cy="800100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4953000" y="990600"/>
            <a:ext cx="685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Únete al </a:t>
            </a:r>
            <a:pPr algn="l"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Comité Salud GS1</a:t>
            </a:r>
            <a:endParaRPr lang="en-US" sz="3300" dirty="0"/>
          </a:p>
        </p:txBody>
      </p:sp>
      <p:sp>
        <p:nvSpPr>
          <p:cNvPr id="5" name="Text 1"/>
          <p:cNvSpPr txBox="1"/>
          <p:nvPr/>
        </p:nvSpPr>
        <p:spPr>
          <a:xfrm>
            <a:off x="4953000" y="15621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Solicita tu acceso a la plataforma Digital Link.</a:t>
            </a:r>
            <a:endParaRPr lang="en-US" sz="1250" dirty="0"/>
          </a:p>
        </p:txBody>
      </p:sp>
      <p:sp>
        <p:nvSpPr>
          <p:cNvPr id="6" name="Tarjeta"/>
          <p:cNvSpPr/>
          <p:nvPr/>
        </p:nvSpPr>
        <p:spPr>
          <a:xfrm>
            <a:off x="1238250" y="2381250"/>
            <a:ext cx="2857500" cy="28575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7" name="Image 2" descr="Código QR ilust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2609850"/>
            <a:ext cx="2400300" cy="24003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123950" y="2266950"/>
            <a:ext cx="419100" cy="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23950" y="2266950"/>
            <a:ext cx="0" cy="41910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790950" y="2266950"/>
            <a:ext cx="419100" cy="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210050" y="2266950"/>
            <a:ext cx="0" cy="41910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23950" y="5353050"/>
            <a:ext cx="419100" cy="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23950" y="4933950"/>
            <a:ext cx="0" cy="41910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790950" y="5353050"/>
            <a:ext cx="419100" cy="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210050" y="4933950"/>
            <a:ext cx="0" cy="41910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238250" y="55626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ESCANEA · SOLICITA ACCESO</a:t>
            </a:r>
            <a:endParaRPr lang="en-US" sz="900" dirty="0"/>
          </a:p>
        </p:txBody>
      </p:sp>
      <p:sp>
        <p:nvSpPr>
          <p:cNvPr id="17" name="Tarjeta"/>
          <p:cNvSpPr/>
          <p:nvPr/>
        </p:nvSpPr>
        <p:spPr>
          <a:xfrm>
            <a:off x="4953000" y="2038350"/>
            <a:ext cx="6781800" cy="552450"/>
          </a:xfrm>
          <a:prstGeom prst="roundRect">
            <a:avLst>
              <a:gd name="adj" fmla="val 4965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8" name="Image 3" descr="Icono MapP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209800"/>
            <a:ext cx="209550" cy="2095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2038350"/>
            <a:ext cx="609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Oficina GS1 Venezuela. </a:t>
            </a:r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Los Ruices, Calle Los Laboratorios, Edf. Quorum, Piso 1, Oficina K, Caracas, Venezuela.</a:t>
            </a:r>
            <a:endParaRPr lang="en-US" sz="1150" dirty="0"/>
          </a:p>
        </p:txBody>
      </p:sp>
      <p:sp>
        <p:nvSpPr>
          <p:cNvPr id="20" name="Tarjeta"/>
          <p:cNvSpPr/>
          <p:nvPr/>
        </p:nvSpPr>
        <p:spPr>
          <a:xfrm>
            <a:off x="4953000" y="2724150"/>
            <a:ext cx="6781800" cy="419100"/>
          </a:xfrm>
          <a:prstGeom prst="roundRect">
            <a:avLst>
              <a:gd name="adj" fmla="val 6545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1" name="Image 4" descr="Icono Ph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828925"/>
            <a:ext cx="209550" cy="20955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0" y="27241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+58 414-2771877  /  +58 412-628-3276</a:t>
            </a:r>
            <a:endParaRPr lang="en-US" sz="1100" dirty="0"/>
          </a:p>
        </p:txBody>
      </p:sp>
      <p:sp>
        <p:nvSpPr>
          <p:cNvPr id="23" name="Tarjeta"/>
          <p:cNvSpPr/>
          <p:nvPr/>
        </p:nvSpPr>
        <p:spPr>
          <a:xfrm>
            <a:off x="4953000" y="3276600"/>
            <a:ext cx="6781800" cy="628650"/>
          </a:xfrm>
          <a:prstGeom prst="roundRect">
            <a:avLst>
              <a:gd name="adj" fmla="val 4363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4" name="Image 5" descr="Icono Mai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486150"/>
            <a:ext cx="209550" cy="20955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0" y="3276600"/>
            <a:ext cx="609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Solicituddecodigo@gs1ve.org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Glabrador@gs1ve.org · Acastro@gs1ve.org</a:t>
            </a:r>
            <a:endParaRPr lang="en-US" sz="1100" dirty="0"/>
          </a:p>
        </p:txBody>
      </p:sp>
      <p:sp>
        <p:nvSpPr>
          <p:cNvPr id="26" name="Tarjeta"/>
          <p:cNvSpPr/>
          <p:nvPr/>
        </p:nvSpPr>
        <p:spPr>
          <a:xfrm>
            <a:off x="4953000" y="4038600"/>
            <a:ext cx="6781800" cy="419100"/>
          </a:xfrm>
          <a:prstGeom prst="roundRect">
            <a:avLst>
              <a:gd name="adj" fmla="val 6545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7" name="Image 6" descr="Icono Glob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4143375"/>
            <a:ext cx="209550" cy="20955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486400" y="403860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www.gs1ve.org  ·  Instagram @GS1Venezuela  ·  RIF J-00336360-0</a:t>
            </a:r>
            <a:endParaRPr lang="en-US" sz="1150" dirty="0"/>
          </a:p>
        </p:txBody>
      </p:sp>
      <p:sp>
        <p:nvSpPr>
          <p:cNvPr id="29" name="Text 20"/>
          <p:cNvSpPr txBox="1"/>
          <p:nvPr/>
        </p:nvSpPr>
        <p:spPr>
          <a:xfrm>
            <a:off x="4953000" y="51435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Datos estándar, </a:t>
            </a:r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decisiones seguras.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S1 Healthcare">
  <a:themeElements>
    <a:clrScheme name="GS1 Healthcare">
      <a:dk1>
        <a:srgbClr val="0B132B"/>
      </a:dk1>
      <a:lt1>
        <a:srgbClr val="FFFFFF"/>
      </a:lt1>
      <a:dk2>
        <a:srgbClr val="002C6C"/>
      </a:dk2>
      <a:lt2>
        <a:srgbClr val="F8FAFC"/>
      </a:lt2>
      <a:accent1>
        <a:srgbClr val="1CA9C9"/>
      </a:accent1>
      <a:accent2>
        <a:srgbClr val="F26334"/>
      </a:accent2>
      <a:accent3>
        <a:srgbClr val="00A79D"/>
      </a:accent3>
      <a:accent4>
        <a:srgbClr val="10B981"/>
      </a:accent4>
      <a:accent5>
        <a:srgbClr val="EF4444"/>
      </a:accent5>
      <a:accent6>
        <a:srgbClr val="0097B2"/>
      </a:accent6>
      <a:hlink>
        <a:srgbClr val="0097B2"/>
      </a:hlink>
      <a:folHlink>
        <a:srgbClr val="002C6C"/>
      </a:folHlink>
    </a:clrScheme>
    <a:fontScheme name="GS1 Healthca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GS1 Venezuela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Salud GS1</dc:title>
  <dc:subject>PptxGenJS Presentation</dc:subject>
  <dc:creator>GS1 Venezuela</dc:creator>
  <cp:lastModifiedBy>GS1 Venezuela</cp:lastModifiedBy>
  <cp:revision>1</cp:revision>
  <dcterms:created xsi:type="dcterms:W3CDTF">2026-10-29T14:17:07Z</dcterms:created>
  <dcterms:modified xsi:type="dcterms:W3CDTF">2026-10-29T14:17:07Z</dcterms:modified>
</cp:coreProperties>
</file>