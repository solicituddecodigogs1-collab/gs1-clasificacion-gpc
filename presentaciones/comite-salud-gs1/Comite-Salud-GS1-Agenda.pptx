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Reemplazar los marcadores de foto (cápsula y círculo) por fotos de atención médica.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image" Target="../media/GS1_OSCURO-image-3.png"/><Relationship Id="rId4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S1_CLARO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S1 Venezue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7000"/>
            <a:ext cx="952500" cy="2667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38500" y="653415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Comité Salud GS1 · 5 Nov 2026 · www.gs1ve.org</a:t>
            </a:r>
            <a:endParaRPr lang="en-US" sz="900" dirty="0"/>
          </a:p>
        </p:txBody>
      </p:sp>
      <p:pic>
        <p:nvPicPr>
          <p:cNvPr id="4" name="Image 1" descr="Onda decorativ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2250" y="0"/>
            <a:ext cx="1809750" cy="81915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57200" y="495300"/>
            <a:ext cx="9144000" cy="7239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6334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S1_OSCURO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S1 Venezue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7000"/>
            <a:ext cx="952500" cy="2667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38500" y="653415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Comité Salud GS1 · 5 Nov 2026 · www.gs1ve.org</a:t>
            </a:r>
            <a:endParaRPr lang="en-US" sz="900" dirty="0"/>
          </a:p>
        </p:txBody>
      </p:sp>
      <p:pic>
        <p:nvPicPr>
          <p:cNvPr id="4" name="Image 1" descr="Onda decorativ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2250" y="0"/>
            <a:ext cx="1809750" cy="81915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57200" y="495300"/>
            <a:ext cx="9525000" cy="7239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6334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S1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6334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slideLayout" Target="../slideLayouts/slideLayout4.xml"/><Relationship Id="rId1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ndas corporativ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Logo GS1 Venezue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323850"/>
            <a:ext cx="1905000" cy="533400"/>
          </a:xfrm>
          <a:prstGeom prst="rect">
            <a:avLst/>
          </a:prstGeom>
        </p:spPr>
      </p:pic>
      <p:sp>
        <p:nvSpPr>
          <p:cNvPr id="4" name="Título"/>
          <p:cNvSpPr txBox="1"/>
          <p:nvPr/>
        </p:nvSpPr>
        <p:spPr>
          <a:xfrm>
            <a:off x="533400" y="1028700"/>
            <a:ext cx="5905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COMITÉ</a:t>
            </a:r>
            <a:endParaRPr lang="en-US" sz="6900" dirty="0"/>
          </a:p>
        </p:txBody>
      </p:sp>
      <p:sp>
        <p:nvSpPr>
          <p:cNvPr id="5" name="Text 1"/>
          <p:cNvSpPr txBox="1"/>
          <p:nvPr/>
        </p:nvSpPr>
        <p:spPr>
          <a:xfrm>
            <a:off x="533400" y="1962150"/>
            <a:ext cx="5905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Salud GS1</a:t>
            </a:r>
            <a:endParaRPr lang="en-US" sz="5800" dirty="0"/>
          </a:p>
        </p:txBody>
      </p:sp>
      <p:sp>
        <p:nvSpPr>
          <p:cNvPr id="6" name="Icono BrainCircuit"/>
          <p:cNvSpPr/>
          <p:nvPr/>
        </p:nvSpPr>
        <p:spPr>
          <a:xfrm>
            <a:off x="533400" y="3028950"/>
            <a:ext cx="342900" cy="342900"/>
          </a:xfrm>
          <a:prstGeom prst="ellipse">
            <a:avLst/>
          </a:prstGeom>
          <a:solidFill>
            <a:srgbClr val="002C6C"/>
          </a:solidFill>
          <a:ln/>
        </p:spPr>
      </p:sp>
      <p:pic>
        <p:nvPicPr>
          <p:cNvPr id="7" name="Image 2" descr="Icono BrainCircui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696" y="3111246"/>
            <a:ext cx="178308" cy="178308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990600" y="3009900"/>
            <a:ext cx="5905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1. </a:t>
            </a:r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Rastreo Inteligente: IA Aplicada a la Trazabilidad Médica.</a:t>
            </a:r>
            <a:endParaRPr lang="en-US" sz="1200" dirty="0"/>
          </a:p>
        </p:txBody>
      </p:sp>
      <p:sp>
        <p:nvSpPr>
          <p:cNvPr id="9" name="Icono ShieldPlus"/>
          <p:cNvSpPr/>
          <p:nvPr/>
        </p:nvSpPr>
        <p:spPr>
          <a:xfrm>
            <a:off x="533400" y="3524250"/>
            <a:ext cx="342900" cy="342900"/>
          </a:xfrm>
          <a:prstGeom prst="ellipse">
            <a:avLst/>
          </a:prstGeom>
          <a:solidFill>
            <a:srgbClr val="1CA9C9"/>
          </a:solidFill>
          <a:ln/>
        </p:spPr>
      </p:sp>
      <p:pic>
        <p:nvPicPr>
          <p:cNvPr id="10" name="Image 3" descr="Icono ShieldPl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696" y="3606546"/>
            <a:ext cx="178308" cy="178308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990600" y="3505200"/>
            <a:ext cx="5905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2. </a:t>
            </a:r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Seguridad del paciente, eficiencia de la cadena de suministro y trazabilidad de medicamentos.</a:t>
            </a:r>
            <a:endParaRPr lang="en-US" sz="1200" dirty="0"/>
          </a:p>
        </p:txBody>
      </p:sp>
      <p:sp>
        <p:nvSpPr>
          <p:cNvPr id="12" name="Icono Newspaper"/>
          <p:cNvSpPr/>
          <p:nvPr/>
        </p:nvSpPr>
        <p:spPr>
          <a:xfrm>
            <a:off x="533400" y="4019550"/>
            <a:ext cx="342900" cy="342900"/>
          </a:xfrm>
          <a:prstGeom prst="ellipse">
            <a:avLst/>
          </a:prstGeom>
          <a:solidFill>
            <a:srgbClr val="002C6C"/>
          </a:solidFill>
          <a:ln/>
        </p:spPr>
      </p:sp>
      <p:pic>
        <p:nvPicPr>
          <p:cNvPr id="13" name="Image 4" descr="Icono Newspa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696" y="4101846"/>
            <a:ext cx="178308" cy="17830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990600" y="4000500"/>
            <a:ext cx="5905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3. </a:t>
            </a:r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GS1 News.</a:t>
            </a:r>
            <a:endParaRPr lang="en-US" sz="1200" dirty="0"/>
          </a:p>
        </p:txBody>
      </p:sp>
      <p:sp>
        <p:nvSpPr>
          <p:cNvPr id="15" name="Icono MessagesSquare"/>
          <p:cNvSpPr/>
          <p:nvPr/>
        </p:nvSpPr>
        <p:spPr>
          <a:xfrm>
            <a:off x="533400" y="4514850"/>
            <a:ext cx="342900" cy="342900"/>
          </a:xfrm>
          <a:prstGeom prst="ellipse">
            <a:avLst/>
          </a:prstGeom>
          <a:solidFill>
            <a:srgbClr val="1CA9C9"/>
          </a:solidFill>
          <a:ln/>
        </p:spPr>
      </p:sp>
      <p:pic>
        <p:nvPicPr>
          <p:cNvPr id="16" name="Image 5" descr="Icono MessagesSqua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696" y="4597146"/>
            <a:ext cx="178308" cy="178308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990600" y="4495800"/>
            <a:ext cx="5905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4. </a:t>
            </a:r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Ronda Abierta.</a:t>
            </a:r>
            <a:endParaRPr lang="en-US" sz="1200" dirty="0"/>
          </a:p>
        </p:txBody>
      </p:sp>
      <p:sp>
        <p:nvSpPr>
          <p:cNvPr id="18" name="Tarjeta"/>
          <p:cNvSpPr/>
          <p:nvPr/>
        </p:nvSpPr>
        <p:spPr>
          <a:xfrm>
            <a:off x="533400" y="5467350"/>
            <a:ext cx="6381750" cy="1066800"/>
          </a:xfrm>
          <a:prstGeom prst="roundRect">
            <a:avLst>
              <a:gd name="adj" fmla="val 25714"/>
            </a:avLst>
          </a:prstGeom>
          <a:solidFill>
            <a:schemeClr val="accent1"/>
          </a:solidFill>
          <a:ln w="9525">
            <a:solidFill>
              <a:srgbClr val="1CA9C9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19" name="Image 6" descr="Icono CalendarDay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5619750"/>
            <a:ext cx="209550" cy="20955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1047750" y="5600700"/>
            <a:ext cx="1905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 Noviembre, 2026</a:t>
            </a:r>
            <a:endParaRPr lang="en-US" sz="1600" dirty="0"/>
          </a:p>
        </p:txBody>
      </p:sp>
      <p:pic>
        <p:nvPicPr>
          <p:cNvPr id="21" name="Image 7" descr="Icono Clo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0" y="5981700"/>
            <a:ext cx="171450" cy="171450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1047750" y="596265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8:30 am – 10:00 am</a:t>
            </a:r>
            <a:endParaRPr lang="en-US" sz="1200" dirty="0"/>
          </a:p>
        </p:txBody>
      </p:sp>
      <p:sp>
        <p:nvSpPr>
          <p:cNvPr id="23" name="Shape 13"/>
          <p:cNvSpPr/>
          <p:nvPr/>
        </p:nvSpPr>
        <p:spPr>
          <a:xfrm>
            <a:off x="3143250" y="5638800"/>
            <a:ext cx="0" cy="723900"/>
          </a:xfrm>
          <a:prstGeom prst="line">
            <a:avLst/>
          </a:prstGeom>
          <a:noFill/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pic>
        <p:nvPicPr>
          <p:cNvPr id="24" name="Image 8" descr="Icono MapPi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33750" y="5657850"/>
            <a:ext cx="209550" cy="209550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3619500" y="5619750"/>
            <a:ext cx="314325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Oficina GS1 Venezuela. </a:t>
            </a:r>
            <a:pPr algn="l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Los Ruices, Calle Los Laboratorios, Edf. Quorum, Piso 1, Oficina K (Caracas).</a:t>
            </a:r>
            <a:endParaRPr lang="en-US" sz="1100" dirty="0"/>
          </a:p>
        </p:txBody>
      </p:sp>
      <p:sp>
        <p:nvSpPr>
          <p:cNvPr id="26" name="FOTO (reemplazar): atención médica"/>
          <p:cNvSpPr/>
          <p:nvPr/>
        </p:nvSpPr>
        <p:spPr>
          <a:xfrm rot="360000">
            <a:off x="8096250" y="1428750"/>
            <a:ext cx="2476500" cy="4000500"/>
          </a:xfrm>
          <a:prstGeom prst="roundRect">
            <a:avLst>
              <a:gd name="adj" fmla="val 12923"/>
            </a:avLst>
          </a:prstGeom>
          <a:solidFill>
            <a:schemeClr val="accent6"/>
          </a:solidFill>
          <a:ln w="3810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27" name="Image 9" descr="Icono Stethoscop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63965" y="2958465"/>
            <a:ext cx="941070" cy="941070"/>
          </a:xfrm>
          <a:prstGeom prst="rect">
            <a:avLst/>
          </a:prstGeom>
        </p:spPr>
      </p:pic>
      <p:sp>
        <p:nvSpPr>
          <p:cNvPr id="28" name="Etiqueta foto"/>
          <p:cNvSpPr txBox="1"/>
          <p:nvPr/>
        </p:nvSpPr>
        <p:spPr>
          <a:xfrm>
            <a:off x="8172450" y="5181600"/>
            <a:ext cx="23241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Insertar foto: atención médica</a:t>
            </a:r>
            <a:endParaRPr lang="en-US" sz="800" dirty="0"/>
          </a:p>
        </p:txBody>
      </p:sp>
      <p:sp>
        <p:nvSpPr>
          <p:cNvPr id="29" name="FOTO (reemplazar): médico"/>
          <p:cNvSpPr/>
          <p:nvPr/>
        </p:nvSpPr>
        <p:spPr>
          <a:xfrm>
            <a:off x="7048500" y="3028950"/>
            <a:ext cx="2190750" cy="2190750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30" name="Image 10" descr="Icono Us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27633" y="3708083"/>
            <a:ext cx="832485" cy="832485"/>
          </a:xfrm>
          <a:prstGeom prst="rect">
            <a:avLst/>
          </a:prstGeom>
        </p:spPr>
      </p:pic>
      <p:sp>
        <p:nvSpPr>
          <p:cNvPr id="31" name="Etiqueta foto"/>
          <p:cNvSpPr txBox="1"/>
          <p:nvPr/>
        </p:nvSpPr>
        <p:spPr>
          <a:xfrm>
            <a:off x="7124700" y="4972050"/>
            <a:ext cx="20383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Insertar foto: médico</a:t>
            </a:r>
            <a:endParaRPr lang="en-US" sz="800" dirty="0"/>
          </a:p>
        </p:txBody>
      </p:sp>
      <p:sp>
        <p:nvSpPr>
          <p:cNvPr id="32" name="Círculo"/>
          <p:cNvSpPr/>
          <p:nvPr/>
        </p:nvSpPr>
        <p:spPr>
          <a:xfrm>
            <a:off x="8905875" y="2714625"/>
            <a:ext cx="552450" cy="552450"/>
          </a:xfrm>
          <a:prstGeom prst="ellipse">
            <a:avLst/>
          </a:prstGeom>
          <a:solidFill>
            <a:schemeClr val="bg1"/>
          </a:solidFill>
          <a:ln w="38100">
            <a:solidFill>
              <a:srgbClr val="1CA9C9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33" name="Text 20"/>
          <p:cNvSpPr txBox="1"/>
          <p:nvPr/>
        </p:nvSpPr>
        <p:spPr>
          <a:xfrm>
            <a:off x="8905875" y="2714625"/>
            <a:ext cx="5524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+</a:t>
            </a:r>
            <a:endParaRPr lang="en-US" sz="3400" dirty="0"/>
          </a:p>
        </p:txBody>
      </p:sp>
      <p:sp>
        <p:nvSpPr>
          <p:cNvPr id="34" name="Icono ShieldCheck"/>
          <p:cNvSpPr/>
          <p:nvPr/>
        </p:nvSpPr>
        <p:spPr>
          <a:xfrm>
            <a:off x="10382250" y="123825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5" name="Image 11" descr="Icono ShieldCheck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91978" y="1347978"/>
            <a:ext cx="237744" cy="237744"/>
          </a:xfrm>
          <a:prstGeom prst="rect">
            <a:avLst/>
          </a:prstGeom>
        </p:spPr>
      </p:pic>
      <p:pic>
        <p:nvPicPr>
          <p:cNvPr id="36" name="Image 12" descr="Icono Phon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20250" y="6324600"/>
            <a:ext cx="152400" cy="152400"/>
          </a:xfrm>
          <a:prstGeom prst="rect">
            <a:avLst/>
          </a:prstGeom>
        </p:spPr>
      </p:pic>
      <p:sp>
        <p:nvSpPr>
          <p:cNvPr id="37" name="Text 22"/>
          <p:cNvSpPr txBox="1"/>
          <p:nvPr/>
        </p:nvSpPr>
        <p:spPr>
          <a:xfrm>
            <a:off x="9829800" y="630555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+58 414 2771877</a:t>
            </a:r>
            <a:endParaRPr lang="en-US" sz="1100" dirty="0"/>
          </a:p>
        </p:txBody>
      </p:sp>
      <p:pic>
        <p:nvPicPr>
          <p:cNvPr id="38" name="Image 13" descr="Icono Globe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20250" y="6553200"/>
            <a:ext cx="152400" cy="152400"/>
          </a:xfrm>
          <a:prstGeom prst="rect">
            <a:avLst/>
          </a:prstGeom>
        </p:spPr>
      </p:pic>
      <p:sp>
        <p:nvSpPr>
          <p:cNvPr id="39" name="Text 23"/>
          <p:cNvSpPr txBox="1"/>
          <p:nvPr/>
        </p:nvSpPr>
        <p:spPr>
          <a:xfrm>
            <a:off x="9829800" y="653415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www.gs1ve.org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667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COMITÉ SALUD GS1 · 5 NOVIEMBRE 2026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495300"/>
            <a:ext cx="9144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Agenda </a:t>
            </a:r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hoy</a:t>
            </a:r>
            <a:endParaRPr lang="en-US" sz="2600" dirty="0"/>
          </a:p>
        </p:txBody>
      </p:sp>
      <p:sp>
        <p:nvSpPr>
          <p:cNvPr id="4" name="Tarjeta"/>
          <p:cNvSpPr/>
          <p:nvPr/>
        </p:nvSpPr>
        <p:spPr>
          <a:xfrm>
            <a:off x="457200" y="1428750"/>
            <a:ext cx="2667000" cy="36195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5" name="Insignia 1"/>
          <p:cNvSpPr/>
          <p:nvPr/>
        </p:nvSpPr>
        <p:spPr>
          <a:xfrm>
            <a:off x="647700" y="1600200"/>
            <a:ext cx="381000" cy="381000"/>
          </a:xfrm>
          <a:prstGeom prst="ellipse">
            <a:avLst/>
          </a:prstGeom>
          <a:solidFill>
            <a:srgbClr val="002C6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7700" y="16002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Icono BrainCircuit"/>
          <p:cNvSpPr/>
          <p:nvPr/>
        </p:nvSpPr>
        <p:spPr>
          <a:xfrm>
            <a:off x="2457450" y="1600200"/>
            <a:ext cx="476250" cy="476250"/>
          </a:xfrm>
          <a:prstGeom prst="ellipse">
            <a:avLst/>
          </a:prstGeom>
          <a:solidFill>
            <a:srgbClr val="002C6C"/>
          </a:solidFill>
          <a:ln/>
        </p:spPr>
      </p:sp>
      <p:pic>
        <p:nvPicPr>
          <p:cNvPr id="8" name="Image 0" descr="Icono BrainCircu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1750" y="1714500"/>
            <a:ext cx="247650" cy="24765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7700" y="2190750"/>
            <a:ext cx="228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Rastreo Inteligente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7700" y="2705100"/>
            <a:ext cx="228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IA aplicada a la trazabilidad médica</a:t>
            </a:r>
            <a:endParaRPr lang="en-US" sz="1100" dirty="0"/>
          </a:p>
        </p:txBody>
      </p:sp>
      <p:sp>
        <p:nvSpPr>
          <p:cNvPr id="11" name="Viñeta"/>
          <p:cNvSpPr/>
          <p:nvPr/>
        </p:nvSpPr>
        <p:spPr>
          <a:xfrm>
            <a:off x="666750" y="3295650"/>
            <a:ext cx="76200" cy="76200"/>
          </a:xfrm>
          <a:prstGeom prst="ellipse">
            <a:avLst/>
          </a:prstGeom>
          <a:solidFill>
            <a:srgbClr val="002C6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38200" y="3200400"/>
            <a:ext cx="2133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</a:rPr>
              <a:t>Datos estándar + IA</a:t>
            </a:r>
            <a:endParaRPr lang="en-US" sz="1150" dirty="0"/>
          </a:p>
        </p:txBody>
      </p:sp>
      <p:sp>
        <p:nvSpPr>
          <p:cNvPr id="13" name="Viñeta"/>
          <p:cNvSpPr/>
          <p:nvPr/>
        </p:nvSpPr>
        <p:spPr>
          <a:xfrm>
            <a:off x="666750" y="3790950"/>
            <a:ext cx="76200" cy="76200"/>
          </a:xfrm>
          <a:prstGeom prst="ellipse">
            <a:avLst/>
          </a:prstGeom>
          <a:solidFill>
            <a:srgbClr val="002C6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38200" y="3695700"/>
            <a:ext cx="2133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</a:rPr>
              <a:t>Predicción, visión artificial y anomalías</a:t>
            </a:r>
            <a:endParaRPr lang="en-US" sz="1150" dirty="0"/>
          </a:p>
        </p:txBody>
      </p:sp>
      <p:sp>
        <p:nvSpPr>
          <p:cNvPr id="15" name="Tarjeta"/>
          <p:cNvSpPr/>
          <p:nvPr/>
        </p:nvSpPr>
        <p:spPr>
          <a:xfrm>
            <a:off x="3327368" y="1428750"/>
            <a:ext cx="2667000" cy="36195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16" name="Insignia 2"/>
          <p:cNvSpPr/>
          <p:nvPr/>
        </p:nvSpPr>
        <p:spPr>
          <a:xfrm>
            <a:off x="3517868" y="1600200"/>
            <a:ext cx="381000" cy="381000"/>
          </a:xfrm>
          <a:prstGeom prst="ellipse">
            <a:avLst/>
          </a:prstGeom>
          <a:solidFill>
            <a:srgbClr val="1CA9C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517868" y="16002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Icono ShieldPlus"/>
          <p:cNvSpPr/>
          <p:nvPr/>
        </p:nvSpPr>
        <p:spPr>
          <a:xfrm>
            <a:off x="5327618" y="1600200"/>
            <a:ext cx="476250" cy="476250"/>
          </a:xfrm>
          <a:prstGeom prst="ellipse">
            <a:avLst/>
          </a:prstGeom>
          <a:solidFill>
            <a:srgbClr val="1CA9C9"/>
          </a:solidFill>
          <a:ln/>
        </p:spPr>
      </p:sp>
      <p:pic>
        <p:nvPicPr>
          <p:cNvPr id="19" name="Image 1" descr="Icono ShieldPl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918" y="1714500"/>
            <a:ext cx="247650" cy="24765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3517868" y="2190750"/>
            <a:ext cx="228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Seguridad, cadena y trazabilidad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3517868" y="2705100"/>
            <a:ext cx="228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Pacientes, suministro y medicamentos</a:t>
            </a:r>
            <a:endParaRPr lang="en-US" sz="1100" dirty="0"/>
          </a:p>
        </p:txBody>
      </p:sp>
      <p:sp>
        <p:nvSpPr>
          <p:cNvPr id="22" name="Viñeta"/>
          <p:cNvSpPr/>
          <p:nvPr/>
        </p:nvSpPr>
        <p:spPr>
          <a:xfrm>
            <a:off x="3536918" y="3295650"/>
            <a:ext cx="76200" cy="76200"/>
          </a:xfrm>
          <a:prstGeom prst="ellipse">
            <a:avLst/>
          </a:prstGeom>
          <a:solidFill>
            <a:srgbClr val="1CA9C9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3708368" y="3200400"/>
            <a:ext cx="2133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</a:rPr>
              <a:t>Los 5 Correctos (BCMA)</a:t>
            </a:r>
            <a:endParaRPr lang="en-US" sz="1150" dirty="0"/>
          </a:p>
        </p:txBody>
      </p:sp>
      <p:sp>
        <p:nvSpPr>
          <p:cNvPr id="24" name="Viñeta"/>
          <p:cNvSpPr/>
          <p:nvPr/>
        </p:nvSpPr>
        <p:spPr>
          <a:xfrm>
            <a:off x="3536918" y="3790950"/>
            <a:ext cx="76200" cy="76200"/>
          </a:xfrm>
          <a:prstGeom prst="ellipse">
            <a:avLst/>
          </a:prstGeom>
          <a:solidFill>
            <a:srgbClr val="1CA9C9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3708368" y="3695700"/>
            <a:ext cx="2133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</a:rPr>
              <a:t>Eficiencia de la cadena</a:t>
            </a:r>
            <a:endParaRPr lang="en-US" sz="1150" dirty="0"/>
          </a:p>
        </p:txBody>
      </p:sp>
      <p:sp>
        <p:nvSpPr>
          <p:cNvPr id="26" name="Viñeta"/>
          <p:cNvSpPr/>
          <p:nvPr/>
        </p:nvSpPr>
        <p:spPr>
          <a:xfrm>
            <a:off x="3536918" y="4286250"/>
            <a:ext cx="76200" cy="76200"/>
          </a:xfrm>
          <a:prstGeom prst="ellipse">
            <a:avLst/>
          </a:prstGeom>
          <a:solidFill>
            <a:srgbClr val="1CA9C9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3708368" y="4191000"/>
            <a:ext cx="2133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</a:rPr>
              <a:t>De EAN-13 a 2D: DataMatrix y QR GS1</a:t>
            </a:r>
            <a:endParaRPr lang="en-US" sz="1150" dirty="0"/>
          </a:p>
        </p:txBody>
      </p:sp>
      <p:sp>
        <p:nvSpPr>
          <p:cNvPr id="28" name="Tarjeta"/>
          <p:cNvSpPr/>
          <p:nvPr/>
        </p:nvSpPr>
        <p:spPr>
          <a:xfrm>
            <a:off x="6197537" y="1428750"/>
            <a:ext cx="2667000" cy="36195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29" name="Insignia 3"/>
          <p:cNvSpPr/>
          <p:nvPr/>
        </p:nvSpPr>
        <p:spPr>
          <a:xfrm>
            <a:off x="6388036" y="1600200"/>
            <a:ext cx="381000" cy="381000"/>
          </a:xfrm>
          <a:prstGeom prst="ellipse">
            <a:avLst/>
          </a:prstGeom>
          <a:solidFill>
            <a:srgbClr val="F26334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6388036" y="16002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400" dirty="0"/>
          </a:p>
        </p:txBody>
      </p:sp>
      <p:sp>
        <p:nvSpPr>
          <p:cNvPr id="31" name="Icono Newspaper"/>
          <p:cNvSpPr/>
          <p:nvPr/>
        </p:nvSpPr>
        <p:spPr>
          <a:xfrm>
            <a:off x="8197787" y="1600200"/>
            <a:ext cx="476250" cy="476250"/>
          </a:xfrm>
          <a:prstGeom prst="ellipse">
            <a:avLst/>
          </a:prstGeom>
          <a:solidFill>
            <a:srgbClr val="F26334"/>
          </a:solidFill>
          <a:ln/>
        </p:spPr>
      </p:sp>
      <p:pic>
        <p:nvPicPr>
          <p:cNvPr id="32" name="Image 2" descr="Icono Newspap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2087" y="1714500"/>
            <a:ext cx="247650" cy="24765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6388036" y="2190750"/>
            <a:ext cx="228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GS1 News</a:t>
            </a:r>
            <a:endParaRPr lang="en-US" sz="1500" dirty="0"/>
          </a:p>
        </p:txBody>
      </p:sp>
      <p:sp>
        <p:nvSpPr>
          <p:cNvPr id="34" name="Text 29"/>
          <p:cNvSpPr txBox="1"/>
          <p:nvPr/>
        </p:nvSpPr>
        <p:spPr>
          <a:xfrm>
            <a:off x="6388036" y="2705100"/>
            <a:ext cx="228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Novedades y hoja de ruta</a:t>
            </a:r>
            <a:endParaRPr lang="en-US" sz="1100" dirty="0"/>
          </a:p>
        </p:txBody>
      </p:sp>
      <p:sp>
        <p:nvSpPr>
          <p:cNvPr id="35" name="Viñeta"/>
          <p:cNvSpPr/>
          <p:nvPr/>
        </p:nvSpPr>
        <p:spPr>
          <a:xfrm>
            <a:off x="6407087" y="3295650"/>
            <a:ext cx="76200" cy="76200"/>
          </a:xfrm>
          <a:prstGeom prst="ellipse">
            <a:avLst/>
          </a:prstGeom>
          <a:solidFill>
            <a:srgbClr val="F26334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6578537" y="3200400"/>
            <a:ext cx="2133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</a:rPr>
              <a:t>Sunrise 2027</a:t>
            </a:r>
            <a:endParaRPr lang="en-US" sz="1150" dirty="0"/>
          </a:p>
        </p:txBody>
      </p:sp>
      <p:sp>
        <p:nvSpPr>
          <p:cNvPr id="37" name="Viñeta"/>
          <p:cNvSpPr/>
          <p:nvPr/>
        </p:nvSpPr>
        <p:spPr>
          <a:xfrm>
            <a:off x="6407087" y="3790950"/>
            <a:ext cx="76200" cy="76200"/>
          </a:xfrm>
          <a:prstGeom prst="ellipse">
            <a:avLst/>
          </a:prstGeom>
          <a:solidFill>
            <a:srgbClr val="F26334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6578537" y="3695700"/>
            <a:ext cx="2133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</a:rPr>
              <a:t>GS1 Digital Link Latam</a:t>
            </a:r>
            <a:endParaRPr lang="en-US" sz="1150" dirty="0"/>
          </a:p>
        </p:txBody>
      </p:sp>
      <p:sp>
        <p:nvSpPr>
          <p:cNvPr id="39" name="Viñeta"/>
          <p:cNvSpPr/>
          <p:nvPr/>
        </p:nvSpPr>
        <p:spPr>
          <a:xfrm>
            <a:off x="6407087" y="4286250"/>
            <a:ext cx="76200" cy="76200"/>
          </a:xfrm>
          <a:prstGeom prst="ellipse">
            <a:avLst/>
          </a:prstGeom>
          <a:solidFill>
            <a:srgbClr val="F26334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6578537" y="4191000"/>
            <a:ext cx="2133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</a:rPr>
              <a:t>EPCIS 2.0</a:t>
            </a:r>
            <a:endParaRPr lang="en-US" sz="1150" dirty="0"/>
          </a:p>
        </p:txBody>
      </p:sp>
      <p:sp>
        <p:nvSpPr>
          <p:cNvPr id="41" name="Tarjeta"/>
          <p:cNvSpPr/>
          <p:nvPr/>
        </p:nvSpPr>
        <p:spPr>
          <a:xfrm>
            <a:off x="9067705" y="1428750"/>
            <a:ext cx="2667000" cy="36195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42" name="Insignia 4"/>
          <p:cNvSpPr/>
          <p:nvPr/>
        </p:nvSpPr>
        <p:spPr>
          <a:xfrm>
            <a:off x="9258205" y="1600200"/>
            <a:ext cx="381000" cy="381000"/>
          </a:xfrm>
          <a:prstGeom prst="ellipse">
            <a:avLst/>
          </a:prstGeom>
          <a:solidFill>
            <a:srgbClr val="00A79D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9258205" y="16002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400" dirty="0"/>
          </a:p>
        </p:txBody>
      </p:sp>
      <p:sp>
        <p:nvSpPr>
          <p:cNvPr id="44" name="Icono MessagesSquare"/>
          <p:cNvSpPr/>
          <p:nvPr/>
        </p:nvSpPr>
        <p:spPr>
          <a:xfrm>
            <a:off x="11067955" y="1600200"/>
            <a:ext cx="476250" cy="476250"/>
          </a:xfrm>
          <a:prstGeom prst="ellipse">
            <a:avLst/>
          </a:prstGeom>
          <a:solidFill>
            <a:srgbClr val="00A79D"/>
          </a:solidFill>
          <a:ln/>
        </p:spPr>
      </p:sp>
      <p:pic>
        <p:nvPicPr>
          <p:cNvPr id="45" name="Image 3" descr="Icono MessagesSqua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2255" y="1714500"/>
            <a:ext cx="247650" cy="247650"/>
          </a:xfrm>
          <a:prstGeom prst="rect">
            <a:avLst/>
          </a:prstGeom>
        </p:spPr>
      </p:pic>
      <p:sp>
        <p:nvSpPr>
          <p:cNvPr id="46" name="Text 40"/>
          <p:cNvSpPr txBox="1"/>
          <p:nvPr/>
        </p:nvSpPr>
        <p:spPr>
          <a:xfrm>
            <a:off x="9258205" y="2190750"/>
            <a:ext cx="228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Ronda Abierta</a:t>
            </a:r>
            <a:endParaRPr lang="en-US" sz="1500" dirty="0"/>
          </a:p>
        </p:txBody>
      </p:sp>
      <p:sp>
        <p:nvSpPr>
          <p:cNvPr id="47" name="Text 41"/>
          <p:cNvSpPr txBox="1"/>
          <p:nvPr/>
        </p:nvSpPr>
        <p:spPr>
          <a:xfrm>
            <a:off x="9258205" y="2705100"/>
            <a:ext cx="228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Mesa de trabajo del Comité</a:t>
            </a:r>
            <a:endParaRPr lang="en-US" sz="1100" dirty="0"/>
          </a:p>
        </p:txBody>
      </p:sp>
      <p:sp>
        <p:nvSpPr>
          <p:cNvPr id="48" name="Viñeta"/>
          <p:cNvSpPr/>
          <p:nvPr/>
        </p:nvSpPr>
        <p:spPr>
          <a:xfrm>
            <a:off x="9277255" y="3295650"/>
            <a:ext cx="76200" cy="76200"/>
          </a:xfrm>
          <a:prstGeom prst="ellipse">
            <a:avLst/>
          </a:prstGeom>
          <a:solidFill>
            <a:srgbClr val="00A79D"/>
          </a:solidFill>
          <a:ln/>
        </p:spPr>
      </p:sp>
      <p:sp>
        <p:nvSpPr>
          <p:cNvPr id="49" name="Text 43"/>
          <p:cNvSpPr txBox="1"/>
          <p:nvPr/>
        </p:nvSpPr>
        <p:spPr>
          <a:xfrm>
            <a:off x="9448705" y="3200400"/>
            <a:ext cx="2133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</a:rPr>
              <a:t>Retos de implementación</a:t>
            </a:r>
            <a:endParaRPr lang="en-US" sz="1150" dirty="0"/>
          </a:p>
        </p:txBody>
      </p:sp>
      <p:sp>
        <p:nvSpPr>
          <p:cNvPr id="50" name="Viñeta"/>
          <p:cNvSpPr/>
          <p:nvPr/>
        </p:nvSpPr>
        <p:spPr>
          <a:xfrm>
            <a:off x="9277255" y="3790950"/>
            <a:ext cx="76200" cy="76200"/>
          </a:xfrm>
          <a:prstGeom prst="ellipse">
            <a:avLst/>
          </a:prstGeom>
          <a:solidFill>
            <a:srgbClr val="00A79D"/>
          </a:solidFill>
          <a:ln/>
        </p:spPr>
      </p:sp>
      <p:sp>
        <p:nvSpPr>
          <p:cNvPr id="51" name="Text 45"/>
          <p:cNvSpPr txBox="1"/>
          <p:nvPr/>
        </p:nvSpPr>
        <p:spPr>
          <a:xfrm>
            <a:off x="9448705" y="3695700"/>
            <a:ext cx="2133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</a:rPr>
              <a:t>Integración y educación</a:t>
            </a:r>
            <a:endParaRPr lang="en-US" sz="1150" dirty="0"/>
          </a:p>
        </p:txBody>
      </p:sp>
      <p:sp>
        <p:nvSpPr>
          <p:cNvPr id="52" name="Viñeta"/>
          <p:cNvSpPr/>
          <p:nvPr/>
        </p:nvSpPr>
        <p:spPr>
          <a:xfrm>
            <a:off x="9277255" y="4286250"/>
            <a:ext cx="76200" cy="76200"/>
          </a:xfrm>
          <a:prstGeom prst="ellipse">
            <a:avLst/>
          </a:prstGeom>
          <a:solidFill>
            <a:srgbClr val="00A79D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9448705" y="4191000"/>
            <a:ext cx="2133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</a:rPr>
              <a:t>Próximos pilotos</a:t>
            </a:r>
            <a:endParaRPr lang="en-US" sz="1150" dirty="0"/>
          </a:p>
        </p:txBody>
      </p:sp>
      <p:sp>
        <p:nvSpPr>
          <p:cNvPr id="54" name="Tarjeta"/>
          <p:cNvSpPr/>
          <p:nvPr/>
        </p:nvSpPr>
        <p:spPr>
          <a:xfrm>
            <a:off x="457200" y="5257800"/>
            <a:ext cx="11277600" cy="666750"/>
          </a:xfrm>
          <a:prstGeom prst="roundRect">
            <a:avLst>
              <a:gd name="adj" fmla="val 41143"/>
            </a:avLst>
          </a:prstGeom>
          <a:solidFill>
            <a:schemeClr val="accent1"/>
          </a:solidFill>
          <a:ln w="9525">
            <a:solidFill>
              <a:srgbClr val="1CA9C9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55" name="Image 4" descr="Icono CalendarDay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486400"/>
            <a:ext cx="209550" cy="209550"/>
          </a:xfrm>
          <a:prstGeom prst="rect">
            <a:avLst/>
          </a:prstGeom>
        </p:spPr>
      </p:pic>
      <p:sp>
        <p:nvSpPr>
          <p:cNvPr id="56" name="Text 49"/>
          <p:cNvSpPr txBox="1"/>
          <p:nvPr/>
        </p:nvSpPr>
        <p:spPr>
          <a:xfrm>
            <a:off x="971550" y="5457825"/>
            <a:ext cx="3619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 Noviembre, 2026 · 8:30 am – 10:00 am</a:t>
            </a:r>
            <a:endParaRPr lang="en-US" sz="1300" dirty="0"/>
          </a:p>
        </p:txBody>
      </p:sp>
      <p:pic>
        <p:nvPicPr>
          <p:cNvPr id="57" name="Image 5" descr="Icono MapPi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2500" y="5486400"/>
            <a:ext cx="209550" cy="209550"/>
          </a:xfrm>
          <a:prstGeom prst="rect">
            <a:avLst/>
          </a:prstGeom>
        </p:spPr>
      </p:pic>
      <p:sp>
        <p:nvSpPr>
          <p:cNvPr id="58" name="Text 50"/>
          <p:cNvSpPr txBox="1"/>
          <p:nvPr/>
        </p:nvSpPr>
        <p:spPr>
          <a:xfrm>
            <a:off x="5048250" y="53911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Oficina GS1 Venezuela · Los Ruices, Calle Los Laboratorios, Edf. Quorum, Piso 1, Oficina K (Caracas)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6334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667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AGENDA · PUNTO 1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495300"/>
            <a:ext cx="9525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Rastreo Inteligente: </a:t>
            </a:r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 IA parte del dato estándar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19200"/>
            <a:ext cx="952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CBD5E1"/>
                </a:solidFill>
              </a:rPr>
              <a:t>Los algoritmos de IA son tan buenos como la calidad de los datos estándar que los alimentan.</a:t>
            </a:r>
            <a:endParaRPr lang="en-US" sz="1300" dirty="0"/>
          </a:p>
        </p:txBody>
      </p:sp>
      <p:sp>
        <p:nvSpPr>
          <p:cNvPr id="5" name="Tarjeta oscura"/>
          <p:cNvSpPr/>
          <p:nvPr/>
        </p:nvSpPr>
        <p:spPr>
          <a:xfrm>
            <a:off x="457200" y="1714500"/>
            <a:ext cx="3467100" cy="3429000"/>
          </a:xfrm>
          <a:prstGeom prst="roundRect">
            <a:avLst>
              <a:gd name="adj" fmla="val 48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6" name="Icono Database"/>
          <p:cNvSpPr/>
          <p:nvPr/>
        </p:nvSpPr>
        <p:spPr>
          <a:xfrm>
            <a:off x="647700" y="1885950"/>
            <a:ext cx="495300" cy="495300"/>
          </a:xfrm>
          <a:prstGeom prst="ellipse">
            <a:avLst/>
          </a:prstGeom>
          <a:solidFill>
            <a:srgbClr val="1CA9C9"/>
          </a:solidFill>
          <a:ln/>
        </p:spPr>
      </p:sp>
      <p:pic>
        <p:nvPicPr>
          <p:cNvPr id="7" name="Image 0" descr="Icono 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6572" y="2004822"/>
            <a:ext cx="257556" cy="25755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76350" y="1905000"/>
            <a:ext cx="2476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 · Datos estándar GS1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276350" y="215265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Identificadores únicos y universales</a:t>
            </a:r>
            <a:endParaRPr lang="en-US" sz="1050" dirty="0"/>
          </a:p>
        </p:txBody>
      </p:sp>
      <p:sp>
        <p:nvSpPr>
          <p:cNvPr id="10" name="Dato GTIN"/>
          <p:cNvSpPr/>
          <p:nvPr/>
        </p:nvSpPr>
        <p:spPr>
          <a:xfrm>
            <a:off x="647700" y="2686050"/>
            <a:ext cx="3086100" cy="457200"/>
          </a:xfrm>
          <a:prstGeom prst="roundRect">
            <a:avLst>
              <a:gd name="adj" fmla="val 24000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2000" y="2686050"/>
            <a:ext cx="1047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GTIN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2686050"/>
            <a:ext cx="1866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qué producto</a:t>
            </a:r>
            <a:endParaRPr lang="en-US" sz="1100" dirty="0"/>
          </a:p>
        </p:txBody>
      </p:sp>
      <p:sp>
        <p:nvSpPr>
          <p:cNvPr id="13" name="Dato GLN"/>
          <p:cNvSpPr/>
          <p:nvPr/>
        </p:nvSpPr>
        <p:spPr>
          <a:xfrm>
            <a:off x="647700" y="3238500"/>
            <a:ext cx="3086100" cy="457200"/>
          </a:xfrm>
          <a:prstGeom prst="roundRect">
            <a:avLst>
              <a:gd name="adj" fmla="val 24000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62000" y="3238500"/>
            <a:ext cx="1047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GLN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828800" y="3238500"/>
            <a:ext cx="1866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dónde (ubicación)</a:t>
            </a:r>
            <a:endParaRPr lang="en-US" sz="1100" dirty="0"/>
          </a:p>
        </p:txBody>
      </p:sp>
      <p:sp>
        <p:nvSpPr>
          <p:cNvPr id="16" name="Dato Lote / Serie"/>
          <p:cNvSpPr/>
          <p:nvPr/>
        </p:nvSpPr>
        <p:spPr>
          <a:xfrm>
            <a:off x="647700" y="3790950"/>
            <a:ext cx="3086100" cy="457200"/>
          </a:xfrm>
          <a:prstGeom prst="roundRect">
            <a:avLst>
              <a:gd name="adj" fmla="val 24000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2000" y="3790950"/>
            <a:ext cx="1047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Lote / Serie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828800" y="3790950"/>
            <a:ext cx="1866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qué unidad</a:t>
            </a:r>
            <a:endParaRPr lang="en-US" sz="1100" dirty="0"/>
          </a:p>
        </p:txBody>
      </p:sp>
      <p:sp>
        <p:nvSpPr>
          <p:cNvPr id="19" name="Dato SSCC"/>
          <p:cNvSpPr/>
          <p:nvPr/>
        </p:nvSpPr>
        <p:spPr>
          <a:xfrm>
            <a:off x="647700" y="4343400"/>
            <a:ext cx="3086100" cy="457200"/>
          </a:xfrm>
          <a:prstGeom prst="roundRect">
            <a:avLst>
              <a:gd name="adj" fmla="val 24000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62000" y="4343400"/>
            <a:ext cx="1047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SSCC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828800" y="4343400"/>
            <a:ext cx="1866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qué envío</a:t>
            </a:r>
            <a:endParaRPr lang="en-US" sz="1100" dirty="0"/>
          </a:p>
        </p:txBody>
      </p:sp>
      <p:sp>
        <p:nvSpPr>
          <p:cNvPr id="22" name="Flecha"/>
          <p:cNvSpPr/>
          <p:nvPr/>
        </p:nvSpPr>
        <p:spPr>
          <a:xfrm>
            <a:off x="4000500" y="3276600"/>
            <a:ext cx="285750" cy="28575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3" name="Tarjeta oscura"/>
          <p:cNvSpPr/>
          <p:nvPr/>
        </p:nvSpPr>
        <p:spPr>
          <a:xfrm>
            <a:off x="4362450" y="1714500"/>
            <a:ext cx="3467100" cy="3429000"/>
          </a:xfrm>
          <a:prstGeom prst="roundRect">
            <a:avLst>
              <a:gd name="adj" fmla="val 48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4" name="Icono Radar"/>
          <p:cNvSpPr/>
          <p:nvPr/>
        </p:nvSpPr>
        <p:spPr>
          <a:xfrm>
            <a:off x="4552950" y="1885950"/>
            <a:ext cx="495300" cy="495300"/>
          </a:xfrm>
          <a:prstGeom prst="ellipse">
            <a:avLst/>
          </a:prstGeom>
          <a:solidFill>
            <a:srgbClr val="F26334"/>
          </a:solidFill>
          <a:ln/>
        </p:spPr>
      </p:sp>
      <p:pic>
        <p:nvPicPr>
          <p:cNvPr id="25" name="Image 1" descr="Icono Ra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1822" y="2004822"/>
            <a:ext cx="257556" cy="2575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5181600" y="1905000"/>
            <a:ext cx="2476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 · Eventos EPCIS 2.0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5181600" y="215265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Cada movimiento queda registrado</a:t>
            </a:r>
            <a:endParaRPr lang="en-US" sz="1050" dirty="0"/>
          </a:p>
        </p:txBody>
      </p:sp>
      <p:sp>
        <p:nvSpPr>
          <p:cNvPr id="28" name="Dato QUÉ"/>
          <p:cNvSpPr/>
          <p:nvPr/>
        </p:nvSpPr>
        <p:spPr>
          <a:xfrm>
            <a:off x="4552950" y="2686050"/>
            <a:ext cx="3086100" cy="457200"/>
          </a:xfrm>
          <a:prstGeom prst="roundRect">
            <a:avLst>
              <a:gd name="adj" fmla="val 24000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4667250" y="2686050"/>
            <a:ext cx="1047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QUÉ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734050" y="2686050"/>
            <a:ext cx="1866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producto y cantidad</a:t>
            </a:r>
            <a:endParaRPr lang="en-US" sz="1100" dirty="0"/>
          </a:p>
        </p:txBody>
      </p:sp>
      <p:sp>
        <p:nvSpPr>
          <p:cNvPr id="31" name="Dato DÓNDE"/>
          <p:cNvSpPr/>
          <p:nvPr/>
        </p:nvSpPr>
        <p:spPr>
          <a:xfrm>
            <a:off x="4552950" y="3238500"/>
            <a:ext cx="3086100" cy="457200"/>
          </a:xfrm>
          <a:prstGeom prst="roundRect">
            <a:avLst>
              <a:gd name="adj" fmla="val 24000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4667250" y="3238500"/>
            <a:ext cx="1047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DÓNDE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5734050" y="3238500"/>
            <a:ext cx="1866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ubicación GLN</a:t>
            </a:r>
            <a:endParaRPr lang="en-US" sz="1100" dirty="0"/>
          </a:p>
        </p:txBody>
      </p:sp>
      <p:sp>
        <p:nvSpPr>
          <p:cNvPr id="34" name="Dato CUÁNDO"/>
          <p:cNvSpPr/>
          <p:nvPr/>
        </p:nvSpPr>
        <p:spPr>
          <a:xfrm>
            <a:off x="4552950" y="3790950"/>
            <a:ext cx="3086100" cy="457200"/>
          </a:xfrm>
          <a:prstGeom prst="roundRect">
            <a:avLst>
              <a:gd name="adj" fmla="val 24000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4667250" y="3790950"/>
            <a:ext cx="1047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CUÁNDO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5734050" y="3790950"/>
            <a:ext cx="1866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fecha y hora</a:t>
            </a:r>
            <a:endParaRPr lang="en-US" sz="1100" dirty="0"/>
          </a:p>
        </p:txBody>
      </p:sp>
      <p:sp>
        <p:nvSpPr>
          <p:cNvPr id="37" name="Dato POR QUÉ"/>
          <p:cNvSpPr/>
          <p:nvPr/>
        </p:nvSpPr>
        <p:spPr>
          <a:xfrm>
            <a:off x="4552950" y="4343400"/>
            <a:ext cx="3086100" cy="457200"/>
          </a:xfrm>
          <a:prstGeom prst="roundRect">
            <a:avLst>
              <a:gd name="adj" fmla="val 24000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4667250" y="4343400"/>
            <a:ext cx="1047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QUÉ</a:t>
            </a:r>
            <a:endParaRPr lang="en-US" sz="1100" dirty="0"/>
          </a:p>
        </p:txBody>
      </p:sp>
      <p:sp>
        <p:nvSpPr>
          <p:cNvPr id="39" name="Text 35"/>
          <p:cNvSpPr txBox="1"/>
          <p:nvPr/>
        </p:nvSpPr>
        <p:spPr>
          <a:xfrm>
            <a:off x="5734050" y="4343400"/>
            <a:ext cx="1866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recepción, despacho, dispensación</a:t>
            </a:r>
            <a:endParaRPr lang="en-US" sz="1100" dirty="0"/>
          </a:p>
        </p:txBody>
      </p:sp>
      <p:sp>
        <p:nvSpPr>
          <p:cNvPr id="40" name="Flecha"/>
          <p:cNvSpPr/>
          <p:nvPr/>
        </p:nvSpPr>
        <p:spPr>
          <a:xfrm>
            <a:off x="7905750" y="3276600"/>
            <a:ext cx="285750" cy="28575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41" name="Tarjeta oscura"/>
          <p:cNvSpPr/>
          <p:nvPr/>
        </p:nvSpPr>
        <p:spPr>
          <a:xfrm>
            <a:off x="8267700" y="1714500"/>
            <a:ext cx="3467100" cy="3429000"/>
          </a:xfrm>
          <a:prstGeom prst="roundRect">
            <a:avLst>
              <a:gd name="adj" fmla="val 48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42" name="Icono Cpu"/>
          <p:cNvSpPr/>
          <p:nvPr/>
        </p:nvSpPr>
        <p:spPr>
          <a:xfrm>
            <a:off x="8458200" y="1885950"/>
            <a:ext cx="495300" cy="495300"/>
          </a:xfrm>
          <a:prstGeom prst="ellipse">
            <a:avLst/>
          </a:prstGeom>
          <a:solidFill>
            <a:srgbClr val="00A79D"/>
          </a:solidFill>
          <a:ln/>
        </p:spPr>
      </p:sp>
      <p:pic>
        <p:nvPicPr>
          <p:cNvPr id="43" name="Image 2" descr="Icono Cpu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7072" y="2004822"/>
            <a:ext cx="257556" cy="257556"/>
          </a:xfrm>
          <a:prstGeom prst="rect">
            <a:avLst/>
          </a:prstGeom>
        </p:spPr>
      </p:pic>
      <p:sp>
        <p:nvSpPr>
          <p:cNvPr id="44" name="Text 39"/>
          <p:cNvSpPr txBox="1"/>
          <p:nvPr/>
        </p:nvSpPr>
        <p:spPr>
          <a:xfrm>
            <a:off x="9086850" y="1905000"/>
            <a:ext cx="2476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 · Inteligencia artificial</a:t>
            </a:r>
            <a:endParaRPr lang="en-US" sz="1400" dirty="0"/>
          </a:p>
        </p:txBody>
      </p:sp>
      <p:sp>
        <p:nvSpPr>
          <p:cNvPr id="45" name="Text 40"/>
          <p:cNvSpPr txBox="1"/>
          <p:nvPr/>
        </p:nvSpPr>
        <p:spPr>
          <a:xfrm>
            <a:off x="9086850" y="215265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Modelos sobre datos confiables</a:t>
            </a:r>
            <a:endParaRPr lang="en-US" sz="1050" dirty="0"/>
          </a:p>
        </p:txBody>
      </p:sp>
      <p:sp>
        <p:nvSpPr>
          <p:cNvPr id="46" name="Dato Predicción"/>
          <p:cNvSpPr/>
          <p:nvPr/>
        </p:nvSpPr>
        <p:spPr>
          <a:xfrm>
            <a:off x="8458200" y="2686050"/>
            <a:ext cx="3086100" cy="457200"/>
          </a:xfrm>
          <a:prstGeom prst="roundRect">
            <a:avLst>
              <a:gd name="adj" fmla="val 24000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8572500" y="2686050"/>
            <a:ext cx="1047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Predicción</a:t>
            </a:r>
            <a:endParaRPr lang="en-US" sz="1100" dirty="0"/>
          </a:p>
        </p:txBody>
      </p:sp>
      <p:sp>
        <p:nvSpPr>
          <p:cNvPr id="48" name="Text 43"/>
          <p:cNvSpPr txBox="1"/>
          <p:nvPr/>
        </p:nvSpPr>
        <p:spPr>
          <a:xfrm>
            <a:off x="9639300" y="2686050"/>
            <a:ext cx="1866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demanda y escasez</a:t>
            </a:r>
            <a:endParaRPr lang="en-US" sz="1100" dirty="0"/>
          </a:p>
        </p:txBody>
      </p:sp>
      <p:sp>
        <p:nvSpPr>
          <p:cNvPr id="49" name="Dato Visión"/>
          <p:cNvSpPr/>
          <p:nvPr/>
        </p:nvSpPr>
        <p:spPr>
          <a:xfrm>
            <a:off x="8458200" y="3238500"/>
            <a:ext cx="3086100" cy="457200"/>
          </a:xfrm>
          <a:prstGeom prst="roundRect">
            <a:avLst>
              <a:gd name="adj" fmla="val 24000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8572500" y="3238500"/>
            <a:ext cx="1047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Visión</a:t>
            </a:r>
            <a:endParaRPr lang="en-US" sz="1100" dirty="0"/>
          </a:p>
        </p:txBody>
      </p:sp>
      <p:sp>
        <p:nvSpPr>
          <p:cNvPr id="51" name="Text 46"/>
          <p:cNvSpPr txBox="1"/>
          <p:nvPr/>
        </p:nvSpPr>
        <p:spPr>
          <a:xfrm>
            <a:off x="9639300" y="3238500"/>
            <a:ext cx="1866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verificación de códigos 2D</a:t>
            </a:r>
            <a:endParaRPr lang="en-US" sz="1100" dirty="0"/>
          </a:p>
        </p:txBody>
      </p:sp>
      <p:sp>
        <p:nvSpPr>
          <p:cNvPr id="52" name="Dato Anomalías"/>
          <p:cNvSpPr/>
          <p:nvPr/>
        </p:nvSpPr>
        <p:spPr>
          <a:xfrm>
            <a:off x="8458200" y="3790950"/>
            <a:ext cx="3086100" cy="457200"/>
          </a:xfrm>
          <a:prstGeom prst="roundRect">
            <a:avLst>
              <a:gd name="adj" fmla="val 24000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8572500" y="3790950"/>
            <a:ext cx="1047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Anomalías</a:t>
            </a:r>
            <a:endParaRPr lang="en-US" sz="1100" dirty="0"/>
          </a:p>
        </p:txBody>
      </p:sp>
      <p:sp>
        <p:nvSpPr>
          <p:cNvPr id="54" name="Text 49"/>
          <p:cNvSpPr txBox="1"/>
          <p:nvPr/>
        </p:nvSpPr>
        <p:spPr>
          <a:xfrm>
            <a:off x="9639300" y="3790950"/>
            <a:ext cx="1866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desvíos y cadena de frío</a:t>
            </a:r>
            <a:endParaRPr lang="en-US" sz="1100" dirty="0"/>
          </a:p>
        </p:txBody>
      </p:sp>
      <p:sp>
        <p:nvSpPr>
          <p:cNvPr id="55" name="Tarjeta oscura"/>
          <p:cNvSpPr/>
          <p:nvPr/>
        </p:nvSpPr>
        <p:spPr>
          <a:xfrm>
            <a:off x="457200" y="5353050"/>
            <a:ext cx="11277600" cy="800100"/>
          </a:xfrm>
          <a:prstGeom prst="roundRect">
            <a:avLst>
              <a:gd name="adj" fmla="val 20571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pic>
        <p:nvPicPr>
          <p:cNvPr id="56" name="Image 3" descr="Icono TriangleAle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581650"/>
            <a:ext cx="285750" cy="285750"/>
          </a:xfrm>
          <a:prstGeom prst="rect">
            <a:avLst/>
          </a:prstGeom>
        </p:spPr>
      </p:pic>
      <p:sp>
        <p:nvSpPr>
          <p:cNvPr id="57" name="Text 51"/>
          <p:cNvSpPr txBox="1"/>
          <p:nvPr/>
        </p:nvSpPr>
        <p:spPr>
          <a:xfrm>
            <a:off x="1104900" y="5391150"/>
            <a:ext cx="10382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Sin estándar, no hay IA confiable: </a:t>
            </a:r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códigos genéricos, datos incompletos o duplicados producen predicciones y alertas poco fiables.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6334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667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AGENDA · PUNTO 1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495300"/>
            <a:ext cx="9525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Tres usos de la IA </a:t>
            </a:r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 GS1 en salud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19200"/>
            <a:ext cx="952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CBD5E1"/>
                </a:solidFill>
              </a:rPr>
              <a:t>Los algoritmos de IA son tan buenos como la calidad de los datos estándar que los alimentan.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76400"/>
            <a:ext cx="571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IA + GS1 · GTIN + GLN + EPCIS 2.0</a:t>
            </a:r>
            <a:endParaRPr lang="en-US" sz="900" dirty="0"/>
          </a:p>
        </p:txBody>
      </p:sp>
      <p:sp>
        <p:nvSpPr>
          <p:cNvPr id="6" name="Tarjeta oscura"/>
          <p:cNvSpPr/>
          <p:nvPr/>
        </p:nvSpPr>
        <p:spPr>
          <a:xfrm>
            <a:off x="457200" y="1924050"/>
            <a:ext cx="5715000" cy="1085850"/>
          </a:xfrm>
          <a:prstGeom prst="roundRect">
            <a:avLst>
              <a:gd name="adj" fmla="val 15158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7" name="Icono ChartLine"/>
          <p:cNvSpPr/>
          <p:nvPr/>
        </p:nvSpPr>
        <p:spPr>
          <a:xfrm>
            <a:off x="628650" y="2114550"/>
            <a:ext cx="457200" cy="457200"/>
          </a:xfrm>
          <a:prstGeom prst="ellipse">
            <a:avLst/>
          </a:prstGeom>
          <a:solidFill>
            <a:srgbClr val="1CA9C9"/>
          </a:solidFill>
          <a:ln/>
        </p:spPr>
      </p:sp>
      <p:pic>
        <p:nvPicPr>
          <p:cNvPr id="8" name="Image 0" descr="Icono Chart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378" y="2224278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8250" y="2076450"/>
            <a:ext cx="4762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Modelos predictivos de demanda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238250" y="23431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Anticipan la escasez de insumos críticos y reactivos en clínicas y hospitales venezolanos.</a:t>
            </a:r>
            <a:endParaRPr lang="en-US" sz="1100" dirty="0"/>
          </a:p>
        </p:txBody>
      </p:sp>
      <p:sp>
        <p:nvSpPr>
          <p:cNvPr id="11" name="Tarjeta oscura"/>
          <p:cNvSpPr/>
          <p:nvPr/>
        </p:nvSpPr>
        <p:spPr>
          <a:xfrm>
            <a:off x="457200" y="3162300"/>
            <a:ext cx="5715000" cy="1085850"/>
          </a:xfrm>
          <a:prstGeom prst="roundRect">
            <a:avLst>
              <a:gd name="adj" fmla="val 15158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2" name="Icono ScanEye"/>
          <p:cNvSpPr/>
          <p:nvPr/>
        </p:nvSpPr>
        <p:spPr>
          <a:xfrm>
            <a:off x="628650" y="3352800"/>
            <a:ext cx="457200" cy="457200"/>
          </a:xfrm>
          <a:prstGeom prst="ellipse">
            <a:avLst/>
          </a:prstGeom>
          <a:solidFill>
            <a:srgbClr val="F26334"/>
          </a:solidFill>
          <a:ln/>
        </p:spPr>
      </p:sp>
      <p:pic>
        <p:nvPicPr>
          <p:cNvPr id="13" name="Image 1" descr="Icono Scan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378" y="3462528"/>
            <a:ext cx="237744" cy="23774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38250" y="3314700"/>
            <a:ext cx="4762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Visión artificial en líneas de empaque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1238250" y="3581400"/>
            <a:ext cx="4762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Verificación a alta velocidad de GS1 DataMatrix y QR GS1 Digital Link.</a:t>
            </a:r>
            <a:endParaRPr lang="en-US" sz="1100" dirty="0"/>
          </a:p>
        </p:txBody>
      </p:sp>
      <p:sp>
        <p:nvSpPr>
          <p:cNvPr id="16" name="Tarjeta oscura"/>
          <p:cNvSpPr/>
          <p:nvPr/>
        </p:nvSpPr>
        <p:spPr>
          <a:xfrm>
            <a:off x="457200" y="4400550"/>
            <a:ext cx="5715000" cy="1085850"/>
          </a:xfrm>
          <a:prstGeom prst="roundRect">
            <a:avLst>
              <a:gd name="adj" fmla="val 15158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7" name="Icono Snowflake"/>
          <p:cNvSpPr/>
          <p:nvPr/>
        </p:nvSpPr>
        <p:spPr>
          <a:xfrm>
            <a:off x="628650" y="4591050"/>
            <a:ext cx="457200" cy="457200"/>
          </a:xfrm>
          <a:prstGeom prst="ellipse">
            <a:avLst/>
          </a:prstGeom>
          <a:solidFill>
            <a:srgbClr val="00A79D"/>
          </a:solidFill>
          <a:ln/>
        </p:spPr>
      </p:sp>
      <p:pic>
        <p:nvPicPr>
          <p:cNvPr id="18" name="Image 2" descr="Icono Snowfl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378" y="4700778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238250" y="4552950"/>
            <a:ext cx="4762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Detección de anomalías con Machine Learning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1238250" y="48196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Alerta temprana de desvíos a canales irregulares y rupturas de cadena de frío (insulinas, vacunas, biológicos).</a:t>
            </a:r>
            <a:endParaRPr lang="en-US" sz="1100" dirty="0"/>
          </a:p>
        </p:txBody>
      </p:sp>
      <p:sp>
        <p:nvSpPr>
          <p:cNvPr id="21" name="FOTO (reemplazar): cadena de suministro"/>
          <p:cNvSpPr/>
          <p:nvPr/>
        </p:nvSpPr>
        <p:spPr>
          <a:xfrm>
            <a:off x="6667500" y="1857375"/>
            <a:ext cx="2047875" cy="2047875"/>
          </a:xfrm>
          <a:prstGeom prst="roundRect">
            <a:avLst>
              <a:gd name="adj" fmla="val 15628"/>
            </a:avLst>
          </a:prstGeom>
          <a:solidFill>
            <a:schemeClr val="accent6"/>
          </a:solidFill>
          <a:ln w="3810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22" name="Image 3" descr="Icono Ware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2341" y="2492216"/>
            <a:ext cx="778193" cy="778193"/>
          </a:xfrm>
          <a:prstGeom prst="rect">
            <a:avLst/>
          </a:prstGeom>
        </p:spPr>
      </p:pic>
      <p:sp>
        <p:nvSpPr>
          <p:cNvPr id="23" name="Etiqueta foto"/>
          <p:cNvSpPr txBox="1"/>
          <p:nvPr/>
        </p:nvSpPr>
        <p:spPr>
          <a:xfrm>
            <a:off x="6743700" y="3657600"/>
            <a:ext cx="18954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Insertar foto: cadena de suministro</a:t>
            </a:r>
            <a:endParaRPr lang="en-US" sz="800" dirty="0"/>
          </a:p>
        </p:txBody>
      </p:sp>
      <p:sp>
        <p:nvSpPr>
          <p:cNvPr id="24" name="Shape 18"/>
          <p:cNvSpPr/>
          <p:nvPr/>
        </p:nvSpPr>
        <p:spPr>
          <a:xfrm flipV="1">
            <a:off x="9191625" y="2047875"/>
            <a:ext cx="762000" cy="190500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9191625" y="2238375"/>
            <a:ext cx="762000" cy="381000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 flipV="1">
            <a:off x="9191625" y="2047875"/>
            <a:ext cx="762000" cy="857250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 flipV="1">
            <a:off x="9191625" y="2619375"/>
            <a:ext cx="762000" cy="285750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9191625" y="2905125"/>
            <a:ext cx="762000" cy="285750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 flipV="1">
            <a:off x="9191625" y="2619375"/>
            <a:ext cx="762000" cy="952500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 flipV="1">
            <a:off x="9191625" y="3190875"/>
            <a:ext cx="762000" cy="381000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9953625" y="2047875"/>
            <a:ext cx="857250" cy="285750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 flipV="1">
            <a:off x="9953625" y="2333625"/>
            <a:ext cx="857250" cy="285750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9953625" y="2619375"/>
            <a:ext cx="857250" cy="285750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 flipV="1">
            <a:off x="9953625" y="2905125"/>
            <a:ext cx="857250" cy="285750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9953625" y="3190875"/>
            <a:ext cx="857250" cy="333375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10810875" y="2333625"/>
            <a:ext cx="714375" cy="333375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 flipV="1">
            <a:off x="10810875" y="2667000"/>
            <a:ext cx="714375" cy="238125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10810875" y="2905125"/>
            <a:ext cx="714375" cy="381000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 flipV="1">
            <a:off x="10810875" y="3286125"/>
            <a:ext cx="714375" cy="238125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40" name="Nodo"/>
          <p:cNvSpPr/>
          <p:nvPr/>
        </p:nvSpPr>
        <p:spPr>
          <a:xfrm>
            <a:off x="9105900" y="2152650"/>
            <a:ext cx="171450" cy="171450"/>
          </a:xfrm>
          <a:prstGeom prst="ellipse">
            <a:avLst/>
          </a:prstGeom>
          <a:solidFill>
            <a:srgbClr val="0B132B"/>
          </a:solidFill>
          <a:ln w="19050">
            <a:solidFill>
              <a:srgbClr val="1CA9C9"/>
            </a:solidFill>
            <a:prstDash val="solid"/>
          </a:ln>
        </p:spPr>
      </p:sp>
      <p:sp>
        <p:nvSpPr>
          <p:cNvPr id="41" name="Nodo"/>
          <p:cNvSpPr/>
          <p:nvPr/>
        </p:nvSpPr>
        <p:spPr>
          <a:xfrm>
            <a:off x="9105900" y="2819400"/>
            <a:ext cx="171450" cy="171450"/>
          </a:xfrm>
          <a:prstGeom prst="ellipse">
            <a:avLst/>
          </a:prstGeom>
          <a:solidFill>
            <a:srgbClr val="0B132B"/>
          </a:solidFill>
          <a:ln w="19050">
            <a:solidFill>
              <a:srgbClr val="1CA9C9"/>
            </a:solidFill>
            <a:prstDash val="solid"/>
          </a:ln>
        </p:spPr>
      </p:sp>
      <p:sp>
        <p:nvSpPr>
          <p:cNvPr id="42" name="Nodo"/>
          <p:cNvSpPr/>
          <p:nvPr/>
        </p:nvSpPr>
        <p:spPr>
          <a:xfrm>
            <a:off x="9105900" y="3486150"/>
            <a:ext cx="171450" cy="171450"/>
          </a:xfrm>
          <a:prstGeom prst="ellipse">
            <a:avLst/>
          </a:prstGeom>
          <a:solidFill>
            <a:srgbClr val="0B132B"/>
          </a:solidFill>
          <a:ln w="19050">
            <a:solidFill>
              <a:srgbClr val="1CA9C9"/>
            </a:solidFill>
            <a:prstDash val="solid"/>
          </a:ln>
        </p:spPr>
      </p:sp>
      <p:sp>
        <p:nvSpPr>
          <p:cNvPr id="43" name="Nodo"/>
          <p:cNvSpPr/>
          <p:nvPr/>
        </p:nvSpPr>
        <p:spPr>
          <a:xfrm>
            <a:off x="9867900" y="1962150"/>
            <a:ext cx="171450" cy="171450"/>
          </a:xfrm>
          <a:prstGeom prst="ellipse">
            <a:avLst/>
          </a:prstGeom>
          <a:solidFill>
            <a:srgbClr val="0B132B"/>
          </a:solidFill>
          <a:ln w="19050">
            <a:solidFill>
              <a:srgbClr val="1CA9C9"/>
            </a:solidFill>
            <a:prstDash val="solid"/>
          </a:ln>
        </p:spPr>
      </p:sp>
      <p:sp>
        <p:nvSpPr>
          <p:cNvPr id="44" name="Nodo"/>
          <p:cNvSpPr/>
          <p:nvPr/>
        </p:nvSpPr>
        <p:spPr>
          <a:xfrm>
            <a:off x="9867900" y="2533650"/>
            <a:ext cx="171450" cy="171450"/>
          </a:xfrm>
          <a:prstGeom prst="ellipse">
            <a:avLst/>
          </a:prstGeom>
          <a:solidFill>
            <a:srgbClr val="0B132B"/>
          </a:solidFill>
          <a:ln w="19050">
            <a:solidFill>
              <a:srgbClr val="1CA9C9"/>
            </a:solidFill>
            <a:prstDash val="solid"/>
          </a:ln>
        </p:spPr>
      </p:sp>
      <p:sp>
        <p:nvSpPr>
          <p:cNvPr id="45" name="Nodo"/>
          <p:cNvSpPr/>
          <p:nvPr/>
        </p:nvSpPr>
        <p:spPr>
          <a:xfrm>
            <a:off x="9867900" y="3105150"/>
            <a:ext cx="171450" cy="171450"/>
          </a:xfrm>
          <a:prstGeom prst="ellipse">
            <a:avLst/>
          </a:prstGeom>
          <a:solidFill>
            <a:srgbClr val="0B132B"/>
          </a:solidFill>
          <a:ln w="19050">
            <a:solidFill>
              <a:srgbClr val="1CA9C9"/>
            </a:solidFill>
            <a:prstDash val="solid"/>
          </a:ln>
        </p:spPr>
      </p:sp>
      <p:sp>
        <p:nvSpPr>
          <p:cNvPr id="46" name="Nodo"/>
          <p:cNvSpPr/>
          <p:nvPr/>
        </p:nvSpPr>
        <p:spPr>
          <a:xfrm>
            <a:off x="10725150" y="2247900"/>
            <a:ext cx="171450" cy="171450"/>
          </a:xfrm>
          <a:prstGeom prst="ellipse">
            <a:avLst/>
          </a:prstGeom>
          <a:solidFill>
            <a:srgbClr val="0B132B"/>
          </a:solidFill>
          <a:ln w="19050">
            <a:solidFill>
              <a:srgbClr val="1CA9C9"/>
            </a:solidFill>
            <a:prstDash val="solid"/>
          </a:ln>
        </p:spPr>
      </p:sp>
      <p:sp>
        <p:nvSpPr>
          <p:cNvPr id="47" name="Nodo"/>
          <p:cNvSpPr/>
          <p:nvPr/>
        </p:nvSpPr>
        <p:spPr>
          <a:xfrm>
            <a:off x="10725150" y="2819400"/>
            <a:ext cx="171450" cy="171450"/>
          </a:xfrm>
          <a:prstGeom prst="ellipse">
            <a:avLst/>
          </a:prstGeom>
          <a:solidFill>
            <a:srgbClr val="0B132B"/>
          </a:solidFill>
          <a:ln w="19050">
            <a:solidFill>
              <a:srgbClr val="1CA9C9"/>
            </a:solidFill>
            <a:prstDash val="solid"/>
          </a:ln>
        </p:spPr>
      </p:sp>
      <p:sp>
        <p:nvSpPr>
          <p:cNvPr id="48" name="Nodo"/>
          <p:cNvSpPr/>
          <p:nvPr/>
        </p:nvSpPr>
        <p:spPr>
          <a:xfrm>
            <a:off x="10725150" y="3438525"/>
            <a:ext cx="171450" cy="171450"/>
          </a:xfrm>
          <a:prstGeom prst="ellipse">
            <a:avLst/>
          </a:prstGeom>
          <a:solidFill>
            <a:srgbClr val="0B132B"/>
          </a:solidFill>
          <a:ln w="19050">
            <a:solidFill>
              <a:srgbClr val="1CA9C9"/>
            </a:solidFill>
            <a:prstDash val="solid"/>
          </a:ln>
        </p:spPr>
      </p:sp>
      <p:sp>
        <p:nvSpPr>
          <p:cNvPr id="49" name="Nodo salida"/>
          <p:cNvSpPr/>
          <p:nvPr/>
        </p:nvSpPr>
        <p:spPr>
          <a:xfrm>
            <a:off x="11401425" y="2543175"/>
            <a:ext cx="247650" cy="24765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0" name="Nodo salida"/>
          <p:cNvSpPr/>
          <p:nvPr/>
        </p:nvSpPr>
        <p:spPr>
          <a:xfrm>
            <a:off x="11401425" y="3162300"/>
            <a:ext cx="247650" cy="24765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1" name="Text 45"/>
          <p:cNvSpPr txBox="1"/>
          <p:nvPr/>
        </p:nvSpPr>
        <p:spPr>
          <a:xfrm>
            <a:off x="8905875" y="1819275"/>
            <a:ext cx="5715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GTIN</a:t>
            </a:r>
            <a:endParaRPr lang="en-US" sz="800" dirty="0"/>
          </a:p>
        </p:txBody>
      </p:sp>
      <p:sp>
        <p:nvSpPr>
          <p:cNvPr id="52" name="Text 46"/>
          <p:cNvSpPr txBox="1"/>
          <p:nvPr/>
        </p:nvSpPr>
        <p:spPr>
          <a:xfrm>
            <a:off x="8905875" y="3724275"/>
            <a:ext cx="5715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GLN</a:t>
            </a:r>
            <a:endParaRPr lang="en-US" sz="800" dirty="0"/>
          </a:p>
        </p:txBody>
      </p:sp>
      <p:sp>
        <p:nvSpPr>
          <p:cNvPr id="53" name="Text 47"/>
          <p:cNvSpPr txBox="1"/>
          <p:nvPr/>
        </p:nvSpPr>
        <p:spPr>
          <a:xfrm>
            <a:off x="10029825" y="3724275"/>
            <a:ext cx="5715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EPCIS</a:t>
            </a:r>
            <a:endParaRPr lang="en-US" sz="800" dirty="0"/>
          </a:p>
        </p:txBody>
      </p:sp>
      <p:sp>
        <p:nvSpPr>
          <p:cNvPr id="54" name="Tarjeta oscura"/>
          <p:cNvSpPr/>
          <p:nvPr/>
        </p:nvSpPr>
        <p:spPr>
          <a:xfrm>
            <a:off x="6667500" y="4143375"/>
            <a:ext cx="5067300" cy="1809750"/>
          </a:xfrm>
          <a:prstGeom prst="roundRect">
            <a:avLst>
              <a:gd name="adj" fmla="val 9095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55" name="Text 49"/>
          <p:cNvSpPr txBox="1"/>
          <p:nvPr/>
        </p:nvSpPr>
        <p:spPr>
          <a:xfrm>
            <a:off x="6877050" y="4305300"/>
            <a:ext cx="381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IMPACTO DIRECTO EN VENEZUELA</a:t>
            </a:r>
            <a:endParaRPr lang="en-US" sz="900" dirty="0"/>
          </a:p>
        </p:txBody>
      </p:sp>
      <p:pic>
        <p:nvPicPr>
          <p:cNvPr id="56" name="Image 4" descr="Icono Rou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7050" y="4629150"/>
            <a:ext cx="209550" cy="209550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7200900" y="4610100"/>
            <a:ext cx="4286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Optimización de rutas logísticas entre laboratorios nacionales, droguerías y farmacias en todo el país.</a:t>
            </a:r>
            <a:endParaRPr lang="en-US" sz="1150" dirty="0"/>
          </a:p>
        </p:txBody>
      </p:sp>
      <p:pic>
        <p:nvPicPr>
          <p:cNvPr id="58" name="Image 5" descr="Icono Hourglas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7050" y="5219700"/>
            <a:ext cx="209550" cy="209550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7200900" y="5200650"/>
            <a:ext cx="4286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Gestión de vencimientos </a:t>
            </a:r>
            <a:pPr algn="l"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FEFO</a:t>
            </a:r>
            <a:pPr algn="l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 (First Expired, First Out): menos mermas financieras por caducidad.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6334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667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AGENDA · PUNTO 2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495300"/>
            <a:ext cx="9144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Seguridad del paciente: los </a:t>
            </a:r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 Correctos</a:t>
            </a:r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(BCMA)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66800"/>
            <a:ext cx="762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Escaneo a pie de cama — Bedside Barcode Medication Administration</a:t>
            </a:r>
            <a:endParaRPr lang="en-US" sz="1100" dirty="0"/>
          </a:p>
        </p:txBody>
      </p:sp>
      <p:sp>
        <p:nvSpPr>
          <p:cNvPr id="5" name="FOTO (reemplazar): enfermera escaneando brazalete"/>
          <p:cNvSpPr/>
          <p:nvPr/>
        </p:nvSpPr>
        <p:spPr>
          <a:xfrm rot="-240000">
            <a:off x="571500" y="1524000"/>
            <a:ext cx="2381250" cy="3810000"/>
          </a:xfrm>
          <a:prstGeom prst="roundRect">
            <a:avLst>
              <a:gd name="adj" fmla="val 13440"/>
            </a:avLst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6" name="Image 0" descr="Icono HeartPul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9688" y="2976563"/>
            <a:ext cx="904875" cy="904875"/>
          </a:xfrm>
          <a:prstGeom prst="rect">
            <a:avLst/>
          </a:prstGeom>
        </p:spPr>
      </p:pic>
      <p:sp>
        <p:nvSpPr>
          <p:cNvPr id="7" name="Etiqueta foto"/>
          <p:cNvSpPr txBox="1"/>
          <p:nvPr/>
        </p:nvSpPr>
        <p:spPr>
          <a:xfrm>
            <a:off x="647700" y="5086350"/>
            <a:ext cx="22288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Insertar foto: enfermera escaneando brazalete</a:t>
            </a:r>
            <a:endParaRPr lang="en-US" sz="800" dirty="0"/>
          </a:p>
        </p:txBody>
      </p:sp>
      <p:sp>
        <p:nvSpPr>
          <p:cNvPr id="8" name="FOTO (reemplazar): brazalete"/>
          <p:cNvSpPr/>
          <p:nvPr/>
        </p:nvSpPr>
        <p:spPr>
          <a:xfrm>
            <a:off x="1809750" y="4286250"/>
            <a:ext cx="1714500" cy="1714500"/>
          </a:xfrm>
          <a:prstGeom prst="ellipse">
            <a:avLst/>
          </a:prstGeom>
          <a:solidFill>
            <a:schemeClr val="accent6"/>
          </a:solidFill>
          <a:ln w="6350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9" name="Image 1" descr="Icono ScanL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45" y="4817745"/>
            <a:ext cx="651510" cy="651510"/>
          </a:xfrm>
          <a:prstGeom prst="rect">
            <a:avLst/>
          </a:prstGeom>
        </p:spPr>
      </p:pic>
      <p:sp>
        <p:nvSpPr>
          <p:cNvPr id="10" name="Etiqueta foto"/>
          <p:cNvSpPr txBox="1"/>
          <p:nvPr/>
        </p:nvSpPr>
        <p:spPr>
          <a:xfrm>
            <a:off x="1885950" y="5753100"/>
            <a:ext cx="15621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Insertar foto: brazalete</a:t>
            </a:r>
            <a:endParaRPr lang="en-US" sz="800" dirty="0"/>
          </a:p>
        </p:txBody>
      </p:sp>
      <p:sp>
        <p:nvSpPr>
          <p:cNvPr id="11" name="Tarjeta"/>
          <p:cNvSpPr/>
          <p:nvPr/>
        </p:nvSpPr>
        <p:spPr>
          <a:xfrm>
            <a:off x="3905250" y="1524000"/>
            <a:ext cx="7829550" cy="7620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12" name="Insignia 1"/>
          <p:cNvSpPr/>
          <p:nvPr/>
        </p:nvSpPr>
        <p:spPr>
          <a:xfrm>
            <a:off x="4095750" y="1685925"/>
            <a:ext cx="438150" cy="438150"/>
          </a:xfrm>
          <a:prstGeom prst="ellipse">
            <a:avLst/>
          </a:prstGeom>
          <a:solidFill>
            <a:srgbClr val="002C6C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4095750" y="1685925"/>
            <a:ext cx="4381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724400" y="1619250"/>
            <a:ext cx="5334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Paciente correcto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4724400" y="18669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Escaneo del código GS1 del brazalete de identificación hospitalaria.</a:t>
            </a:r>
            <a:endParaRPr lang="en-US" sz="1100" dirty="0"/>
          </a:p>
        </p:txBody>
      </p:sp>
      <p:sp>
        <p:nvSpPr>
          <p:cNvPr id="16" name="Etiqueta GSRN"/>
          <p:cNvSpPr/>
          <p:nvPr/>
        </p:nvSpPr>
        <p:spPr>
          <a:xfrm>
            <a:off x="10668000" y="1771650"/>
            <a:ext cx="838200" cy="266700"/>
          </a:xfrm>
          <a:prstGeom prst="roundRect">
            <a:avLst>
              <a:gd name="adj" fmla="val 171429"/>
            </a:avLst>
          </a:prstGeom>
          <a:solidFill>
            <a:srgbClr val="F1F5F9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10668000" y="1771650"/>
            <a:ext cx="838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97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GSRN</a:t>
            </a:r>
            <a:endParaRPr lang="en-US" sz="1000" dirty="0"/>
          </a:p>
        </p:txBody>
      </p:sp>
      <p:sp>
        <p:nvSpPr>
          <p:cNvPr id="18" name="Tarjeta"/>
          <p:cNvSpPr/>
          <p:nvPr/>
        </p:nvSpPr>
        <p:spPr>
          <a:xfrm>
            <a:off x="3905250" y="2400300"/>
            <a:ext cx="7829550" cy="7620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19" name="Insignia 2"/>
          <p:cNvSpPr/>
          <p:nvPr/>
        </p:nvSpPr>
        <p:spPr>
          <a:xfrm>
            <a:off x="4095750" y="2562225"/>
            <a:ext cx="438150" cy="438150"/>
          </a:xfrm>
          <a:prstGeom prst="ellipse">
            <a:avLst/>
          </a:prstGeom>
          <a:solidFill>
            <a:srgbClr val="1CA9C9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4095750" y="2562225"/>
            <a:ext cx="4381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4724400" y="2495550"/>
            <a:ext cx="5334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Medicamento correcto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4724400" y="27432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Validación instantánea del GTIN contra la prescripción médica electrónica.</a:t>
            </a:r>
            <a:endParaRPr lang="en-US" sz="1100" dirty="0"/>
          </a:p>
        </p:txBody>
      </p:sp>
      <p:sp>
        <p:nvSpPr>
          <p:cNvPr id="23" name="Etiqueta GTIN"/>
          <p:cNvSpPr/>
          <p:nvPr/>
        </p:nvSpPr>
        <p:spPr>
          <a:xfrm>
            <a:off x="10668000" y="2647950"/>
            <a:ext cx="838200" cy="266700"/>
          </a:xfrm>
          <a:prstGeom prst="roundRect">
            <a:avLst>
              <a:gd name="adj" fmla="val 171429"/>
            </a:avLst>
          </a:prstGeom>
          <a:solidFill>
            <a:srgbClr val="F1F5F9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10668000" y="2647950"/>
            <a:ext cx="838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3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GTIN</a:t>
            </a:r>
            <a:endParaRPr lang="en-US" sz="1000" dirty="0"/>
          </a:p>
        </p:txBody>
      </p:sp>
      <p:sp>
        <p:nvSpPr>
          <p:cNvPr id="25" name="Tarjeta"/>
          <p:cNvSpPr/>
          <p:nvPr/>
        </p:nvSpPr>
        <p:spPr>
          <a:xfrm>
            <a:off x="3905250" y="3276600"/>
            <a:ext cx="7829550" cy="7620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26" name="Insignia 3"/>
          <p:cNvSpPr/>
          <p:nvPr/>
        </p:nvSpPr>
        <p:spPr>
          <a:xfrm>
            <a:off x="4095750" y="3438525"/>
            <a:ext cx="438150" cy="438150"/>
          </a:xfrm>
          <a:prstGeom prst="ellipse">
            <a:avLst/>
          </a:prstGeom>
          <a:solidFill>
            <a:srgbClr val="002C6C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4095750" y="3438525"/>
            <a:ext cx="4381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4724400" y="3371850"/>
            <a:ext cx="5334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Dosis correcta</a:t>
            </a:r>
            <a:endParaRPr lang="en-US" sz="1350" dirty="0"/>
          </a:p>
        </p:txBody>
      </p:sp>
      <p:sp>
        <p:nvSpPr>
          <p:cNvPr id="29" name="Text 25"/>
          <p:cNvSpPr txBox="1"/>
          <p:nvPr/>
        </p:nvSpPr>
        <p:spPr>
          <a:xfrm>
            <a:off x="4724400" y="36195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Confirma la concentración (500 mg vs 1000 mg) y evita errores LASA (Look-Alike, Sound-Alike).</a:t>
            </a:r>
            <a:endParaRPr lang="en-US" sz="1100" dirty="0"/>
          </a:p>
        </p:txBody>
      </p:sp>
      <p:sp>
        <p:nvSpPr>
          <p:cNvPr id="30" name="Etiqueta LASA"/>
          <p:cNvSpPr/>
          <p:nvPr/>
        </p:nvSpPr>
        <p:spPr>
          <a:xfrm>
            <a:off x="10668000" y="3524250"/>
            <a:ext cx="838200" cy="266700"/>
          </a:xfrm>
          <a:prstGeom prst="roundRect">
            <a:avLst>
              <a:gd name="adj" fmla="val 171429"/>
            </a:avLst>
          </a:prstGeom>
          <a:solidFill>
            <a:srgbClr val="F1F5F9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10668000" y="3524250"/>
            <a:ext cx="838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LASA</a:t>
            </a:r>
            <a:endParaRPr lang="en-US" sz="1000" dirty="0"/>
          </a:p>
        </p:txBody>
      </p:sp>
      <p:sp>
        <p:nvSpPr>
          <p:cNvPr id="32" name="Tarjeta"/>
          <p:cNvSpPr/>
          <p:nvPr/>
        </p:nvSpPr>
        <p:spPr>
          <a:xfrm>
            <a:off x="3905250" y="4152900"/>
            <a:ext cx="7829550" cy="7620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33" name="Insignia 4"/>
          <p:cNvSpPr/>
          <p:nvPr/>
        </p:nvSpPr>
        <p:spPr>
          <a:xfrm>
            <a:off x="4095750" y="4314825"/>
            <a:ext cx="438150" cy="438150"/>
          </a:xfrm>
          <a:prstGeom prst="ellipse">
            <a:avLst/>
          </a:prstGeom>
          <a:solidFill>
            <a:srgbClr val="1CA9C9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4095750" y="4314825"/>
            <a:ext cx="4381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400" dirty="0"/>
          </a:p>
        </p:txBody>
      </p:sp>
      <p:sp>
        <p:nvSpPr>
          <p:cNvPr id="35" name="Text 31"/>
          <p:cNvSpPr txBox="1"/>
          <p:nvPr/>
        </p:nvSpPr>
        <p:spPr>
          <a:xfrm>
            <a:off x="4724400" y="4248150"/>
            <a:ext cx="5334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Vía y hora correctas</a:t>
            </a:r>
            <a:endParaRPr lang="en-US" sz="1350" dirty="0"/>
          </a:p>
        </p:txBody>
      </p:sp>
      <p:sp>
        <p:nvSpPr>
          <p:cNvPr id="36" name="Text 32"/>
          <p:cNvSpPr txBox="1"/>
          <p:nvPr/>
        </p:nvSpPr>
        <p:spPr>
          <a:xfrm>
            <a:off x="4724400" y="44958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Registro automático en la Historia Clínica Electrónica.</a:t>
            </a:r>
            <a:endParaRPr lang="en-US" sz="1100" dirty="0"/>
          </a:p>
        </p:txBody>
      </p:sp>
      <p:sp>
        <p:nvSpPr>
          <p:cNvPr id="37" name="Etiqueta HCE"/>
          <p:cNvSpPr/>
          <p:nvPr/>
        </p:nvSpPr>
        <p:spPr>
          <a:xfrm>
            <a:off x="10668000" y="4400550"/>
            <a:ext cx="838200" cy="266700"/>
          </a:xfrm>
          <a:prstGeom prst="roundRect">
            <a:avLst>
              <a:gd name="adj" fmla="val 171429"/>
            </a:avLst>
          </a:prstGeom>
          <a:solidFill>
            <a:srgbClr val="F1F5F9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10668000" y="4400550"/>
            <a:ext cx="838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7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HCE</a:t>
            </a:r>
            <a:endParaRPr lang="en-US" sz="1000" dirty="0"/>
          </a:p>
        </p:txBody>
      </p:sp>
      <p:sp>
        <p:nvSpPr>
          <p:cNvPr id="39" name="Tarjeta"/>
          <p:cNvSpPr/>
          <p:nvPr/>
        </p:nvSpPr>
        <p:spPr>
          <a:xfrm>
            <a:off x="3905250" y="5029200"/>
            <a:ext cx="7829550" cy="7620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10B981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40" name="Insignia 5"/>
          <p:cNvSpPr/>
          <p:nvPr/>
        </p:nvSpPr>
        <p:spPr>
          <a:xfrm>
            <a:off x="4095750" y="5191125"/>
            <a:ext cx="438150" cy="43815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4095750" y="5191125"/>
            <a:ext cx="4381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1400" dirty="0"/>
          </a:p>
        </p:txBody>
      </p:sp>
      <p:sp>
        <p:nvSpPr>
          <p:cNvPr id="42" name="Text 38"/>
          <p:cNvSpPr txBox="1"/>
          <p:nvPr/>
        </p:nvSpPr>
        <p:spPr>
          <a:xfrm>
            <a:off x="4724400" y="5124450"/>
            <a:ext cx="5334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Vigencia garantizada</a:t>
            </a:r>
            <a:endParaRPr lang="en-US" sz="1350" dirty="0"/>
          </a:p>
        </p:txBody>
      </p:sp>
      <p:sp>
        <p:nvSpPr>
          <p:cNvPr id="43" name="Text 39"/>
          <p:cNvSpPr txBox="1"/>
          <p:nvPr/>
        </p:nvSpPr>
        <p:spPr>
          <a:xfrm>
            <a:off x="4724400" y="53721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El sistema bloquea la dosis si (17) indica vencido o si el lote (10) tiene alerta de retiro.</a:t>
            </a:r>
            <a:endParaRPr lang="en-US" sz="1100" dirty="0"/>
          </a:p>
        </p:txBody>
      </p:sp>
      <p:pic>
        <p:nvPicPr>
          <p:cNvPr id="44" name="Image 2" descr="Icono B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5200" y="5276850"/>
            <a:ext cx="285750" cy="2857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6334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667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AGENDA · PUNTO 2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495300"/>
            <a:ext cx="9144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Eficiencia de la </a:t>
            </a:r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cadena de suministro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66800"/>
            <a:ext cx="762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Un mismo lenguaje GS1 desde el laboratorio hasta el paciente</a:t>
            </a:r>
            <a:endParaRPr lang="en-US" sz="1100" dirty="0"/>
          </a:p>
        </p:txBody>
      </p:sp>
      <p:sp>
        <p:nvSpPr>
          <p:cNvPr id="5" name="Nodo Laboratorio"/>
          <p:cNvSpPr/>
          <p:nvPr/>
        </p:nvSpPr>
        <p:spPr>
          <a:xfrm>
            <a:off x="1409700" y="1524000"/>
            <a:ext cx="762000" cy="762000"/>
          </a:xfrm>
          <a:prstGeom prst="ellipse">
            <a:avLst/>
          </a:prstGeom>
          <a:solidFill>
            <a:srgbClr val="002C6C"/>
          </a:solidFill>
          <a:ln/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6" name="Image 0" descr="Icono Facto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1714500"/>
            <a:ext cx="381000" cy="3810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2400300"/>
            <a:ext cx="2667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Laboratorio</a:t>
            </a:r>
            <a:endParaRPr lang="en-US" sz="1300" dirty="0"/>
          </a:p>
        </p:txBody>
      </p:sp>
      <p:sp>
        <p:nvSpPr>
          <p:cNvPr id="8" name="Claves GS1"/>
          <p:cNvSpPr/>
          <p:nvPr/>
        </p:nvSpPr>
        <p:spPr>
          <a:xfrm>
            <a:off x="838200" y="2667000"/>
            <a:ext cx="1905000" cy="266700"/>
          </a:xfrm>
          <a:prstGeom prst="roundRect">
            <a:avLst>
              <a:gd name="adj" fmla="val 171429"/>
            </a:avLst>
          </a:prstGeom>
          <a:solidFill>
            <a:srgbClr val="E0F4F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38200" y="26670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GTIN · Lote · Serie</a:t>
            </a:r>
            <a:endParaRPr lang="en-US" sz="1050" dirty="0"/>
          </a:p>
        </p:txBody>
      </p:sp>
      <p:sp>
        <p:nvSpPr>
          <p:cNvPr id="10" name="Flecha flujo"/>
          <p:cNvSpPr/>
          <p:nvPr/>
        </p:nvSpPr>
        <p:spPr>
          <a:xfrm>
            <a:off x="2381250" y="1771650"/>
            <a:ext cx="1428750" cy="26670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11" name="Nodo Droguería / Distribuidor"/>
          <p:cNvSpPr/>
          <p:nvPr/>
        </p:nvSpPr>
        <p:spPr>
          <a:xfrm>
            <a:off x="4279868" y="1524000"/>
            <a:ext cx="762000" cy="762000"/>
          </a:xfrm>
          <a:prstGeom prst="ellipse">
            <a:avLst/>
          </a:prstGeom>
          <a:solidFill>
            <a:srgbClr val="1CA9C9"/>
          </a:solidFill>
          <a:ln/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12" name="Image 1" descr="Icono Tr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0368" y="1714500"/>
            <a:ext cx="381000" cy="3810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327368" y="2400300"/>
            <a:ext cx="2667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Droguería / Distribuidor</a:t>
            </a:r>
            <a:endParaRPr lang="en-US" sz="1300" dirty="0"/>
          </a:p>
        </p:txBody>
      </p:sp>
      <p:sp>
        <p:nvSpPr>
          <p:cNvPr id="14" name="Claves GS1"/>
          <p:cNvSpPr/>
          <p:nvPr/>
        </p:nvSpPr>
        <p:spPr>
          <a:xfrm>
            <a:off x="3708368" y="2667000"/>
            <a:ext cx="1905000" cy="266700"/>
          </a:xfrm>
          <a:prstGeom prst="roundRect">
            <a:avLst>
              <a:gd name="adj" fmla="val 171429"/>
            </a:avLst>
          </a:prstGeom>
          <a:solidFill>
            <a:srgbClr val="E0F4F9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3708368" y="26670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SSCC · GLN</a:t>
            </a:r>
            <a:endParaRPr lang="en-US" sz="1050" dirty="0"/>
          </a:p>
        </p:txBody>
      </p:sp>
      <p:sp>
        <p:nvSpPr>
          <p:cNvPr id="16" name="Flecha flujo"/>
          <p:cNvSpPr/>
          <p:nvPr/>
        </p:nvSpPr>
        <p:spPr>
          <a:xfrm>
            <a:off x="5251418" y="1771650"/>
            <a:ext cx="1428750" cy="26670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17" name="Nodo Farmacia / Clínica"/>
          <p:cNvSpPr/>
          <p:nvPr/>
        </p:nvSpPr>
        <p:spPr>
          <a:xfrm>
            <a:off x="7150037" y="1524000"/>
            <a:ext cx="762000" cy="762000"/>
          </a:xfrm>
          <a:prstGeom prst="ellipse">
            <a:avLst/>
          </a:prstGeom>
          <a:solidFill>
            <a:srgbClr val="F26334"/>
          </a:solidFill>
          <a:ln/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18" name="Image 2" descr="Icono Sto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0537" y="1714500"/>
            <a:ext cx="381000" cy="3810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197537" y="2400300"/>
            <a:ext cx="2667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Farmacia / Clínica</a:t>
            </a:r>
            <a:endParaRPr lang="en-US" sz="1300" dirty="0"/>
          </a:p>
        </p:txBody>
      </p:sp>
      <p:sp>
        <p:nvSpPr>
          <p:cNvPr id="20" name="Claves GS1"/>
          <p:cNvSpPr/>
          <p:nvPr/>
        </p:nvSpPr>
        <p:spPr>
          <a:xfrm>
            <a:off x="6578537" y="2667000"/>
            <a:ext cx="1905000" cy="266700"/>
          </a:xfrm>
          <a:prstGeom prst="roundRect">
            <a:avLst>
              <a:gd name="adj" fmla="val 171429"/>
            </a:avLst>
          </a:prstGeom>
          <a:solidFill>
            <a:srgbClr val="E0F4F9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6578537" y="26670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GTIN · GLN</a:t>
            </a:r>
            <a:endParaRPr lang="en-US" sz="1050" dirty="0"/>
          </a:p>
        </p:txBody>
      </p:sp>
      <p:sp>
        <p:nvSpPr>
          <p:cNvPr id="22" name="Flecha flujo"/>
          <p:cNvSpPr/>
          <p:nvPr/>
        </p:nvSpPr>
        <p:spPr>
          <a:xfrm>
            <a:off x="8121586" y="1771650"/>
            <a:ext cx="1428750" cy="26670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23" name="Nodo Paciente"/>
          <p:cNvSpPr/>
          <p:nvPr/>
        </p:nvSpPr>
        <p:spPr>
          <a:xfrm>
            <a:off x="10020205" y="1524000"/>
            <a:ext cx="762000" cy="762000"/>
          </a:xfrm>
          <a:prstGeom prst="ellipse">
            <a:avLst/>
          </a:prstGeom>
          <a:solidFill>
            <a:srgbClr val="00A79D"/>
          </a:solidFill>
          <a:ln/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24" name="Image 3" descr="Icono Us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10705" y="1714500"/>
            <a:ext cx="381000" cy="3810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067705" y="2400300"/>
            <a:ext cx="2667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Paciente</a:t>
            </a:r>
            <a:endParaRPr lang="en-US" sz="1300" dirty="0"/>
          </a:p>
        </p:txBody>
      </p:sp>
      <p:sp>
        <p:nvSpPr>
          <p:cNvPr id="26" name="Claves GS1"/>
          <p:cNvSpPr/>
          <p:nvPr/>
        </p:nvSpPr>
        <p:spPr>
          <a:xfrm>
            <a:off x="9448705" y="2667000"/>
            <a:ext cx="1905000" cy="266700"/>
          </a:xfrm>
          <a:prstGeom prst="roundRect">
            <a:avLst>
              <a:gd name="adj" fmla="val 171429"/>
            </a:avLst>
          </a:prstGeom>
          <a:solidFill>
            <a:srgbClr val="E0F4F9"/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9448705" y="26670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GSRN · e-PIL</a:t>
            </a:r>
            <a:endParaRPr lang="en-US" sz="1050" dirty="0"/>
          </a:p>
        </p:txBody>
      </p:sp>
      <p:sp>
        <p:nvSpPr>
          <p:cNvPr id="28" name="Tarjeta"/>
          <p:cNvSpPr/>
          <p:nvPr/>
        </p:nvSpPr>
        <p:spPr>
          <a:xfrm>
            <a:off x="457200" y="3333750"/>
            <a:ext cx="2667000" cy="2286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29" name="Icono Eye"/>
          <p:cNvSpPr/>
          <p:nvPr/>
        </p:nvSpPr>
        <p:spPr>
          <a:xfrm>
            <a:off x="647700" y="3505200"/>
            <a:ext cx="457200" cy="457200"/>
          </a:xfrm>
          <a:prstGeom prst="ellipse">
            <a:avLst/>
          </a:prstGeom>
          <a:solidFill>
            <a:srgbClr val="1CA9C9"/>
          </a:solidFill>
          <a:ln/>
        </p:spPr>
      </p:sp>
      <p:pic>
        <p:nvPicPr>
          <p:cNvPr id="30" name="Image 4" descr="Icono Ey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428" y="3614928"/>
            <a:ext cx="237744" cy="23774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647700" y="4095750"/>
            <a:ext cx="2324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Visibilidad en tiempo real</a:t>
            </a:r>
            <a:endParaRPr lang="en-US" sz="1350" dirty="0"/>
          </a:p>
        </p:txBody>
      </p:sp>
      <p:sp>
        <p:nvSpPr>
          <p:cNvPr id="32" name="Text 25"/>
          <p:cNvSpPr txBox="1"/>
          <p:nvPr/>
        </p:nvSpPr>
        <p:spPr>
          <a:xfrm>
            <a:off x="647700" y="4552950"/>
            <a:ext cx="23241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Cada movimiento se registra con EPCIS 2.0 y es consultable por los socios autorizados.</a:t>
            </a:r>
            <a:endParaRPr lang="en-US" sz="1100" dirty="0"/>
          </a:p>
        </p:txBody>
      </p:sp>
      <p:sp>
        <p:nvSpPr>
          <p:cNvPr id="33" name="Tarjeta"/>
          <p:cNvSpPr/>
          <p:nvPr/>
        </p:nvSpPr>
        <p:spPr>
          <a:xfrm>
            <a:off x="3327368" y="3333750"/>
            <a:ext cx="2667000" cy="2286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34" name="Icono Hourglass"/>
          <p:cNvSpPr/>
          <p:nvPr/>
        </p:nvSpPr>
        <p:spPr>
          <a:xfrm>
            <a:off x="3517868" y="3505200"/>
            <a:ext cx="457200" cy="457200"/>
          </a:xfrm>
          <a:prstGeom prst="ellipse">
            <a:avLst/>
          </a:prstGeom>
          <a:solidFill>
            <a:srgbClr val="F26334"/>
          </a:solidFill>
          <a:ln/>
        </p:spPr>
      </p:sp>
      <p:pic>
        <p:nvPicPr>
          <p:cNvPr id="35" name="Image 5" descr="Icono Hourglas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7596" y="3614928"/>
            <a:ext cx="237744" cy="23774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3517868" y="4095750"/>
            <a:ext cx="2324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Vencimientos FEFO</a:t>
            </a:r>
            <a:endParaRPr lang="en-US" sz="1350" dirty="0"/>
          </a:p>
        </p:txBody>
      </p:sp>
      <p:sp>
        <p:nvSpPr>
          <p:cNvPr id="37" name="Text 29"/>
          <p:cNvSpPr txBox="1"/>
          <p:nvPr/>
        </p:nvSpPr>
        <p:spPr>
          <a:xfrm>
            <a:off x="3517868" y="4552950"/>
            <a:ext cx="23241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Se despacha primero lo que vence primero, con lote y fecha leídos del código.</a:t>
            </a:r>
            <a:endParaRPr lang="en-US" sz="1100" dirty="0"/>
          </a:p>
        </p:txBody>
      </p:sp>
      <p:sp>
        <p:nvSpPr>
          <p:cNvPr id="38" name="Tarjeta"/>
          <p:cNvSpPr/>
          <p:nvPr/>
        </p:nvSpPr>
        <p:spPr>
          <a:xfrm>
            <a:off x="6197537" y="3333750"/>
            <a:ext cx="2667000" cy="2286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39" name="Icono Undo2"/>
          <p:cNvSpPr/>
          <p:nvPr/>
        </p:nvSpPr>
        <p:spPr>
          <a:xfrm>
            <a:off x="6388036" y="3505200"/>
            <a:ext cx="457200" cy="457200"/>
          </a:xfrm>
          <a:prstGeom prst="ellipse">
            <a:avLst/>
          </a:prstGeom>
          <a:solidFill>
            <a:srgbClr val="00A79D"/>
          </a:solidFill>
          <a:ln/>
        </p:spPr>
      </p:sp>
      <p:pic>
        <p:nvPicPr>
          <p:cNvPr id="40" name="Image 6" descr="Icono Undo2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7764" y="3614928"/>
            <a:ext cx="237744" cy="237744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6388036" y="4095750"/>
            <a:ext cx="2324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Retiro de lotes ágil</a:t>
            </a:r>
            <a:endParaRPr lang="en-US" sz="1350" dirty="0"/>
          </a:p>
        </p:txBody>
      </p:sp>
      <p:sp>
        <p:nvSpPr>
          <p:cNvPr id="42" name="Text 33"/>
          <p:cNvSpPr txBox="1"/>
          <p:nvPr/>
        </p:nvSpPr>
        <p:spPr>
          <a:xfrm>
            <a:off x="6388036" y="4552950"/>
            <a:ext cx="23241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Un recall se ubica por lote y GLN, sin revisar inventario caja por caja.</a:t>
            </a:r>
            <a:endParaRPr lang="en-US" sz="1100" dirty="0"/>
          </a:p>
        </p:txBody>
      </p:sp>
      <p:sp>
        <p:nvSpPr>
          <p:cNvPr id="43" name="Tarjeta"/>
          <p:cNvSpPr/>
          <p:nvPr/>
        </p:nvSpPr>
        <p:spPr>
          <a:xfrm>
            <a:off x="9067705" y="3333750"/>
            <a:ext cx="2667000" cy="2286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44" name="Icono Snowflake"/>
          <p:cNvSpPr/>
          <p:nvPr/>
        </p:nvSpPr>
        <p:spPr>
          <a:xfrm>
            <a:off x="9258205" y="3505200"/>
            <a:ext cx="457200" cy="457200"/>
          </a:xfrm>
          <a:prstGeom prst="ellipse">
            <a:avLst/>
          </a:prstGeom>
          <a:solidFill>
            <a:srgbClr val="002C6C"/>
          </a:solidFill>
          <a:ln/>
        </p:spPr>
      </p:sp>
      <p:pic>
        <p:nvPicPr>
          <p:cNvPr id="45" name="Image 7" descr="Icono Snowflak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67933" y="3614928"/>
            <a:ext cx="237744" cy="237744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9258205" y="4095750"/>
            <a:ext cx="2324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Cadena de frío</a:t>
            </a:r>
            <a:endParaRPr lang="en-US" sz="1350" dirty="0"/>
          </a:p>
        </p:txBody>
      </p:sp>
      <p:sp>
        <p:nvSpPr>
          <p:cNvPr id="47" name="Text 37"/>
          <p:cNvSpPr txBox="1"/>
          <p:nvPr/>
        </p:nvSpPr>
        <p:spPr>
          <a:xfrm>
            <a:off x="9258205" y="4552950"/>
            <a:ext cx="23241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Alertas ante desvíos de temperatura en insulinas, vacunas y biológicos.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6334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667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AGENDA · PUNTO 2 · TRAZABILIDAD DE MEDICAMENTOS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495300"/>
            <a:ext cx="9144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la barra tradicional al </a:t>
            </a:r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estándar 2D en salud</a:t>
            </a:r>
            <a:endParaRPr lang="en-US" sz="2600" dirty="0"/>
          </a:p>
        </p:txBody>
      </p:sp>
      <p:sp>
        <p:nvSpPr>
          <p:cNvPr id="4" name="Tarjeta"/>
          <p:cNvSpPr/>
          <p:nvPr/>
        </p:nvSpPr>
        <p:spPr>
          <a:xfrm>
            <a:off x="457200" y="1238250"/>
            <a:ext cx="3543300" cy="2495550"/>
          </a:xfrm>
          <a:prstGeom prst="roundRect">
            <a:avLst>
              <a:gd name="adj" fmla="val 7328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5" name="Etapa"/>
          <p:cNvSpPr/>
          <p:nvPr/>
        </p:nvSpPr>
        <p:spPr>
          <a:xfrm>
            <a:off x="800100" y="1371600"/>
            <a:ext cx="2857500" cy="247650"/>
          </a:xfrm>
          <a:prstGeom prst="roundRect">
            <a:avLst>
              <a:gd name="adj" fmla="val 184615"/>
            </a:avLst>
          </a:prstGeom>
          <a:solidFill>
            <a:srgbClr val="F1F5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0100" y="1371600"/>
            <a:ext cx="2857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75569"/>
                </a:solidFill>
              </a:rPr>
              <a:t>1973 – 2022 · Hasta ahora</a:t>
            </a:r>
            <a:endParaRPr lang="en-US" sz="1000" dirty="0"/>
          </a:p>
        </p:txBody>
      </p:sp>
      <p:pic>
        <p:nvPicPr>
          <p:cNvPr id="7" name="Image 0" descr="Caja Acetaminofén 500 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6350" y="1676400"/>
            <a:ext cx="1905000" cy="15240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2450" y="3219450"/>
            <a:ext cx="3352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EAN-13 · código 1D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09600" y="3429000"/>
            <a:ext cx="3238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Solo identifica el GTIN, de forma estática.</a:t>
            </a:r>
            <a:endParaRPr lang="en-US" sz="1000" dirty="0"/>
          </a:p>
        </p:txBody>
      </p:sp>
      <p:sp>
        <p:nvSpPr>
          <p:cNvPr id="10" name="Tarjeta"/>
          <p:cNvSpPr/>
          <p:nvPr/>
        </p:nvSpPr>
        <p:spPr>
          <a:xfrm>
            <a:off x="4305300" y="1238250"/>
            <a:ext cx="3543300" cy="2495550"/>
          </a:xfrm>
          <a:prstGeom prst="roundRect">
            <a:avLst>
              <a:gd name="adj" fmla="val 7328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11" name="Etapa"/>
          <p:cNvSpPr/>
          <p:nvPr/>
        </p:nvSpPr>
        <p:spPr>
          <a:xfrm>
            <a:off x="4648200" y="1371600"/>
            <a:ext cx="2857500" cy="247650"/>
          </a:xfrm>
          <a:prstGeom prst="roundRect">
            <a:avLst>
              <a:gd name="adj" fmla="val 184615"/>
            </a:avLst>
          </a:prstGeom>
          <a:solidFill>
            <a:srgbClr val="FDE9E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48200" y="1371600"/>
            <a:ext cx="2857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2023 – 2026 · Transición dual</a:t>
            </a:r>
            <a:endParaRPr lang="en-US" sz="1000" dirty="0"/>
          </a:p>
        </p:txBody>
      </p:sp>
      <p:pic>
        <p:nvPicPr>
          <p:cNvPr id="13" name="Image 1" descr="Caja Acetaminofén 500 m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7700" y="1790700"/>
            <a:ext cx="1638300" cy="1314450"/>
          </a:xfrm>
          <a:prstGeom prst="rect">
            <a:avLst/>
          </a:prstGeom>
        </p:spPr>
      </p:pic>
      <p:pic>
        <p:nvPicPr>
          <p:cNvPr id="14" name="Image 2" descr="Caja Acetaminofén 500 m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790700"/>
            <a:ext cx="1638300" cy="131445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400550" y="3219450"/>
            <a:ext cx="3352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Coexisten 1D + 2D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457700" y="3429000"/>
            <a:ext cx="3238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Se preparan lectores ópticos en farmacias y centros de salud.</a:t>
            </a:r>
            <a:endParaRPr lang="en-US" sz="1000" dirty="0"/>
          </a:p>
        </p:txBody>
      </p:sp>
      <p:sp>
        <p:nvSpPr>
          <p:cNvPr id="17" name="Tarjeta"/>
          <p:cNvSpPr/>
          <p:nvPr/>
        </p:nvSpPr>
        <p:spPr>
          <a:xfrm>
            <a:off x="8153400" y="1238250"/>
            <a:ext cx="3543300" cy="2495550"/>
          </a:xfrm>
          <a:prstGeom prst="roundRect">
            <a:avLst>
              <a:gd name="adj" fmla="val 7328"/>
            </a:avLst>
          </a:prstGeom>
          <a:solidFill>
            <a:schemeClr val="bg1"/>
          </a:solidFill>
          <a:ln w="19050">
            <a:solidFill>
              <a:srgbClr val="1CA9C9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18" name="Etapa"/>
          <p:cNvSpPr/>
          <p:nvPr/>
        </p:nvSpPr>
        <p:spPr>
          <a:xfrm>
            <a:off x="8496300" y="1371600"/>
            <a:ext cx="2857500" cy="247650"/>
          </a:xfrm>
          <a:prstGeom prst="roundRect">
            <a:avLst>
              <a:gd name="adj" fmla="val 184615"/>
            </a:avLst>
          </a:prstGeom>
          <a:solidFill>
            <a:srgbClr val="1CA9C9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496300" y="1371600"/>
            <a:ext cx="2857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2027+ · Ambición global y Healthcare</a:t>
            </a:r>
            <a:endParaRPr lang="en-US" sz="1000" dirty="0"/>
          </a:p>
        </p:txBody>
      </p:sp>
      <p:pic>
        <p:nvPicPr>
          <p:cNvPr id="20" name="Image 3" descr="Caja Acetaminofén 500 m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5800" y="1790700"/>
            <a:ext cx="1638300" cy="1314450"/>
          </a:xfrm>
          <a:prstGeom prst="rect">
            <a:avLst/>
          </a:prstGeom>
        </p:spPr>
      </p:pic>
      <p:pic>
        <p:nvPicPr>
          <p:cNvPr id="21" name="Image 4" descr="Caja Acetaminofén 500 m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4100" y="1790700"/>
            <a:ext cx="1638300" cy="131445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248650" y="3219450"/>
            <a:ext cx="3352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GS1 DataMatrix + QR Digital Link</a:t>
            </a:r>
            <a:endParaRPr lang="en-US" sz="1200" dirty="0"/>
          </a:p>
        </p:txBody>
      </p:sp>
      <p:sp>
        <p:nvSpPr>
          <p:cNvPr id="23" name="Text 16"/>
          <p:cNvSpPr txBox="1"/>
          <p:nvPr/>
        </p:nvSpPr>
        <p:spPr>
          <a:xfrm>
            <a:off x="8305800" y="3429000"/>
            <a:ext cx="3238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Trazabilidad clínica/regulatoria + interacción con el paciente.</a:t>
            </a:r>
            <a:endParaRPr lang="en-US" sz="1000" dirty="0"/>
          </a:p>
        </p:txBody>
      </p:sp>
      <p:sp>
        <p:nvSpPr>
          <p:cNvPr id="24" name="Flecha"/>
          <p:cNvSpPr/>
          <p:nvPr/>
        </p:nvSpPr>
        <p:spPr>
          <a:xfrm>
            <a:off x="4038600" y="2362200"/>
            <a:ext cx="247650" cy="24765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5" name="Flecha"/>
          <p:cNvSpPr/>
          <p:nvPr/>
        </p:nvSpPr>
        <p:spPr>
          <a:xfrm>
            <a:off x="7886700" y="2362200"/>
            <a:ext cx="247650" cy="24765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6" name="Tarjeta"/>
          <p:cNvSpPr/>
          <p:nvPr/>
        </p:nvSpPr>
        <p:spPr>
          <a:xfrm>
            <a:off x="457200" y="3924300"/>
            <a:ext cx="2667000" cy="876300"/>
          </a:xfrm>
          <a:prstGeom prst="roundRect">
            <a:avLst>
              <a:gd name="adj" fmla="val 2087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27" name="Text 20"/>
          <p:cNvSpPr txBox="1"/>
          <p:nvPr/>
        </p:nvSpPr>
        <p:spPr>
          <a:xfrm>
            <a:off x="590550" y="401955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(01) 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07591196014853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590550" y="4286250"/>
            <a:ext cx="24193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GTIN · </a:t>
            </a:r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ID único del medicamento (prefijo 759 GS1 Venezuela)</a:t>
            </a:r>
            <a:endParaRPr lang="en-US" sz="1050" dirty="0"/>
          </a:p>
        </p:txBody>
      </p:sp>
      <p:sp>
        <p:nvSpPr>
          <p:cNvPr id="29" name="Tarjeta"/>
          <p:cNvSpPr/>
          <p:nvPr/>
        </p:nvSpPr>
        <p:spPr>
          <a:xfrm>
            <a:off x="3327368" y="3924300"/>
            <a:ext cx="2667000" cy="876300"/>
          </a:xfrm>
          <a:prstGeom prst="roundRect">
            <a:avLst>
              <a:gd name="adj" fmla="val 2087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30" name="Text 23"/>
          <p:cNvSpPr txBox="1"/>
          <p:nvPr/>
        </p:nvSpPr>
        <p:spPr>
          <a:xfrm>
            <a:off x="3460718" y="401955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(17) 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281231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3460718" y="4286250"/>
            <a:ext cx="24193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Vencimiento · </a:t>
            </a:r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31 Dic 2028</a:t>
            </a:r>
            <a:endParaRPr lang="en-US" sz="1050" dirty="0"/>
          </a:p>
        </p:txBody>
      </p:sp>
      <p:sp>
        <p:nvSpPr>
          <p:cNvPr id="32" name="Tarjeta"/>
          <p:cNvSpPr/>
          <p:nvPr/>
        </p:nvSpPr>
        <p:spPr>
          <a:xfrm>
            <a:off x="6197537" y="3924300"/>
            <a:ext cx="2667000" cy="876300"/>
          </a:xfrm>
          <a:prstGeom prst="roundRect">
            <a:avLst>
              <a:gd name="adj" fmla="val 2087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33" name="Text 26"/>
          <p:cNvSpPr txBox="1"/>
          <p:nvPr/>
        </p:nvSpPr>
        <p:spPr>
          <a:xfrm>
            <a:off x="6330886" y="401955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(10) 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LOTE-VE26</a:t>
            </a:r>
            <a:endParaRPr lang="en-US" sz="1300" dirty="0"/>
          </a:p>
        </p:txBody>
      </p:sp>
      <p:sp>
        <p:nvSpPr>
          <p:cNvPr id="34" name="Text 27"/>
          <p:cNvSpPr txBox="1"/>
          <p:nvPr/>
        </p:nvSpPr>
        <p:spPr>
          <a:xfrm>
            <a:off x="6330886" y="4286250"/>
            <a:ext cx="24193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Lote · </a:t>
            </a:r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trazabilidad de producción</a:t>
            </a:r>
            <a:endParaRPr lang="en-US" sz="1050" dirty="0"/>
          </a:p>
        </p:txBody>
      </p:sp>
      <p:sp>
        <p:nvSpPr>
          <p:cNvPr id="35" name="Tarjeta"/>
          <p:cNvSpPr/>
          <p:nvPr/>
        </p:nvSpPr>
        <p:spPr>
          <a:xfrm>
            <a:off x="9067705" y="3924300"/>
            <a:ext cx="2667000" cy="876300"/>
          </a:xfrm>
          <a:prstGeom prst="roundRect">
            <a:avLst>
              <a:gd name="adj" fmla="val 2087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36" name="Text 29"/>
          <p:cNvSpPr txBox="1"/>
          <p:nvPr/>
        </p:nvSpPr>
        <p:spPr>
          <a:xfrm>
            <a:off x="9201055" y="401955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(21) 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SN998877</a:t>
            </a:r>
            <a:endParaRPr lang="en-US" sz="1300" dirty="0"/>
          </a:p>
        </p:txBody>
      </p:sp>
      <p:sp>
        <p:nvSpPr>
          <p:cNvPr id="37" name="Text 30"/>
          <p:cNvSpPr txBox="1"/>
          <p:nvPr/>
        </p:nvSpPr>
        <p:spPr>
          <a:xfrm>
            <a:off x="9201055" y="4286250"/>
            <a:ext cx="24193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Serie · </a:t>
            </a:r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autenticación unitaria anti-falsificación</a:t>
            </a:r>
            <a:endParaRPr lang="en-US" sz="1050" dirty="0"/>
          </a:p>
        </p:txBody>
      </p:sp>
      <p:sp>
        <p:nvSpPr>
          <p:cNvPr id="38" name="Text 31"/>
          <p:cNvSpPr txBox="1"/>
          <p:nvPr/>
        </p:nvSpPr>
        <p:spPr>
          <a:xfrm>
            <a:off x="457200" y="4953000"/>
            <a:ext cx="381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</a:rPr>
              <a:t>ESTRUCTURA GS1 DIGITAL LINK</a:t>
            </a:r>
            <a:endParaRPr lang="en-US" sz="900" dirty="0"/>
          </a:p>
        </p:txBody>
      </p:sp>
      <p:sp>
        <p:nvSpPr>
          <p:cNvPr id="39" name="Tarjeta"/>
          <p:cNvSpPr/>
          <p:nvPr/>
        </p:nvSpPr>
        <p:spPr>
          <a:xfrm>
            <a:off x="457200" y="5162550"/>
            <a:ext cx="11277600" cy="571500"/>
          </a:xfrm>
          <a:prstGeom prst="roundRect">
            <a:avLst>
              <a:gd name="adj" fmla="val 320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40" name="Text 33"/>
          <p:cNvSpPr txBox="1"/>
          <p:nvPr/>
        </p:nvSpPr>
        <p:spPr>
          <a:xfrm>
            <a:off x="685800" y="5162550"/>
            <a:ext cx="10820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</a:t>
            </a:r>
            <a:pPr algn="l" indent="0" marL="0">
              <a:buNone/>
            </a:pPr>
            <a:r>
              <a:rPr lang="en-US" sz="155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dl.gs1ve.org</a:t>
            </a:r>
            <a:pPr algn="l" indent="0" marL="0">
              <a:buNone/>
            </a:pPr>
            <a:r>
              <a:rPr lang="en-US" sz="155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/01/</a:t>
            </a:r>
            <a:pPr algn="l" indent="0" marL="0">
              <a:buNone/>
            </a:pPr>
            <a:r>
              <a:rPr lang="en-US" sz="15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07591196014853</a:t>
            </a:r>
            <a:pPr algn="l" indent="0" marL="0">
              <a:buNone/>
            </a:pPr>
            <a:r>
              <a:rPr lang="en-US" sz="155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/10/</a:t>
            </a:r>
            <a:pPr algn="l" indent="0" marL="0">
              <a:buNone/>
            </a:pPr>
            <a:r>
              <a:rPr lang="en-US" sz="15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LOTE-VE26</a:t>
            </a:r>
            <a:pPr algn="l" indent="0" marL="0">
              <a:buNone/>
            </a:pPr>
            <a:r>
              <a:rPr lang="en-US" sz="155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?17=</a:t>
            </a:r>
            <a:pPr algn="l" indent="0" marL="0">
              <a:buNone/>
            </a:pPr>
            <a:r>
              <a:rPr lang="en-US" sz="15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281231</a:t>
            </a:r>
            <a:endParaRPr lang="en-US" sz="1550" dirty="0"/>
          </a:p>
        </p:txBody>
      </p:sp>
      <p:sp>
        <p:nvSpPr>
          <p:cNvPr id="41" name="Text 34"/>
          <p:cNvSpPr txBox="1"/>
          <p:nvPr/>
        </p:nvSpPr>
        <p:spPr>
          <a:xfrm>
            <a:off x="457200" y="582930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● Dominio web     </a:t>
            </a:r>
            <a:pPr algn="l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● Identificador de aplicación (AI)     </a:t>
            </a:r>
            <a:pPr algn="l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● GTIN / Lote / Vencimiento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6334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ndo izquierdo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EEF0F3"/>
          </a:solidFill>
          <a:ln/>
        </p:spPr>
      </p:sp>
      <p:sp>
        <p:nvSpPr>
          <p:cNvPr id="3" name="Fondo derecho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238500" y="190500"/>
            <a:ext cx="5715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ANALOGÍA CONCEPTUAL</a:t>
            </a:r>
            <a:endParaRPr lang="en-US" sz="900" dirty="0"/>
          </a:p>
        </p:txBody>
      </p:sp>
      <p:sp>
        <p:nvSpPr>
          <p:cNvPr id="5" name="Tarjeta"/>
          <p:cNvSpPr/>
          <p:nvPr/>
        </p:nvSpPr>
        <p:spPr>
          <a:xfrm>
            <a:off x="3143250" y="400050"/>
            <a:ext cx="5905500" cy="552450"/>
          </a:xfrm>
          <a:prstGeom prst="roundRect">
            <a:avLst>
              <a:gd name="adj" fmla="val 82759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3143250" y="400050"/>
            <a:ext cx="5905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El Libro </a:t>
            </a:r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vs. </a:t>
            </a:r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El Televisor Clínico</a:t>
            </a:r>
            <a:endParaRPr lang="en-US" sz="2200" dirty="0"/>
          </a:p>
        </p:txBody>
      </p:sp>
      <p:sp>
        <p:nvSpPr>
          <p:cNvPr id="7" name="Icono TriangleAlert"/>
          <p:cNvSpPr/>
          <p:nvPr/>
        </p:nvSpPr>
        <p:spPr>
          <a:xfrm>
            <a:off x="457200" y="1238250"/>
            <a:ext cx="419100" cy="4191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8" name="Image 0" descr="Icono TriangleAle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1338834"/>
            <a:ext cx="217932" cy="2179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90600" y="1219200"/>
            <a:ext cx="4191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3415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QR genérico / estático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990600" y="14859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Como un libro impreso</a:t>
            </a:r>
            <a:endParaRPr lang="en-US" sz="1050" dirty="0"/>
          </a:p>
        </p:txBody>
      </p:sp>
      <p:sp>
        <p:nvSpPr>
          <p:cNvPr id="11" name="Tarjeta"/>
          <p:cNvSpPr/>
          <p:nvPr/>
        </p:nvSpPr>
        <p:spPr>
          <a:xfrm>
            <a:off x="457200" y="1866900"/>
            <a:ext cx="1809750" cy="1809750"/>
          </a:xfrm>
          <a:prstGeom prst="roundRect">
            <a:avLst>
              <a:gd name="adj" fmla="val 10105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12" name="Image 1" descr="QR genéric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981200"/>
            <a:ext cx="1581150" cy="1581150"/>
          </a:xfrm>
          <a:prstGeom prst="rect">
            <a:avLst/>
          </a:prstGeom>
        </p:spPr>
      </p:pic>
      <p:sp>
        <p:nvSpPr>
          <p:cNvPr id="13" name="Tarjeta"/>
          <p:cNvSpPr/>
          <p:nvPr/>
        </p:nvSpPr>
        <p:spPr>
          <a:xfrm>
            <a:off x="2495550" y="2190750"/>
            <a:ext cx="285750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2628900" y="2286000"/>
            <a:ext cx="2590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http://mi-laboratorio.com/prospecto.pdf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2628900" y="2781300"/>
            <a:ext cx="2590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 fija · no editable</a:t>
            </a:r>
            <a:endParaRPr lang="en-US" sz="950" dirty="0"/>
          </a:p>
        </p:txBody>
      </p:sp>
      <p:pic>
        <p:nvPicPr>
          <p:cNvPr id="16" name="Image 2" descr="Icono Circle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981450"/>
            <a:ext cx="209550" cy="20955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81050" y="3962400"/>
            <a:ext cx="457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4155"/>
                </a:solidFill>
              </a:rPr>
              <a:t>La URL queda fija una vez impreso el empaque.</a:t>
            </a:r>
            <a:endParaRPr lang="en-US" sz="1200" dirty="0"/>
          </a:p>
        </p:txBody>
      </p:sp>
      <p:pic>
        <p:nvPicPr>
          <p:cNvPr id="18" name="Image 3" descr="Icono Circl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76750"/>
            <a:ext cx="209550" cy="20955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81050" y="4457700"/>
            <a:ext cx="457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4155"/>
                </a:solidFill>
              </a:rPr>
              <a:t>No sirve para pasar por caja ni sistemas hospitalarios.</a:t>
            </a:r>
            <a:endParaRPr lang="en-US" sz="1200" dirty="0"/>
          </a:p>
        </p:txBody>
      </p:sp>
      <p:pic>
        <p:nvPicPr>
          <p:cNvPr id="20" name="Image 4" descr="Icono Circle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972050"/>
            <a:ext cx="209550" cy="20955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81050" y="4953000"/>
            <a:ext cx="457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4155"/>
                </a:solidFill>
              </a:rPr>
              <a:t>Si cambia la normativa sanitaria, se desecha el material de empaque.</a:t>
            </a:r>
            <a:endParaRPr lang="en-US" sz="1200" dirty="0"/>
          </a:p>
        </p:txBody>
      </p:sp>
      <p:sp>
        <p:nvSpPr>
          <p:cNvPr id="22" name="Icono BadgeCheck"/>
          <p:cNvSpPr/>
          <p:nvPr/>
        </p:nvSpPr>
        <p:spPr>
          <a:xfrm>
            <a:off x="6572250" y="1238250"/>
            <a:ext cx="419100" cy="4191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3" name="Image 5" descr="Icono Badge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2834" y="1338834"/>
            <a:ext cx="217932" cy="217932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7105650" y="1219200"/>
            <a:ext cx="4572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QR GS1 Digital Link</a:t>
            </a:r>
            <a:endParaRPr lang="en-US" sz="1650" dirty="0"/>
          </a:p>
        </p:txBody>
      </p:sp>
      <p:sp>
        <p:nvSpPr>
          <p:cNvPr id="25" name="Text 17"/>
          <p:cNvSpPr txBox="1"/>
          <p:nvPr/>
        </p:nvSpPr>
        <p:spPr>
          <a:xfrm>
            <a:off x="7105650" y="1485900"/>
            <a:ext cx="457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accent4"/>
                </a:solidFill>
              </a:rPr>
              <a:t>Como un televisor inteligente · Sello GS1 Venezuela</a:t>
            </a:r>
            <a:endParaRPr lang="en-US" sz="1050" dirty="0"/>
          </a:p>
        </p:txBody>
      </p:sp>
      <p:sp>
        <p:nvSpPr>
          <p:cNvPr id="26" name="Tarjeta"/>
          <p:cNvSpPr/>
          <p:nvPr/>
        </p:nvSpPr>
        <p:spPr>
          <a:xfrm>
            <a:off x="6572250" y="1866900"/>
            <a:ext cx="1809750" cy="1809750"/>
          </a:xfrm>
          <a:prstGeom prst="roundRect">
            <a:avLst>
              <a:gd name="adj" fmla="val 10105"/>
            </a:avLst>
          </a:prstGeom>
          <a:solidFill>
            <a:schemeClr val="bg1"/>
          </a:solidFill>
          <a:ln w="38100">
            <a:solidFill>
              <a:srgbClr val="10B981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27" name="Image 6" descr="QR GS1 Digital Lin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6550" y="1981200"/>
            <a:ext cx="1581150" cy="1581150"/>
          </a:xfrm>
          <a:prstGeom prst="rect">
            <a:avLst/>
          </a:prstGeom>
        </p:spPr>
      </p:pic>
      <p:sp>
        <p:nvSpPr>
          <p:cNvPr id="28" name="Control remoto"/>
          <p:cNvSpPr/>
          <p:nvPr/>
        </p:nvSpPr>
        <p:spPr>
          <a:xfrm>
            <a:off x="8610600" y="2133600"/>
            <a:ext cx="2857500" cy="1047750"/>
          </a:xfrm>
          <a:prstGeom prst="roundRect">
            <a:avLst>
              <a:gd name="adj" fmla="val 10473"/>
            </a:avLst>
          </a:prstGeom>
          <a:solidFill>
            <a:srgbClr val="000000">
              <a:alpha val="30000"/>
            </a:srgbClr>
          </a:solidFill>
          <a:ln w="190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8763000" y="2247900"/>
            <a:ext cx="2476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CAMBIAR EL CANAL</a:t>
            </a:r>
            <a:endParaRPr lang="en-US" sz="900" dirty="0"/>
          </a:p>
        </p:txBody>
      </p:sp>
      <p:sp>
        <p:nvSpPr>
          <p:cNvPr id="30" name="Text 21"/>
          <p:cNvSpPr txBox="1"/>
          <p:nvPr/>
        </p:nvSpPr>
        <p:spPr>
          <a:xfrm>
            <a:off x="8763000" y="2457450"/>
            <a:ext cx="2476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dl.gs1ve.org/01/0759…</a:t>
            </a:r>
            <a:endParaRPr lang="en-US" sz="1000" dirty="0"/>
          </a:p>
        </p:txBody>
      </p:sp>
      <p:sp>
        <p:nvSpPr>
          <p:cNvPr id="31" name="Insignia 1"/>
          <p:cNvSpPr/>
          <p:nvPr/>
        </p:nvSpPr>
        <p:spPr>
          <a:xfrm>
            <a:off x="8763000" y="2743200"/>
            <a:ext cx="285750" cy="28575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2" name="Text 23"/>
          <p:cNvSpPr txBox="1"/>
          <p:nvPr/>
        </p:nvSpPr>
        <p:spPr>
          <a:xfrm>
            <a:off x="8763000" y="274320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Insignia 2"/>
          <p:cNvSpPr/>
          <p:nvPr/>
        </p:nvSpPr>
        <p:spPr>
          <a:xfrm>
            <a:off x="9124950" y="2743200"/>
            <a:ext cx="285750" cy="28575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4" name="Text 25"/>
          <p:cNvSpPr txBox="1"/>
          <p:nvPr/>
        </p:nvSpPr>
        <p:spPr>
          <a:xfrm>
            <a:off x="9124950" y="274320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Insignia 3"/>
          <p:cNvSpPr/>
          <p:nvPr/>
        </p:nvSpPr>
        <p:spPr>
          <a:xfrm>
            <a:off x="9486900" y="2743200"/>
            <a:ext cx="285750" cy="28575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36" name="Text 27"/>
          <p:cNvSpPr txBox="1"/>
          <p:nvPr/>
        </p:nvSpPr>
        <p:spPr>
          <a:xfrm>
            <a:off x="9486900" y="274320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Canal 1"/>
          <p:cNvSpPr/>
          <p:nvPr/>
        </p:nvSpPr>
        <p:spPr>
          <a:xfrm>
            <a:off x="6572250" y="3924300"/>
            <a:ext cx="5143500" cy="628650"/>
          </a:xfrm>
          <a:prstGeom prst="roundRect">
            <a:avLst>
              <a:gd name="adj" fmla="val 17455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38" name="Insignia 1"/>
          <p:cNvSpPr/>
          <p:nvPr/>
        </p:nvSpPr>
        <p:spPr>
          <a:xfrm>
            <a:off x="6705600" y="4086225"/>
            <a:ext cx="304800" cy="3048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9" name="Text 30"/>
          <p:cNvSpPr txBox="1"/>
          <p:nvPr/>
        </p:nvSpPr>
        <p:spPr>
          <a:xfrm>
            <a:off x="6705600" y="4086225"/>
            <a:ext cx="304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200" dirty="0"/>
          </a:p>
        </p:txBody>
      </p:sp>
      <p:sp>
        <p:nvSpPr>
          <p:cNvPr id="40" name="Text 31"/>
          <p:cNvSpPr txBox="1"/>
          <p:nvPr/>
        </p:nvSpPr>
        <p:spPr>
          <a:xfrm>
            <a:off x="7143750" y="3981450"/>
            <a:ext cx="44767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Farmacia / Hospital: </a:t>
            </a:r>
            <a:pPr algn="l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lectura de GTIN, lote y vencimiento en el punto de dispensación.</a:t>
            </a:r>
            <a:endParaRPr lang="en-US" sz="1100" dirty="0"/>
          </a:p>
        </p:txBody>
      </p:sp>
      <p:sp>
        <p:nvSpPr>
          <p:cNvPr id="41" name="Canal 2"/>
          <p:cNvSpPr/>
          <p:nvPr/>
        </p:nvSpPr>
        <p:spPr>
          <a:xfrm>
            <a:off x="6572250" y="4648200"/>
            <a:ext cx="5143500" cy="628650"/>
          </a:xfrm>
          <a:prstGeom prst="roundRect">
            <a:avLst>
              <a:gd name="adj" fmla="val 17455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42" name="Insignia 2"/>
          <p:cNvSpPr/>
          <p:nvPr/>
        </p:nvSpPr>
        <p:spPr>
          <a:xfrm>
            <a:off x="6705600" y="4810125"/>
            <a:ext cx="304800" cy="304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3" name="Text 34"/>
          <p:cNvSpPr txBox="1"/>
          <p:nvPr/>
        </p:nvSpPr>
        <p:spPr>
          <a:xfrm>
            <a:off x="6705600" y="4810125"/>
            <a:ext cx="304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200" dirty="0"/>
          </a:p>
        </p:txBody>
      </p:sp>
      <p:sp>
        <p:nvSpPr>
          <p:cNvPr id="44" name="Text 35"/>
          <p:cNvSpPr txBox="1"/>
          <p:nvPr/>
        </p:nvSpPr>
        <p:spPr>
          <a:xfrm>
            <a:off x="7143750" y="4705350"/>
            <a:ext cx="44767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Paciente: </a:t>
            </a:r>
            <a:pPr algn="l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prospecto digital (e-PIL), video de aplicación y validación de originalidad.</a:t>
            </a:r>
            <a:endParaRPr lang="en-US" sz="1100" dirty="0"/>
          </a:p>
        </p:txBody>
      </p:sp>
      <p:sp>
        <p:nvSpPr>
          <p:cNvPr id="45" name="Canal 3"/>
          <p:cNvSpPr/>
          <p:nvPr/>
        </p:nvSpPr>
        <p:spPr>
          <a:xfrm>
            <a:off x="6572250" y="5372100"/>
            <a:ext cx="5143500" cy="628650"/>
          </a:xfrm>
          <a:prstGeom prst="roundRect">
            <a:avLst>
              <a:gd name="adj" fmla="val 17455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46" name="Insignia 3"/>
          <p:cNvSpPr/>
          <p:nvPr/>
        </p:nvSpPr>
        <p:spPr>
          <a:xfrm>
            <a:off x="6705600" y="5534025"/>
            <a:ext cx="304800" cy="30480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47" name="Text 38"/>
          <p:cNvSpPr txBox="1"/>
          <p:nvPr/>
        </p:nvSpPr>
        <p:spPr>
          <a:xfrm>
            <a:off x="6705600" y="5534025"/>
            <a:ext cx="304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200" dirty="0"/>
          </a:p>
        </p:txBody>
      </p:sp>
      <p:sp>
        <p:nvSpPr>
          <p:cNvPr id="48" name="Text 39"/>
          <p:cNvSpPr txBox="1"/>
          <p:nvPr/>
        </p:nvSpPr>
        <p:spPr>
          <a:xfrm>
            <a:off x="7143750" y="5429250"/>
            <a:ext cx="44767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Emergencia sanitaria: </a:t>
            </a:r>
            <a:pPr algn="l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alerta de farmacovigilancia o retiro de lote (Recall) inmediata.</a:t>
            </a:r>
            <a:endParaRPr lang="en-US" sz="1100" dirty="0"/>
          </a:p>
        </p:txBody>
      </p:sp>
      <p:sp>
        <p:nvSpPr>
          <p:cNvPr id="49" name="VS"/>
          <p:cNvSpPr/>
          <p:nvPr/>
        </p:nvSpPr>
        <p:spPr>
          <a:xfrm>
            <a:off x="5838825" y="3143250"/>
            <a:ext cx="514350" cy="514350"/>
          </a:xfrm>
          <a:prstGeom prst="ellipse">
            <a:avLst/>
          </a:prstGeom>
          <a:solidFill>
            <a:schemeClr val="accent2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50" name="Text 41"/>
          <p:cNvSpPr txBox="1"/>
          <p:nvPr/>
        </p:nvSpPr>
        <p:spPr>
          <a:xfrm>
            <a:off x="5838825" y="3143250"/>
            <a:ext cx="5143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VS</a:t>
            </a:r>
            <a:endParaRPr lang="en-US" sz="1500" dirty="0"/>
          </a:p>
        </p:txBody>
      </p:sp>
      <p:sp>
        <p:nvSpPr>
          <p:cNvPr id="51" name="Text 42"/>
          <p:cNvSpPr txBox="1"/>
          <p:nvPr/>
        </p:nvSpPr>
        <p:spPr>
          <a:xfrm>
            <a:off x="457200" y="657225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4748B"/>
                </a:solidFill>
              </a:rPr>
              <a:t>Comité Salud GS1 · 5 Nov 2026</a:t>
            </a:r>
            <a:endParaRPr lang="en-US" sz="900" dirty="0"/>
          </a:p>
        </p:txBody>
      </p:sp>
      <p:pic>
        <p:nvPicPr>
          <p:cNvPr id="52" name="Image 7" descr="Logo GS1 Venezuela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63250" y="6496050"/>
            <a:ext cx="952500" cy="2667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667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AGENDA · PUNTO 3 · GS1 NEWS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495300"/>
            <a:ext cx="9525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Novedades globales y </a:t>
            </a:r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hoja de ruta 2026–2027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71500" y="2266950"/>
            <a:ext cx="11049000" cy="0"/>
          </a:xfrm>
          <a:prstGeom prst="line">
            <a:avLst/>
          </a:prstGeom>
          <a:noFill/>
          <a:ln w="38100">
            <a:solidFill>
              <a:srgbClr val="1CA9C9"/>
            </a:solidFill>
            <a:prstDash val="solid"/>
          </a:ln>
        </p:spPr>
      </p:sp>
      <p:sp>
        <p:nvSpPr>
          <p:cNvPr id="5" name="Tarjeta oscura"/>
          <p:cNvSpPr/>
          <p:nvPr/>
        </p:nvSpPr>
        <p:spPr>
          <a:xfrm>
            <a:off x="457200" y="2609850"/>
            <a:ext cx="2667000" cy="3238500"/>
          </a:xfrm>
          <a:prstGeom prst="roundRect">
            <a:avLst>
              <a:gd name="adj" fmla="val 6171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6" name="Insignia 1"/>
          <p:cNvSpPr/>
          <p:nvPr/>
        </p:nvSpPr>
        <p:spPr>
          <a:xfrm>
            <a:off x="1600200" y="2076450"/>
            <a:ext cx="381000" cy="381000"/>
          </a:xfrm>
          <a:prstGeom prst="ellipse">
            <a:avLst/>
          </a:prstGeom>
          <a:solidFill>
            <a:srgbClr val="F2633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600200" y="207645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400" dirty="0"/>
          </a:p>
        </p:txBody>
      </p:sp>
      <p:pic>
        <p:nvPicPr>
          <p:cNvPr id="8" name="Image 0" descr="Icono Sunri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700" y="2781300"/>
            <a:ext cx="304800" cy="3048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7700" y="3181350"/>
            <a:ext cx="2324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Rumbo a GS1 Sunrise 2027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47700" y="369570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2027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647700" y="4114800"/>
            <a:ext cx="228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año meta de GS1 Sunrise: códigos 2D en el punto de venta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47700" y="4495800"/>
            <a:ext cx="2324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Puntos de venta y farmacias avanzan hacia la lectura nativa de códigos 2D.</a:t>
            </a:r>
            <a:endParaRPr lang="en-US" sz="1100" dirty="0"/>
          </a:p>
        </p:txBody>
      </p:sp>
      <p:sp>
        <p:nvSpPr>
          <p:cNvPr id="13" name="Tarjeta oscura"/>
          <p:cNvSpPr/>
          <p:nvPr/>
        </p:nvSpPr>
        <p:spPr>
          <a:xfrm>
            <a:off x="3327368" y="2609850"/>
            <a:ext cx="2667000" cy="3238500"/>
          </a:xfrm>
          <a:prstGeom prst="roundRect">
            <a:avLst>
              <a:gd name="adj" fmla="val 6171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4" name="Insignia 2"/>
          <p:cNvSpPr/>
          <p:nvPr/>
        </p:nvSpPr>
        <p:spPr>
          <a:xfrm>
            <a:off x="4470368" y="2076450"/>
            <a:ext cx="381000" cy="381000"/>
          </a:xfrm>
          <a:prstGeom prst="ellipse">
            <a:avLst/>
          </a:prstGeom>
          <a:solidFill>
            <a:srgbClr val="1CA9C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470368" y="207645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400" dirty="0"/>
          </a:p>
        </p:txBody>
      </p:sp>
      <p:pic>
        <p:nvPicPr>
          <p:cNvPr id="16" name="Image 1" descr="Icono Qr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7868" y="2781300"/>
            <a:ext cx="304800" cy="3048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517868" y="3181350"/>
            <a:ext cx="2324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Plataforma GS1 Digital Link Latam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3517868" y="36957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Disponible para afiliados de GS1 Venezuela.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3517868" y="4095750"/>
            <a:ext cx="23241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app.gs1digitallink.lat</a:t>
            </a:r>
            <a:endParaRPr lang="en-US" sz="950" dirty="0"/>
          </a:p>
        </p:txBody>
      </p:sp>
      <p:sp>
        <p:nvSpPr>
          <p:cNvPr id="20" name="Formato SVG"/>
          <p:cNvSpPr/>
          <p:nvPr/>
        </p:nvSpPr>
        <p:spPr>
          <a:xfrm>
            <a:off x="3517868" y="4343400"/>
            <a:ext cx="438150" cy="228600"/>
          </a:xfrm>
          <a:prstGeom prst="roundRect">
            <a:avLst>
              <a:gd name="adj" fmla="val 4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3517868" y="4343400"/>
            <a:ext cx="438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SVG</a:t>
            </a:r>
            <a:endParaRPr lang="en-US" sz="950" dirty="0"/>
          </a:p>
        </p:txBody>
      </p:sp>
      <p:sp>
        <p:nvSpPr>
          <p:cNvPr id="22" name="Formato PNG"/>
          <p:cNvSpPr/>
          <p:nvPr/>
        </p:nvSpPr>
        <p:spPr>
          <a:xfrm>
            <a:off x="4032218" y="4343400"/>
            <a:ext cx="438150" cy="228600"/>
          </a:xfrm>
          <a:prstGeom prst="roundRect">
            <a:avLst>
              <a:gd name="adj" fmla="val 4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032218" y="4343400"/>
            <a:ext cx="438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PNG</a:t>
            </a:r>
            <a:endParaRPr lang="en-US" sz="950" dirty="0"/>
          </a:p>
        </p:txBody>
      </p:sp>
      <p:sp>
        <p:nvSpPr>
          <p:cNvPr id="24" name="Formato PDF"/>
          <p:cNvSpPr/>
          <p:nvPr/>
        </p:nvSpPr>
        <p:spPr>
          <a:xfrm>
            <a:off x="4546568" y="4343400"/>
            <a:ext cx="438150" cy="228600"/>
          </a:xfrm>
          <a:prstGeom prst="roundRect">
            <a:avLst>
              <a:gd name="adj" fmla="val 4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546568" y="4343400"/>
            <a:ext cx="438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950" dirty="0"/>
          </a:p>
        </p:txBody>
      </p:sp>
      <p:sp>
        <p:nvSpPr>
          <p:cNvPr id="26" name="Formato EPS"/>
          <p:cNvSpPr/>
          <p:nvPr/>
        </p:nvSpPr>
        <p:spPr>
          <a:xfrm>
            <a:off x="5060918" y="4343400"/>
            <a:ext cx="438150" cy="228600"/>
          </a:xfrm>
          <a:prstGeom prst="roundRect">
            <a:avLst>
              <a:gd name="adj" fmla="val 4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5060918" y="4343400"/>
            <a:ext cx="438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3517868" y="4686300"/>
            <a:ext cx="2324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Arte para QR Digital Link y GS1 DataMatrix.</a:t>
            </a:r>
            <a:endParaRPr lang="en-US" sz="1100" dirty="0"/>
          </a:p>
        </p:txBody>
      </p:sp>
      <p:sp>
        <p:nvSpPr>
          <p:cNvPr id="29" name="Tarjeta oscura"/>
          <p:cNvSpPr/>
          <p:nvPr/>
        </p:nvSpPr>
        <p:spPr>
          <a:xfrm>
            <a:off x="6197537" y="2609850"/>
            <a:ext cx="2667000" cy="3238500"/>
          </a:xfrm>
          <a:prstGeom prst="roundRect">
            <a:avLst>
              <a:gd name="adj" fmla="val 6171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0" name="Insignia 3"/>
          <p:cNvSpPr/>
          <p:nvPr/>
        </p:nvSpPr>
        <p:spPr>
          <a:xfrm>
            <a:off x="7340537" y="2076450"/>
            <a:ext cx="381000" cy="381000"/>
          </a:xfrm>
          <a:prstGeom prst="ellipse">
            <a:avLst/>
          </a:prstGeom>
          <a:solidFill>
            <a:srgbClr val="00A79D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340537" y="207645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400" dirty="0"/>
          </a:p>
        </p:txBody>
      </p:sp>
      <p:pic>
        <p:nvPicPr>
          <p:cNvPr id="32" name="Image 2" descr="Icono Share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036" y="2781300"/>
            <a:ext cx="304800" cy="30480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6388036" y="3181350"/>
            <a:ext cx="2324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EPCIS 2.0 e interoperabilidad con IA</a:t>
            </a:r>
            <a:endParaRPr lang="en-US" sz="1300" dirty="0"/>
          </a:p>
        </p:txBody>
      </p:sp>
      <p:sp>
        <p:nvSpPr>
          <p:cNvPr id="34" name="Text 29"/>
          <p:cNvSpPr txBox="1"/>
          <p:nvPr/>
        </p:nvSpPr>
        <p:spPr>
          <a:xfrm>
            <a:off x="6388036" y="3695700"/>
            <a:ext cx="2324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Nuevo estándar global para compartir eventos de visibilidad en cadenas de suministro de salud con máxima ciberseguridad.</a:t>
            </a:r>
            <a:endParaRPr lang="en-US" sz="1100" dirty="0"/>
          </a:p>
        </p:txBody>
      </p:sp>
      <p:sp>
        <p:nvSpPr>
          <p:cNvPr id="35" name="Tarjeta oscura"/>
          <p:cNvSpPr/>
          <p:nvPr/>
        </p:nvSpPr>
        <p:spPr>
          <a:xfrm>
            <a:off x="9067705" y="2609850"/>
            <a:ext cx="2667000" cy="3238500"/>
          </a:xfrm>
          <a:prstGeom prst="roundRect">
            <a:avLst>
              <a:gd name="adj" fmla="val 6171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6" name="Insignia 4"/>
          <p:cNvSpPr/>
          <p:nvPr/>
        </p:nvSpPr>
        <p:spPr>
          <a:xfrm>
            <a:off x="10210705" y="2076450"/>
            <a:ext cx="381000" cy="381000"/>
          </a:xfrm>
          <a:prstGeom prst="ellipse">
            <a:avLst/>
          </a:prstGeom>
          <a:solidFill>
            <a:srgbClr val="F26334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10210705" y="207645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400" dirty="0"/>
          </a:p>
        </p:txBody>
      </p:sp>
      <p:pic>
        <p:nvPicPr>
          <p:cNvPr id="38" name="Image 3" descr="Icono GraduationCa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8205" y="2781300"/>
            <a:ext cx="304800" cy="30480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9258205" y="3181350"/>
            <a:ext cx="2324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Formación y acompañamiento técnico</a:t>
            </a:r>
            <a:endParaRPr lang="en-US" sz="1300" dirty="0"/>
          </a:p>
        </p:txBody>
      </p:sp>
      <p:sp>
        <p:nvSpPr>
          <p:cNvPr id="40" name="Text 34"/>
          <p:cNvSpPr txBox="1"/>
          <p:nvPr/>
        </p:nvSpPr>
        <p:spPr>
          <a:xfrm>
            <a:off x="9258205" y="3695700"/>
            <a:ext cx="2324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Consultoría del Departamento de Estándares de GS1 Venezuela para adecuar líneas de empaque y catalogación.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6334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667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AGENDA · PUNTO 4 · MESA DE TRABAJO DEL COMITÉ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495300"/>
            <a:ext cx="9144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Ronda </a:t>
            </a:r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Abierta</a:t>
            </a:r>
            <a:endParaRPr lang="en-US" sz="2600" dirty="0"/>
          </a:p>
        </p:txBody>
      </p:sp>
      <p:sp>
        <p:nvSpPr>
          <p:cNvPr id="4" name="FOTO (reemplazar): comité"/>
          <p:cNvSpPr/>
          <p:nvPr/>
        </p:nvSpPr>
        <p:spPr>
          <a:xfrm>
            <a:off x="9715500" y="323850"/>
            <a:ext cx="1181100" cy="1181100"/>
          </a:xfrm>
          <a:prstGeom prst="ellipse">
            <a:avLst/>
          </a:prstGeom>
          <a:solidFill>
            <a:schemeClr val="accent6"/>
          </a:solidFill>
          <a:ln w="6350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5" name="Image 0" descr="Icono U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1641" y="689991"/>
            <a:ext cx="448818" cy="448818"/>
          </a:xfrm>
          <a:prstGeom prst="rect">
            <a:avLst/>
          </a:prstGeom>
        </p:spPr>
      </p:pic>
      <p:sp>
        <p:nvSpPr>
          <p:cNvPr id="6" name="Etiqueta foto"/>
          <p:cNvSpPr txBox="1"/>
          <p:nvPr/>
        </p:nvSpPr>
        <p:spPr>
          <a:xfrm>
            <a:off x="9791700" y="1257300"/>
            <a:ext cx="10287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Insertar foto: comité</a:t>
            </a:r>
            <a:endParaRPr lang="en-US" sz="800" dirty="0"/>
          </a:p>
        </p:txBody>
      </p:sp>
      <p:sp>
        <p:nvSpPr>
          <p:cNvPr id="7" name="Tarjeta"/>
          <p:cNvSpPr/>
          <p:nvPr/>
        </p:nvSpPr>
        <p:spPr>
          <a:xfrm>
            <a:off x="457200" y="1676400"/>
            <a:ext cx="5505450" cy="1962150"/>
          </a:xfrm>
          <a:prstGeom prst="roundRect">
            <a:avLst>
              <a:gd name="adj" fmla="val 932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8" name="Insignia 1"/>
          <p:cNvSpPr/>
          <p:nvPr/>
        </p:nvSpPr>
        <p:spPr>
          <a:xfrm>
            <a:off x="666750" y="1885950"/>
            <a:ext cx="476250" cy="476250"/>
          </a:xfrm>
          <a:prstGeom prst="ellipse">
            <a:avLst/>
          </a:prstGeom>
          <a:solidFill>
            <a:srgbClr val="002C6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6750" y="1885950"/>
            <a:ext cx="476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314450" y="1885950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Retos en empaque primario y secundario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314450" y="2476500"/>
            <a:ext cx="4381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¿Cómo preparan los laboratorios nacionales sus líneas de impresión para códigos 2D variables (lote / vencimiento)?</a:t>
            </a:r>
            <a:endParaRPr lang="en-US" sz="1250" dirty="0"/>
          </a:p>
        </p:txBody>
      </p:sp>
      <p:sp>
        <p:nvSpPr>
          <p:cNvPr id="12" name="Tarjeta"/>
          <p:cNvSpPr/>
          <p:nvPr/>
        </p:nvSpPr>
        <p:spPr>
          <a:xfrm>
            <a:off x="6229350" y="1676400"/>
            <a:ext cx="5505450" cy="1962150"/>
          </a:xfrm>
          <a:prstGeom prst="roundRect">
            <a:avLst>
              <a:gd name="adj" fmla="val 932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13" name="Insignia 2"/>
          <p:cNvSpPr/>
          <p:nvPr/>
        </p:nvSpPr>
        <p:spPr>
          <a:xfrm>
            <a:off x="6438900" y="1885950"/>
            <a:ext cx="476250" cy="476250"/>
          </a:xfrm>
          <a:prstGeom prst="ellipse">
            <a:avLst/>
          </a:prstGeom>
          <a:solidFill>
            <a:srgbClr val="1CA9C9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38900" y="1885950"/>
            <a:ext cx="476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7086600" y="1885950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Integración con farmacias y clínicas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086600" y="2476500"/>
            <a:ext cx="4381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Homologación de lectores ópticos 2D y de sistemas ERP / HIS en Venezuela.</a:t>
            </a:r>
            <a:endParaRPr lang="en-US" sz="1250" dirty="0"/>
          </a:p>
        </p:txBody>
      </p:sp>
      <p:sp>
        <p:nvSpPr>
          <p:cNvPr id="17" name="Tarjeta"/>
          <p:cNvSpPr/>
          <p:nvPr/>
        </p:nvSpPr>
        <p:spPr>
          <a:xfrm>
            <a:off x="457200" y="3829050"/>
            <a:ext cx="5505450" cy="1962150"/>
          </a:xfrm>
          <a:prstGeom prst="roundRect">
            <a:avLst>
              <a:gd name="adj" fmla="val 932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18" name="Insignia 3"/>
          <p:cNvSpPr/>
          <p:nvPr/>
        </p:nvSpPr>
        <p:spPr>
          <a:xfrm>
            <a:off x="666750" y="4038600"/>
            <a:ext cx="476250" cy="476250"/>
          </a:xfrm>
          <a:prstGeom prst="ellipse">
            <a:avLst/>
          </a:prstGeom>
          <a:solidFill>
            <a:srgbClr val="F2633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6750" y="4038600"/>
            <a:ext cx="476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1314450" y="4038600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Educación al médico y al paciente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1314450" y="4629150"/>
            <a:ext cx="4381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Estrategias conjuntas para impulsar el escaneo de verificación de autenticidad y la lectura del prospecto digital.</a:t>
            </a:r>
            <a:endParaRPr lang="en-US" sz="1250" dirty="0"/>
          </a:p>
        </p:txBody>
      </p:sp>
      <p:sp>
        <p:nvSpPr>
          <p:cNvPr id="22" name="Tarjeta"/>
          <p:cNvSpPr/>
          <p:nvPr/>
        </p:nvSpPr>
        <p:spPr>
          <a:xfrm>
            <a:off x="6229350" y="3829050"/>
            <a:ext cx="5505450" cy="1962150"/>
          </a:xfrm>
          <a:prstGeom prst="roundRect">
            <a:avLst>
              <a:gd name="adj" fmla="val 932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23" name="Insignia 4"/>
          <p:cNvSpPr/>
          <p:nvPr/>
        </p:nvSpPr>
        <p:spPr>
          <a:xfrm>
            <a:off x="6438900" y="4038600"/>
            <a:ext cx="476250" cy="476250"/>
          </a:xfrm>
          <a:prstGeom prst="ellipse">
            <a:avLst/>
          </a:prstGeom>
          <a:solidFill>
            <a:srgbClr val="00A79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438900" y="4038600"/>
            <a:ext cx="476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7086600" y="4038600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Próximos pilotos 2026–2027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7086600" y="4629150"/>
            <a:ext cx="4381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Definición de las mesas técnicas de trabajo del Comité Salud.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6334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ndas corporativ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Logo GS1 Venezue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323850"/>
            <a:ext cx="1905000" cy="533400"/>
          </a:xfrm>
          <a:prstGeom prst="rect">
            <a:avLst/>
          </a:prstGeom>
        </p:spPr>
      </p:pic>
      <p:sp>
        <p:nvSpPr>
          <p:cNvPr id="4" name="Título"/>
          <p:cNvSpPr txBox="1"/>
          <p:nvPr/>
        </p:nvSpPr>
        <p:spPr>
          <a:xfrm>
            <a:off x="4953000" y="990600"/>
            <a:ext cx="6858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Únete al </a:t>
            </a:r>
            <a:pPr algn="l" indent="0" marL="0">
              <a:buNone/>
            </a:pPr>
            <a:r>
              <a:rPr lang="en-US" sz="33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Comité Salud GS1</a:t>
            </a:r>
            <a:endParaRPr lang="en-US" sz="3300" dirty="0"/>
          </a:p>
        </p:txBody>
      </p:sp>
      <p:sp>
        <p:nvSpPr>
          <p:cNvPr id="5" name="Text 1"/>
          <p:cNvSpPr txBox="1"/>
          <p:nvPr/>
        </p:nvSpPr>
        <p:spPr>
          <a:xfrm>
            <a:off x="4953000" y="1562100"/>
            <a:ext cx="6667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Solicita tu acceso a la plataforma Digital Link.</a:t>
            </a:r>
            <a:endParaRPr lang="en-US" sz="1250" dirty="0"/>
          </a:p>
        </p:txBody>
      </p:sp>
      <p:sp>
        <p:nvSpPr>
          <p:cNvPr id="6" name="Tarjeta"/>
          <p:cNvSpPr/>
          <p:nvPr/>
        </p:nvSpPr>
        <p:spPr>
          <a:xfrm>
            <a:off x="1238250" y="2381250"/>
            <a:ext cx="2857500" cy="28575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7" name="Image 2" descr="Código QR ilustrativ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850" y="2609850"/>
            <a:ext cx="2400300" cy="240030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1123950" y="2266950"/>
            <a:ext cx="419100" cy="0"/>
          </a:xfrm>
          <a:prstGeom prst="line">
            <a:avLst/>
          </a:prstGeom>
          <a:noFill/>
          <a:ln w="63500">
            <a:solidFill>
              <a:srgbClr val="002C6C"/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1123950" y="2266950"/>
            <a:ext cx="0" cy="419100"/>
          </a:xfrm>
          <a:prstGeom prst="line">
            <a:avLst/>
          </a:prstGeom>
          <a:noFill/>
          <a:ln w="63500">
            <a:solidFill>
              <a:srgbClr val="002C6C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3790950" y="2266950"/>
            <a:ext cx="419100" cy="0"/>
          </a:xfrm>
          <a:prstGeom prst="line">
            <a:avLst/>
          </a:prstGeom>
          <a:noFill/>
          <a:ln w="63500">
            <a:solidFill>
              <a:srgbClr val="1CA9C9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4210050" y="2266950"/>
            <a:ext cx="0" cy="419100"/>
          </a:xfrm>
          <a:prstGeom prst="line">
            <a:avLst/>
          </a:prstGeom>
          <a:noFill/>
          <a:ln w="63500">
            <a:solidFill>
              <a:srgbClr val="1CA9C9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1123950" y="5353050"/>
            <a:ext cx="419100" cy="0"/>
          </a:xfrm>
          <a:prstGeom prst="line">
            <a:avLst/>
          </a:prstGeom>
          <a:noFill/>
          <a:ln w="63500">
            <a:solidFill>
              <a:srgbClr val="1CA9C9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123950" y="4933950"/>
            <a:ext cx="0" cy="419100"/>
          </a:xfrm>
          <a:prstGeom prst="line">
            <a:avLst/>
          </a:prstGeom>
          <a:noFill/>
          <a:ln w="63500">
            <a:solidFill>
              <a:srgbClr val="1CA9C9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3790950" y="5353050"/>
            <a:ext cx="419100" cy="0"/>
          </a:xfrm>
          <a:prstGeom prst="line">
            <a:avLst/>
          </a:prstGeom>
          <a:noFill/>
          <a:ln w="63500">
            <a:solidFill>
              <a:srgbClr val="002C6C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4210050" y="4933950"/>
            <a:ext cx="0" cy="419100"/>
          </a:xfrm>
          <a:prstGeom prst="line">
            <a:avLst/>
          </a:prstGeom>
          <a:noFill/>
          <a:ln w="63500">
            <a:solidFill>
              <a:srgbClr val="002C6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238250" y="5562600"/>
            <a:ext cx="2857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ESCANEA · SOLICITA ACCESO</a:t>
            </a:r>
            <a:endParaRPr lang="en-US" sz="900" dirty="0"/>
          </a:p>
        </p:txBody>
      </p:sp>
      <p:sp>
        <p:nvSpPr>
          <p:cNvPr id="17" name="Tarjeta"/>
          <p:cNvSpPr/>
          <p:nvPr/>
        </p:nvSpPr>
        <p:spPr>
          <a:xfrm>
            <a:off x="4953000" y="2038350"/>
            <a:ext cx="6781800" cy="552450"/>
          </a:xfrm>
          <a:prstGeom prst="roundRect">
            <a:avLst>
              <a:gd name="adj" fmla="val 49655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18" name="Image 3" descr="Icono MapP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3500" y="2209800"/>
            <a:ext cx="209550" cy="20955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86400" y="2038350"/>
            <a:ext cx="6096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Oficina GS1 Venezuela. </a:t>
            </a:r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Los Ruices, Calle Los Laboratorios, Edf. Quorum, Piso 1, Oficina K, Caracas, Venezuela.</a:t>
            </a:r>
            <a:endParaRPr lang="en-US" sz="1150" dirty="0"/>
          </a:p>
        </p:txBody>
      </p:sp>
      <p:sp>
        <p:nvSpPr>
          <p:cNvPr id="20" name="Tarjeta"/>
          <p:cNvSpPr/>
          <p:nvPr/>
        </p:nvSpPr>
        <p:spPr>
          <a:xfrm>
            <a:off x="4953000" y="2724150"/>
            <a:ext cx="6781800" cy="419100"/>
          </a:xfrm>
          <a:prstGeom prst="roundRect">
            <a:avLst>
              <a:gd name="adj" fmla="val 65455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21" name="Image 4" descr="Icono Ph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3500" y="2828925"/>
            <a:ext cx="209550" cy="20955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486400" y="272415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+58 414-2771877  /  +58 412-628-3276</a:t>
            </a:r>
            <a:endParaRPr lang="en-US" sz="1100" dirty="0"/>
          </a:p>
        </p:txBody>
      </p:sp>
      <p:sp>
        <p:nvSpPr>
          <p:cNvPr id="23" name="Tarjeta"/>
          <p:cNvSpPr/>
          <p:nvPr/>
        </p:nvSpPr>
        <p:spPr>
          <a:xfrm>
            <a:off x="4953000" y="3276600"/>
            <a:ext cx="6781800" cy="628650"/>
          </a:xfrm>
          <a:prstGeom prst="roundRect">
            <a:avLst>
              <a:gd name="adj" fmla="val 43636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24" name="Image 5" descr="Icono Mai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3500" y="3486150"/>
            <a:ext cx="209550" cy="20955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486400" y="3276600"/>
            <a:ext cx="60960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Solicituddecodigo@gs1ve.org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Glabrador@gs1ve.org · Acastro@gs1ve.org</a:t>
            </a:r>
            <a:endParaRPr lang="en-US" sz="1100" dirty="0"/>
          </a:p>
        </p:txBody>
      </p:sp>
      <p:sp>
        <p:nvSpPr>
          <p:cNvPr id="26" name="Tarjeta"/>
          <p:cNvSpPr/>
          <p:nvPr/>
        </p:nvSpPr>
        <p:spPr>
          <a:xfrm>
            <a:off x="4953000" y="4038600"/>
            <a:ext cx="6781800" cy="419100"/>
          </a:xfrm>
          <a:prstGeom prst="roundRect">
            <a:avLst>
              <a:gd name="adj" fmla="val 65455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27" name="Image 6" descr="Icono Glob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43500" y="4143375"/>
            <a:ext cx="209550" cy="20955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5486400" y="403860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www.gs1ve.org  ·  Instagram @GS1Venezuela  ·  RIF J-00336360-0</a:t>
            </a:r>
            <a:endParaRPr lang="en-US" sz="1150" dirty="0"/>
          </a:p>
        </p:txBody>
      </p:sp>
      <p:sp>
        <p:nvSpPr>
          <p:cNvPr id="29" name="Text 20"/>
          <p:cNvSpPr txBox="1"/>
          <p:nvPr/>
        </p:nvSpPr>
        <p:spPr>
          <a:xfrm>
            <a:off x="4953000" y="51435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Datos estándar, </a:t>
            </a:r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decisiones seguras.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S1 Healthcare">
  <a:themeElements>
    <a:clrScheme name="GS1 Healthcare">
      <a:dk1>
        <a:srgbClr val="0B132B"/>
      </a:dk1>
      <a:lt1>
        <a:srgbClr val="FFFFFF"/>
      </a:lt1>
      <a:dk2>
        <a:srgbClr val="002C6C"/>
      </a:dk2>
      <a:lt2>
        <a:srgbClr val="F8FAFC"/>
      </a:lt2>
      <a:accent1>
        <a:srgbClr val="1CA9C9"/>
      </a:accent1>
      <a:accent2>
        <a:srgbClr val="F26334"/>
      </a:accent2>
      <a:accent3>
        <a:srgbClr val="00A79D"/>
      </a:accent3>
      <a:accent4>
        <a:srgbClr val="10B981"/>
      </a:accent4>
      <a:accent5>
        <a:srgbClr val="EF4444"/>
      </a:accent5>
      <a:accent6>
        <a:srgbClr val="0097B2"/>
      </a:accent6>
      <a:hlink>
        <a:srgbClr val="0097B2"/>
      </a:hlink>
      <a:folHlink>
        <a:srgbClr val="002C6C"/>
      </a:folHlink>
    </a:clrScheme>
    <a:fontScheme name="GS1 Healthcar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GS1 Venezuela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COMITÉ Salud GS1</dc:title>
  <dc:subject>PptxGenJS Presentation</dc:subject>
  <dc:creator>GS1 Venezuela</dc:creator>
  <cp:lastModifiedBy>GS1 Venezuela</cp:lastModifiedBy>
  <cp:revision>1</cp:revision>
  <dcterms:created xsi:type="dcterms:W3CDTF">2026-10-29T14:08:45Z</dcterms:created>
  <dcterms:modified xsi:type="dcterms:W3CDTF">2026-10-29T14:08:45Z</dcterms:modified>
</cp:coreProperties>
</file>