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26334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41</c:v>
                </c:pt>
                <c:pt idx="1">
                  <c:v>59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A9C9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80</c:v>
                </c:pt>
                <c:pt idx="1">
                  <c:v>20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Reemplazar los marcadores de foto (cápsula y círculo) por fotos de atención médica.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image-1003-3.png"/><Relationship Id="rId4" Type="http://schemas.openxmlformats.org/officeDocument/2006/relationships/image" Target="../media/GS1_OSCURO-image-4.png"/><Relationship Id="rId5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S1_CLAR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S1 Venezue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7000"/>
            <a:ext cx="952500" cy="2667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38500" y="653415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Comité Salud GS1 · 5 Nov 2026 · www.gs1ve.org</a:t>
            </a:r>
            <a:endParaRPr lang="en-US" sz="900" dirty="0"/>
          </a:p>
        </p:txBody>
      </p:sp>
      <p:pic>
        <p:nvPicPr>
          <p:cNvPr id="4" name="Image 1" descr="Onda decorativ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250" y="0"/>
            <a:ext cx="1809750" cy="819150"/>
          </a:xfrm>
          <a:prstGeom prst="rect">
            <a:avLst/>
          </a:prstGeom>
        </p:spPr>
      </p:pic>
      <p:pic>
        <p:nvPicPr>
          <p:cNvPr id="5" name="Image 2" descr="Onda decorativ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500" y="6248400"/>
            <a:ext cx="2857500" cy="609600"/>
          </a:xfrm>
          <a:prstGeom prst="rect">
            <a:avLst/>
          </a:prstGeom>
        </p:spPr>
      </p:pic>
      <p:sp>
        <p:nvSpPr>
          <p:cNvPr id="6" name="Text 1"/>
          <p:cNvSpPr/>
          <p:nvPr>
            <p:ph idx="104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S1_OSCURO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S1 Venezue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7000"/>
            <a:ext cx="952500" cy="2667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38500" y="653415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Comité Salud GS1 · 5 Nov 2026 · www.gs1ve.org</a:t>
            </a:r>
            <a:endParaRPr lang="en-US" sz="900" dirty="0"/>
          </a:p>
        </p:txBody>
      </p:sp>
      <p:pic>
        <p:nvPicPr>
          <p:cNvPr id="4" name="Image 1" descr="Onda decorativ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250" y="0"/>
            <a:ext cx="1809750" cy="819150"/>
          </a:xfrm>
          <a:prstGeom prst="rect">
            <a:avLst/>
          </a:prstGeom>
        </p:spPr>
      </p:pic>
      <p:pic>
        <p:nvPicPr>
          <p:cNvPr id="5" name="Image 2" descr="Onda decorativ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500" y="6248400"/>
            <a:ext cx="2857500" cy="609600"/>
          </a:xfrm>
          <a:prstGeom prst="rect">
            <a:avLst/>
          </a:prstGeom>
        </p:spPr>
      </p:pic>
      <p:sp>
        <p:nvSpPr>
          <p:cNvPr id="6" name="Text 1"/>
          <p:cNvSpPr/>
          <p:nvPr>
            <p:ph idx="104" type="title" hasCustomPrompt="1"/>
          </p:nvPr>
        </p:nvSpPr>
        <p:spPr>
          <a:xfrm>
            <a:off x="457200" y="495300"/>
            <a:ext cx="9525000" cy="723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S1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slideLayout" Target="../slideLayouts/slideLayout4.xml"/><Relationship Id="rId1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3-1.png"/><Relationship Id="rId4" Type="http://schemas.openxmlformats.org/officeDocument/2006/relationships/image" Target="../media/image-3-2.png"/><Relationship Id="rId5" Type="http://schemas.openxmlformats.org/officeDocument/2006/relationships/image" Target="../media/image-3-3.png"/><Relationship Id="rId6" Type="http://schemas.openxmlformats.org/officeDocument/2006/relationships/image" Target="../media/image-3-4.png"/><Relationship Id="rId7" Type="http://schemas.openxmlformats.org/officeDocument/2006/relationships/image" Target="../media/image-3-5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ndas corporativ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Logo GS1 Venezue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500"/>
            <a:ext cx="1600200" cy="800100"/>
          </a:xfrm>
          <a:prstGeom prst="rect">
            <a:avLst/>
          </a:prstGeom>
        </p:spPr>
      </p:pic>
      <p:sp>
        <p:nvSpPr>
          <p:cNvPr id="4" name="Título"/>
          <p:cNvSpPr txBox="1"/>
          <p:nvPr/>
        </p:nvSpPr>
        <p:spPr>
          <a:xfrm>
            <a:off x="533400" y="10287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COMITÉ</a:t>
            </a:r>
            <a:endParaRPr lang="en-US" sz="6900" dirty="0"/>
          </a:p>
        </p:txBody>
      </p:sp>
      <p:sp>
        <p:nvSpPr>
          <p:cNvPr id="5" name="Text 1"/>
          <p:cNvSpPr txBox="1"/>
          <p:nvPr/>
        </p:nvSpPr>
        <p:spPr>
          <a:xfrm>
            <a:off x="533400" y="1962150"/>
            <a:ext cx="590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 GS1</a:t>
            </a:r>
            <a:endParaRPr lang="en-US" sz="5800" dirty="0"/>
          </a:p>
        </p:txBody>
      </p:sp>
      <p:sp>
        <p:nvSpPr>
          <p:cNvPr id="6" name="Icono BrainCircuit"/>
          <p:cNvSpPr/>
          <p:nvPr/>
        </p:nvSpPr>
        <p:spPr>
          <a:xfrm>
            <a:off x="533400" y="3028950"/>
            <a:ext cx="342900" cy="342900"/>
          </a:xfrm>
          <a:prstGeom prst="ellipse">
            <a:avLst/>
          </a:prstGeom>
          <a:solidFill>
            <a:srgbClr val="002C6C"/>
          </a:solidFill>
          <a:ln/>
        </p:spPr>
      </p:sp>
      <p:pic>
        <p:nvPicPr>
          <p:cNvPr id="7" name="Image 2" descr="Icono BrainCircui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96" y="3111246"/>
            <a:ext cx="178308" cy="17830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90600" y="30099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Rastreo Inteligente: IA Aplicada a la Trazabilidad Médica.</a:t>
            </a:r>
            <a:endParaRPr lang="en-US" sz="1200" dirty="0"/>
          </a:p>
        </p:txBody>
      </p:sp>
      <p:sp>
        <p:nvSpPr>
          <p:cNvPr id="9" name="Icono ShieldPlus"/>
          <p:cNvSpPr/>
          <p:nvPr/>
        </p:nvSpPr>
        <p:spPr>
          <a:xfrm>
            <a:off x="533400" y="3524250"/>
            <a:ext cx="342900" cy="3429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10" name="Image 3" descr="Icono ShieldPl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696" y="3606546"/>
            <a:ext cx="178308" cy="17830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90600" y="35052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del paciente, eficiencia de la cadena de suministro y trazabilidad de medicamentos.</a:t>
            </a:r>
            <a:endParaRPr lang="en-US" sz="1200" dirty="0"/>
          </a:p>
        </p:txBody>
      </p:sp>
      <p:sp>
        <p:nvSpPr>
          <p:cNvPr id="12" name="Icono Globe"/>
          <p:cNvSpPr/>
          <p:nvPr/>
        </p:nvSpPr>
        <p:spPr>
          <a:xfrm>
            <a:off x="533400" y="4019550"/>
            <a:ext cx="342900" cy="342900"/>
          </a:xfrm>
          <a:prstGeom prst="ellipse">
            <a:avLst/>
          </a:prstGeom>
          <a:solidFill>
            <a:srgbClr val="002C6C"/>
          </a:solidFill>
          <a:ln/>
        </p:spPr>
      </p:sp>
      <p:pic>
        <p:nvPicPr>
          <p:cNvPr id="13" name="Image 4" descr="Icono Glob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696" y="4101846"/>
            <a:ext cx="178308" cy="17830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990600" y="40005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Éxito Internacionales y Contexto Venezolano.</a:t>
            </a:r>
            <a:endParaRPr lang="en-US" sz="1200" dirty="0"/>
          </a:p>
        </p:txBody>
      </p:sp>
      <p:sp>
        <p:nvSpPr>
          <p:cNvPr id="15" name="Icono MessagesSquare"/>
          <p:cNvSpPr/>
          <p:nvPr/>
        </p:nvSpPr>
        <p:spPr>
          <a:xfrm>
            <a:off x="533400" y="4514850"/>
            <a:ext cx="342900" cy="3429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16" name="Image 5" descr="Icono MessagesSqua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696" y="4597146"/>
            <a:ext cx="178308" cy="17830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90600" y="44958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GS1 News &amp; Ronda Abierta.</a:t>
            </a:r>
            <a:endParaRPr lang="en-US" sz="1200" dirty="0"/>
          </a:p>
        </p:txBody>
      </p:sp>
      <p:sp>
        <p:nvSpPr>
          <p:cNvPr id="18" name="Tarjeta"/>
          <p:cNvSpPr/>
          <p:nvPr/>
        </p:nvSpPr>
        <p:spPr>
          <a:xfrm>
            <a:off x="533400" y="5467350"/>
            <a:ext cx="6381750" cy="1066800"/>
          </a:xfrm>
          <a:prstGeom prst="roundRect">
            <a:avLst>
              <a:gd name="adj" fmla="val 25714"/>
            </a:avLst>
          </a:prstGeom>
          <a:solidFill>
            <a:schemeClr val="accent1"/>
          </a:solidFill>
          <a:ln w="9525">
            <a:solidFill>
              <a:srgbClr val="1CA9C9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9" name="Image 6" descr="Icono CalendarDay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5619750"/>
            <a:ext cx="209550" cy="20955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047750" y="560070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Noviembre, 2026</a:t>
            </a:r>
            <a:endParaRPr lang="en-US" sz="1600" dirty="0"/>
          </a:p>
        </p:txBody>
      </p:sp>
      <p:pic>
        <p:nvPicPr>
          <p:cNvPr id="21" name="Image 7" descr="Icono Clo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5981700"/>
            <a:ext cx="171450" cy="17145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047750" y="596265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8:30 am – 10:00 am</a:t>
            </a:r>
            <a:endParaRPr lang="en-US" sz="1200" dirty="0"/>
          </a:p>
        </p:txBody>
      </p:sp>
      <p:sp>
        <p:nvSpPr>
          <p:cNvPr id="23" name="Shape 13"/>
          <p:cNvSpPr/>
          <p:nvPr/>
        </p:nvSpPr>
        <p:spPr>
          <a:xfrm>
            <a:off x="3143250" y="5638800"/>
            <a:ext cx="0" cy="723900"/>
          </a:xfrm>
          <a:prstGeom prst="line">
            <a:avLst/>
          </a:prstGeom>
          <a:noFill/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pic>
        <p:nvPicPr>
          <p:cNvPr id="24" name="Image 8" descr="Icono MapPi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3750" y="5657850"/>
            <a:ext cx="209550" cy="20955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3619500" y="5619750"/>
            <a:ext cx="31432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GS1 Venezuela. </a:t>
            </a:r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Ruices, Calle Los Laboratorios, Edf. Quorum, Piso 1, Oficina K (Caracas).</a:t>
            </a:r>
            <a:endParaRPr lang="en-US" sz="1100" dirty="0"/>
          </a:p>
        </p:txBody>
      </p:sp>
      <p:pic>
        <p:nvPicPr>
          <p:cNvPr id="26" name="Image 9" descr="Médico y pacient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360000">
            <a:off x="7953375" y="1428750"/>
            <a:ext cx="2628900" cy="4248150"/>
          </a:xfrm>
          <a:prstGeom prst="rect">
            <a:avLst/>
          </a:prstGeom>
        </p:spPr>
      </p:pic>
      <p:pic>
        <p:nvPicPr>
          <p:cNvPr id="27" name="Image 10" descr="Médico con iconos de salud y protecció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53250" y="3028950"/>
            <a:ext cx="2381250" cy="2381250"/>
          </a:xfrm>
          <a:prstGeom prst="rect">
            <a:avLst/>
          </a:prstGeom>
        </p:spPr>
      </p:pic>
      <p:sp>
        <p:nvSpPr>
          <p:cNvPr id="28" name="Círculo"/>
          <p:cNvSpPr/>
          <p:nvPr/>
        </p:nvSpPr>
        <p:spPr>
          <a:xfrm>
            <a:off x="8905875" y="2714625"/>
            <a:ext cx="552450" cy="552450"/>
          </a:xfrm>
          <a:prstGeom prst="ellipse">
            <a:avLst/>
          </a:prstGeom>
          <a:solidFill>
            <a:schemeClr val="bg1"/>
          </a:solidFill>
          <a:ln w="38100">
            <a:solidFill>
              <a:srgbClr val="1CA9C9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9" name="Text 16"/>
          <p:cNvSpPr txBox="1"/>
          <p:nvPr/>
        </p:nvSpPr>
        <p:spPr>
          <a:xfrm>
            <a:off x="8905875" y="2714625"/>
            <a:ext cx="552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400" dirty="0"/>
          </a:p>
        </p:txBody>
      </p:sp>
      <p:sp>
        <p:nvSpPr>
          <p:cNvPr id="30" name="Icono ShieldCheck"/>
          <p:cNvSpPr/>
          <p:nvPr/>
        </p:nvSpPr>
        <p:spPr>
          <a:xfrm>
            <a:off x="10382250" y="123825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1" name="Image 11" descr="Icono ShieldCheck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91978" y="1347978"/>
            <a:ext cx="237744" cy="237744"/>
          </a:xfrm>
          <a:prstGeom prst="rect">
            <a:avLst/>
          </a:prstGeom>
        </p:spPr>
      </p:pic>
      <p:pic>
        <p:nvPicPr>
          <p:cNvPr id="32" name="Image 12" descr="Icono Phon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20250" y="6324600"/>
            <a:ext cx="152400" cy="152400"/>
          </a:xfrm>
          <a:prstGeom prst="rect">
            <a:avLst/>
          </a:prstGeom>
        </p:spPr>
      </p:pic>
      <p:sp>
        <p:nvSpPr>
          <p:cNvPr id="33" name="Text 18"/>
          <p:cNvSpPr txBox="1"/>
          <p:nvPr/>
        </p:nvSpPr>
        <p:spPr>
          <a:xfrm>
            <a:off x="9829800" y="630555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+58 414 2771877</a:t>
            </a:r>
            <a:endParaRPr lang="en-US" sz="1100" dirty="0"/>
          </a:p>
        </p:txBody>
      </p:sp>
      <p:pic>
        <p:nvPicPr>
          <p:cNvPr id="34" name="Image 13" descr="Icono Glob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20250" y="6553200"/>
            <a:ext cx="152400" cy="152400"/>
          </a:xfrm>
          <a:prstGeom prst="rect">
            <a:avLst/>
          </a:prstGeom>
        </p:spPr>
      </p:pic>
      <p:sp>
        <p:nvSpPr>
          <p:cNvPr id="35" name="Text 19"/>
          <p:cNvSpPr txBox="1"/>
          <p:nvPr/>
        </p:nvSpPr>
        <p:spPr>
          <a:xfrm>
            <a:off x="9829800" y="653415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www.gs1ve.org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SALUD GS1 · 5 NOVIEMBRE 2026</a:t>
            </a:r>
            <a:endParaRPr lang="en-US" sz="9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hoy</a:t>
            </a:r>
            <a:endParaRPr lang="en-US" sz="2600" dirty="0"/>
          </a:p>
        </p:txBody>
      </p:sp>
      <p:sp>
        <p:nvSpPr>
          <p:cNvPr id="4" name="Tarjeta"/>
          <p:cNvSpPr/>
          <p:nvPr/>
        </p:nvSpPr>
        <p:spPr>
          <a:xfrm>
            <a:off x="457200" y="1285875"/>
            <a:ext cx="2667000" cy="352425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" name="Barra de color"/>
          <p:cNvSpPr/>
          <p:nvPr/>
        </p:nvSpPr>
        <p:spPr>
          <a:xfrm>
            <a:off x="590550" y="1285875"/>
            <a:ext cx="2400300" cy="762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6" name="Barra de color (base)"/>
          <p:cNvSpPr/>
          <p:nvPr/>
        </p:nvSpPr>
        <p:spPr>
          <a:xfrm>
            <a:off x="590550" y="1323975"/>
            <a:ext cx="2400300" cy="381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" name="Insignia 1"/>
          <p:cNvSpPr/>
          <p:nvPr/>
        </p:nvSpPr>
        <p:spPr>
          <a:xfrm>
            <a:off x="647700" y="1524000"/>
            <a:ext cx="381000" cy="3810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7700" y="1524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Icono BrainCircuit"/>
          <p:cNvSpPr/>
          <p:nvPr/>
        </p:nvSpPr>
        <p:spPr>
          <a:xfrm>
            <a:off x="2457450" y="150495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0" descr="Icono BrainCircu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7178" y="161467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47700" y="2114550"/>
            <a:ext cx="2324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Rastreo Inteligente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7700" y="2628900"/>
            <a:ext cx="2324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a la trazabilidad médica</a:t>
            </a:r>
            <a:endParaRPr lang="en-US" sz="1100" dirty="0"/>
          </a:p>
        </p:txBody>
      </p:sp>
      <p:sp>
        <p:nvSpPr>
          <p:cNvPr id="13" name="Viñeta"/>
          <p:cNvSpPr/>
          <p:nvPr/>
        </p:nvSpPr>
        <p:spPr>
          <a:xfrm>
            <a:off x="666750" y="3152775"/>
            <a:ext cx="76200" cy="76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200" y="3067050"/>
            <a:ext cx="2133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estándar + IA</a:t>
            </a:r>
            <a:endParaRPr lang="en-US" sz="1150" dirty="0"/>
          </a:p>
        </p:txBody>
      </p:sp>
      <p:sp>
        <p:nvSpPr>
          <p:cNvPr id="15" name="Viñeta"/>
          <p:cNvSpPr/>
          <p:nvPr/>
        </p:nvSpPr>
        <p:spPr>
          <a:xfrm>
            <a:off x="666750" y="3571875"/>
            <a:ext cx="76200" cy="76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8200" y="3486150"/>
            <a:ext cx="2133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Predicción, visión artificial y anomalías</a:t>
            </a:r>
            <a:endParaRPr lang="en-US" sz="1150" dirty="0"/>
          </a:p>
        </p:txBody>
      </p:sp>
      <p:sp>
        <p:nvSpPr>
          <p:cNvPr id="17" name="Tarjeta"/>
          <p:cNvSpPr/>
          <p:nvPr/>
        </p:nvSpPr>
        <p:spPr>
          <a:xfrm>
            <a:off x="3327368" y="1285875"/>
            <a:ext cx="2667000" cy="352425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8" name="Barra de color"/>
          <p:cNvSpPr/>
          <p:nvPr/>
        </p:nvSpPr>
        <p:spPr>
          <a:xfrm>
            <a:off x="3460718" y="1285875"/>
            <a:ext cx="2400300" cy="76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9" name="Barra de color (base)"/>
          <p:cNvSpPr/>
          <p:nvPr/>
        </p:nvSpPr>
        <p:spPr>
          <a:xfrm>
            <a:off x="3460718" y="1323975"/>
            <a:ext cx="2400300" cy="381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Insignia 2"/>
          <p:cNvSpPr/>
          <p:nvPr/>
        </p:nvSpPr>
        <p:spPr>
          <a:xfrm>
            <a:off x="3517868" y="1524000"/>
            <a:ext cx="381000" cy="381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517868" y="1524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Icono ShieldPlus"/>
          <p:cNvSpPr/>
          <p:nvPr/>
        </p:nvSpPr>
        <p:spPr>
          <a:xfrm>
            <a:off x="5327618" y="150495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mage 1" descr="Icono Shield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346" y="1614678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3517868" y="2114550"/>
            <a:ext cx="2324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cadena y trazabilidad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3517868" y="2628900"/>
            <a:ext cx="2324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Pacientes, suministro y medicamentos</a:t>
            </a:r>
            <a:endParaRPr lang="en-US" sz="1100" dirty="0"/>
          </a:p>
        </p:txBody>
      </p:sp>
      <p:sp>
        <p:nvSpPr>
          <p:cNvPr id="26" name="Viñeta"/>
          <p:cNvSpPr/>
          <p:nvPr/>
        </p:nvSpPr>
        <p:spPr>
          <a:xfrm>
            <a:off x="3536918" y="3152775"/>
            <a:ext cx="76200" cy="76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3708368" y="3067050"/>
            <a:ext cx="2133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 Correctos (BCMA)</a:t>
            </a:r>
            <a:endParaRPr lang="en-US" sz="1150" dirty="0"/>
          </a:p>
        </p:txBody>
      </p:sp>
      <p:sp>
        <p:nvSpPr>
          <p:cNvPr id="28" name="Viñeta"/>
          <p:cNvSpPr/>
          <p:nvPr/>
        </p:nvSpPr>
        <p:spPr>
          <a:xfrm>
            <a:off x="3536918" y="3571875"/>
            <a:ext cx="76200" cy="76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3708368" y="3486150"/>
            <a:ext cx="2133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 de la cadena</a:t>
            </a:r>
            <a:endParaRPr lang="en-US" sz="1150" dirty="0"/>
          </a:p>
        </p:txBody>
      </p:sp>
      <p:sp>
        <p:nvSpPr>
          <p:cNvPr id="30" name="Viñeta"/>
          <p:cNvSpPr/>
          <p:nvPr/>
        </p:nvSpPr>
        <p:spPr>
          <a:xfrm>
            <a:off x="3536918" y="3990975"/>
            <a:ext cx="76200" cy="76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3708368" y="3905250"/>
            <a:ext cx="2133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EAN-13 a 2D: DataMatrix y QR GS1</a:t>
            </a:r>
            <a:endParaRPr lang="en-US" sz="1150" dirty="0"/>
          </a:p>
        </p:txBody>
      </p:sp>
      <p:sp>
        <p:nvSpPr>
          <p:cNvPr id="32" name="Viñeta"/>
          <p:cNvSpPr/>
          <p:nvPr/>
        </p:nvSpPr>
        <p:spPr>
          <a:xfrm>
            <a:off x="3536918" y="4410075"/>
            <a:ext cx="76200" cy="76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3708368" y="4324350"/>
            <a:ext cx="2133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éxito</a:t>
            </a:r>
            <a:endParaRPr lang="en-US" sz="1150" dirty="0"/>
          </a:p>
        </p:txBody>
      </p:sp>
      <p:sp>
        <p:nvSpPr>
          <p:cNvPr id="34" name="Tarjeta"/>
          <p:cNvSpPr/>
          <p:nvPr/>
        </p:nvSpPr>
        <p:spPr>
          <a:xfrm>
            <a:off x="6197537" y="1285875"/>
            <a:ext cx="2667000" cy="352425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5" name="Barra de color"/>
          <p:cNvSpPr/>
          <p:nvPr/>
        </p:nvSpPr>
        <p:spPr>
          <a:xfrm>
            <a:off x="6330886" y="1285875"/>
            <a:ext cx="2400300" cy="76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36" name="Barra de color (base)"/>
          <p:cNvSpPr/>
          <p:nvPr/>
        </p:nvSpPr>
        <p:spPr>
          <a:xfrm>
            <a:off x="6330886" y="1323975"/>
            <a:ext cx="2400300" cy="381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7" name="Insignia 3"/>
          <p:cNvSpPr/>
          <p:nvPr/>
        </p:nvSpPr>
        <p:spPr>
          <a:xfrm>
            <a:off x="6388036" y="1524000"/>
            <a:ext cx="381000" cy="3810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6388036" y="1524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9" name="Icono Newspaper"/>
          <p:cNvSpPr/>
          <p:nvPr/>
        </p:nvSpPr>
        <p:spPr>
          <a:xfrm>
            <a:off x="8197787" y="150495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0" name="Image 2" descr="Icono News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7514" y="1614678"/>
            <a:ext cx="237744" cy="237744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388036" y="2114550"/>
            <a:ext cx="2324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GS1 News</a:t>
            </a:r>
            <a:endParaRPr lang="en-US" sz="1500" dirty="0"/>
          </a:p>
        </p:txBody>
      </p:sp>
      <p:sp>
        <p:nvSpPr>
          <p:cNvPr id="42" name="Text 37"/>
          <p:cNvSpPr txBox="1"/>
          <p:nvPr/>
        </p:nvSpPr>
        <p:spPr>
          <a:xfrm>
            <a:off x="6388036" y="2628900"/>
            <a:ext cx="2324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y hoja de ruta</a:t>
            </a:r>
            <a:endParaRPr lang="en-US" sz="1100" dirty="0"/>
          </a:p>
        </p:txBody>
      </p:sp>
      <p:sp>
        <p:nvSpPr>
          <p:cNvPr id="43" name="Viñeta"/>
          <p:cNvSpPr/>
          <p:nvPr/>
        </p:nvSpPr>
        <p:spPr>
          <a:xfrm>
            <a:off x="6407087" y="3152775"/>
            <a:ext cx="76200" cy="76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6578537" y="3067050"/>
            <a:ext cx="2133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Sunrise 2027</a:t>
            </a:r>
            <a:endParaRPr lang="en-US" sz="1150" dirty="0"/>
          </a:p>
        </p:txBody>
      </p:sp>
      <p:sp>
        <p:nvSpPr>
          <p:cNvPr id="45" name="Viñeta"/>
          <p:cNvSpPr/>
          <p:nvPr/>
        </p:nvSpPr>
        <p:spPr>
          <a:xfrm>
            <a:off x="6407087" y="3571875"/>
            <a:ext cx="76200" cy="76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6578537" y="3486150"/>
            <a:ext cx="2133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GS1 Digital Link Latam</a:t>
            </a:r>
            <a:endParaRPr lang="en-US" sz="1150" dirty="0"/>
          </a:p>
        </p:txBody>
      </p:sp>
      <p:sp>
        <p:nvSpPr>
          <p:cNvPr id="47" name="Viñeta"/>
          <p:cNvSpPr/>
          <p:nvPr/>
        </p:nvSpPr>
        <p:spPr>
          <a:xfrm>
            <a:off x="6407087" y="3990975"/>
            <a:ext cx="76200" cy="76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6578537" y="3905250"/>
            <a:ext cx="2133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EPCIS 2.0</a:t>
            </a:r>
            <a:endParaRPr lang="en-US" sz="1150" dirty="0"/>
          </a:p>
        </p:txBody>
      </p:sp>
      <p:sp>
        <p:nvSpPr>
          <p:cNvPr id="49" name="Tarjeta"/>
          <p:cNvSpPr/>
          <p:nvPr/>
        </p:nvSpPr>
        <p:spPr>
          <a:xfrm>
            <a:off x="9067705" y="1285875"/>
            <a:ext cx="2667000" cy="352425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0" name="Barra de color"/>
          <p:cNvSpPr/>
          <p:nvPr/>
        </p:nvSpPr>
        <p:spPr>
          <a:xfrm>
            <a:off x="9201055" y="1285875"/>
            <a:ext cx="2400300" cy="76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51" name="Barra de color (base)"/>
          <p:cNvSpPr/>
          <p:nvPr/>
        </p:nvSpPr>
        <p:spPr>
          <a:xfrm>
            <a:off x="9201055" y="1323975"/>
            <a:ext cx="2400300" cy="381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2" name="Insignia 4"/>
          <p:cNvSpPr/>
          <p:nvPr/>
        </p:nvSpPr>
        <p:spPr>
          <a:xfrm>
            <a:off x="9258205" y="1524000"/>
            <a:ext cx="381000" cy="3810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58205" y="1524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4" name="Icono MessagesSquare"/>
          <p:cNvSpPr/>
          <p:nvPr/>
        </p:nvSpPr>
        <p:spPr>
          <a:xfrm>
            <a:off x="11067955" y="150495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5" name="Image 3" descr="Icono Messages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7683" y="1614678"/>
            <a:ext cx="237744" cy="237744"/>
          </a:xfrm>
          <a:prstGeom prst="rect">
            <a:avLst/>
          </a:prstGeom>
        </p:spPr>
      </p:pic>
      <p:sp>
        <p:nvSpPr>
          <p:cNvPr id="56" name="Text 50"/>
          <p:cNvSpPr txBox="1"/>
          <p:nvPr/>
        </p:nvSpPr>
        <p:spPr>
          <a:xfrm>
            <a:off x="9258205" y="2114550"/>
            <a:ext cx="2324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 Abierta</a:t>
            </a:r>
            <a:endParaRPr lang="en-US" sz="1500" dirty="0"/>
          </a:p>
        </p:txBody>
      </p:sp>
      <p:sp>
        <p:nvSpPr>
          <p:cNvPr id="57" name="Text 51"/>
          <p:cNvSpPr txBox="1"/>
          <p:nvPr/>
        </p:nvSpPr>
        <p:spPr>
          <a:xfrm>
            <a:off x="9258205" y="2628900"/>
            <a:ext cx="2324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 del Comité</a:t>
            </a:r>
            <a:endParaRPr lang="en-US" sz="1100" dirty="0"/>
          </a:p>
        </p:txBody>
      </p:sp>
      <p:sp>
        <p:nvSpPr>
          <p:cNvPr id="58" name="Viñeta"/>
          <p:cNvSpPr/>
          <p:nvPr/>
        </p:nvSpPr>
        <p:spPr>
          <a:xfrm>
            <a:off x="9277255" y="3152775"/>
            <a:ext cx="76200" cy="76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9448705" y="3067050"/>
            <a:ext cx="2133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Retos de implementación</a:t>
            </a:r>
            <a:endParaRPr lang="en-US" sz="1150" dirty="0"/>
          </a:p>
        </p:txBody>
      </p:sp>
      <p:sp>
        <p:nvSpPr>
          <p:cNvPr id="60" name="Viñeta"/>
          <p:cNvSpPr/>
          <p:nvPr/>
        </p:nvSpPr>
        <p:spPr>
          <a:xfrm>
            <a:off x="9277255" y="3571875"/>
            <a:ext cx="76200" cy="76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1" name="Text 55"/>
          <p:cNvSpPr txBox="1"/>
          <p:nvPr/>
        </p:nvSpPr>
        <p:spPr>
          <a:xfrm>
            <a:off x="9448705" y="3486150"/>
            <a:ext cx="2133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y educación</a:t>
            </a:r>
            <a:endParaRPr lang="en-US" sz="1150" dirty="0"/>
          </a:p>
        </p:txBody>
      </p:sp>
      <p:sp>
        <p:nvSpPr>
          <p:cNvPr id="62" name="Viñeta"/>
          <p:cNvSpPr/>
          <p:nvPr/>
        </p:nvSpPr>
        <p:spPr>
          <a:xfrm>
            <a:off x="9277255" y="3990975"/>
            <a:ext cx="76200" cy="76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3" name="Text 57"/>
          <p:cNvSpPr txBox="1"/>
          <p:nvPr/>
        </p:nvSpPr>
        <p:spPr>
          <a:xfrm>
            <a:off x="9448705" y="3905250"/>
            <a:ext cx="2133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pilotos</a:t>
            </a:r>
            <a:endParaRPr lang="en-US" sz="1150" dirty="0"/>
          </a:p>
        </p:txBody>
      </p:sp>
      <p:sp>
        <p:nvSpPr>
          <p:cNvPr id="64" name="Barra informativa"/>
          <p:cNvSpPr/>
          <p:nvPr/>
        </p:nvSpPr>
        <p:spPr>
          <a:xfrm>
            <a:off x="457200" y="5000625"/>
            <a:ext cx="11277600" cy="800100"/>
          </a:xfrm>
          <a:prstGeom prst="roundRect">
            <a:avLst>
              <a:gd name="adj" fmla="val 34286"/>
            </a:avLst>
          </a:prstGeom>
          <a:solidFill>
            <a:schemeClr val="tx2"/>
          </a:solidFill>
          <a:ln/>
        </p:spPr>
      </p:sp>
      <p:pic>
        <p:nvPicPr>
          <p:cNvPr id="65" name="Image 4" descr="Icono CalendarDay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5267325"/>
            <a:ext cx="247650" cy="247650"/>
          </a:xfrm>
          <a:prstGeom prst="rect">
            <a:avLst/>
          </a:prstGeom>
        </p:spPr>
      </p:pic>
      <p:sp>
        <p:nvSpPr>
          <p:cNvPr id="66" name="Text 59"/>
          <p:cNvSpPr txBox="1"/>
          <p:nvPr/>
        </p:nvSpPr>
        <p:spPr>
          <a:xfrm>
            <a:off x="1066800" y="5238750"/>
            <a:ext cx="361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Noviembre, 2026 · 8:30 am – 10:00 am</a:t>
            </a:r>
            <a:endParaRPr lang="en-US" sz="1300" dirty="0"/>
          </a:p>
        </p:txBody>
      </p:sp>
      <p:sp>
        <p:nvSpPr>
          <p:cNvPr id="67" name="Shape 60"/>
          <p:cNvSpPr/>
          <p:nvPr/>
        </p:nvSpPr>
        <p:spPr>
          <a:xfrm>
            <a:off x="4876800" y="5257800"/>
            <a:ext cx="0" cy="304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pic>
        <p:nvPicPr>
          <p:cNvPr id="68" name="Image 5" descr="Icono MapPi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5400" y="5267325"/>
            <a:ext cx="247650" cy="247650"/>
          </a:xfrm>
          <a:prstGeom prst="rect">
            <a:avLst/>
          </a:prstGeom>
        </p:spPr>
      </p:pic>
      <p:sp>
        <p:nvSpPr>
          <p:cNvPr id="69" name="Text 61"/>
          <p:cNvSpPr txBox="1"/>
          <p:nvPr/>
        </p:nvSpPr>
        <p:spPr>
          <a:xfrm>
            <a:off x="5448300" y="5191125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GS1 Venezuela · Los Ruices, Calle Los Laboratorios, Edf. Quorum, Piso 1, Oficina K (Caracas)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VENEZOLANO · EL NUEVO PACIENTE</a:t>
            </a:r>
            <a:endParaRPr lang="en-US" sz="9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Información, confianza y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 en cada empaque</a:t>
            </a:r>
            <a:endParaRPr lang="en-US" sz="2600" dirty="0"/>
          </a:p>
        </p:txBody>
      </p:sp>
      <p:sp>
        <p:nvSpPr>
          <p:cNvPr id="4" name="Tarjeta"/>
          <p:cNvSpPr/>
          <p:nvPr/>
        </p:nvSpPr>
        <p:spPr>
          <a:xfrm>
            <a:off x="457200" y="1333500"/>
            <a:ext cx="2857500" cy="2143125"/>
          </a:xfrm>
          <a:prstGeom prst="roundRect">
            <a:avLst>
              <a:gd name="adj" fmla="val 8533"/>
            </a:avLst>
          </a:prstGeom>
          <a:solidFill>
            <a:schemeClr val="bg1"/>
          </a:solidFill>
          <a:ln w="19050">
            <a:solidFill>
              <a:srgbClr val="F26334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1409700" y="1409700"/>
          <a:ext cx="952500" cy="952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3431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4200" dirty="0"/>
          </a:p>
        </p:txBody>
      </p:sp>
      <p:sp>
        <p:nvSpPr>
          <p:cNvPr id="7" name="Text 4"/>
          <p:cNvSpPr txBox="1"/>
          <p:nvPr/>
        </p:nvSpPr>
        <p:spPr>
          <a:xfrm>
            <a:off x="647700" y="2933700"/>
            <a:ext cx="2476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escanea códigos estáticos que no aportan información útil.</a:t>
            </a:r>
            <a:endParaRPr lang="en-US" sz="1100" dirty="0"/>
          </a:p>
        </p:txBody>
      </p:sp>
      <p:sp>
        <p:nvSpPr>
          <p:cNvPr id="8" name="Tarjeta"/>
          <p:cNvSpPr/>
          <p:nvPr/>
        </p:nvSpPr>
        <p:spPr>
          <a:xfrm>
            <a:off x="457200" y="3667125"/>
            <a:ext cx="2857500" cy="2143125"/>
          </a:xfrm>
          <a:prstGeom prst="roundRect">
            <a:avLst>
              <a:gd name="adj" fmla="val 8533"/>
            </a:avLst>
          </a:prstGeom>
          <a:solidFill>
            <a:schemeClr val="bg1"/>
          </a:solidFill>
          <a:ln w="19050">
            <a:solidFill>
              <a:srgbClr val="1CA9C9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graphicFrame>
        <p:nvGraphicFramePr>
          <p:cNvPr id="9" name="Chart 1" descr=""/>
          <p:cNvGraphicFramePr/>
          <p:nvPr/>
        </p:nvGraphicFramePr>
        <p:xfrm>
          <a:off x="1409700" y="3743325"/>
          <a:ext cx="952500" cy="952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4676775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4200" dirty="0"/>
          </a:p>
        </p:txBody>
      </p:sp>
      <p:sp>
        <p:nvSpPr>
          <p:cNvPr id="11" name="Text 7"/>
          <p:cNvSpPr txBox="1"/>
          <p:nvPr/>
        </p:nvSpPr>
        <p:spPr>
          <a:xfrm>
            <a:off x="647700" y="5267325"/>
            <a:ext cx="2476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dispuesto a escanear para conocer origen, registro sanitario y autenticidad.</a:t>
            </a:r>
            <a:endParaRPr lang="en-US" sz="1100" dirty="0"/>
          </a:p>
        </p:txBody>
      </p:sp>
      <p:sp>
        <p:nvSpPr>
          <p:cNvPr id="12" name="Tarjeta"/>
          <p:cNvSpPr/>
          <p:nvPr/>
        </p:nvSpPr>
        <p:spPr>
          <a:xfrm>
            <a:off x="3581400" y="1333500"/>
            <a:ext cx="5334000" cy="1381125"/>
          </a:xfrm>
          <a:prstGeom prst="roundRect">
            <a:avLst>
              <a:gd name="adj" fmla="val 13241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3" name="Icono FileText"/>
          <p:cNvSpPr/>
          <p:nvPr/>
        </p:nvSpPr>
        <p:spPr>
          <a:xfrm>
            <a:off x="3771900" y="1543050"/>
            <a:ext cx="533400" cy="533400"/>
          </a:xfrm>
          <a:prstGeom prst="ellipse">
            <a:avLst/>
          </a:prstGeom>
          <a:solidFill>
            <a:srgbClr val="002C6C"/>
          </a:solidFill>
          <a:ln/>
        </p:spPr>
      </p:sp>
      <p:pic>
        <p:nvPicPr>
          <p:cNvPr id="14" name="Image 0" descr="Icono FileTex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9916" y="1671066"/>
            <a:ext cx="277368" cy="27736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495800" y="1543050"/>
            <a:ext cx="4191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Información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495800" y="1847850"/>
            <a:ext cx="419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prospecto digital actualizado (e-PIL), posología y alertas sanitarias desde el móvil.</a:t>
            </a:r>
            <a:endParaRPr lang="en-US" sz="1200" dirty="0"/>
          </a:p>
        </p:txBody>
      </p:sp>
      <p:sp>
        <p:nvSpPr>
          <p:cNvPr id="17" name="Tarjeta"/>
          <p:cNvSpPr/>
          <p:nvPr/>
        </p:nvSpPr>
        <p:spPr>
          <a:xfrm>
            <a:off x="3581400" y="2857500"/>
            <a:ext cx="5334000" cy="1381125"/>
          </a:xfrm>
          <a:prstGeom prst="roundRect">
            <a:avLst>
              <a:gd name="adj" fmla="val 13241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8" name="Icono ShieldCheck"/>
          <p:cNvSpPr/>
          <p:nvPr/>
        </p:nvSpPr>
        <p:spPr>
          <a:xfrm>
            <a:off x="3771900" y="3067050"/>
            <a:ext cx="533400" cy="533400"/>
          </a:xfrm>
          <a:prstGeom prst="ellipse">
            <a:avLst/>
          </a:prstGeom>
          <a:solidFill>
            <a:srgbClr val="F26334"/>
          </a:solidFill>
          <a:ln/>
        </p:spPr>
      </p:sp>
      <p:pic>
        <p:nvPicPr>
          <p:cNvPr id="19" name="Image 1" descr="Icono 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9916" y="3195066"/>
            <a:ext cx="277368" cy="27736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95800" y="3067050"/>
            <a:ext cx="4191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Confianza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4495800" y="3371850"/>
            <a:ext cx="419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frente a medicamentos ilícitos, contrabando o sin registro sanitario (SACS / INHRR) en el mercado nacional.</a:t>
            </a:r>
            <a:endParaRPr lang="en-US" sz="1200" dirty="0"/>
          </a:p>
        </p:txBody>
      </p:sp>
      <p:sp>
        <p:nvSpPr>
          <p:cNvPr id="22" name="Tarjeta"/>
          <p:cNvSpPr/>
          <p:nvPr/>
        </p:nvSpPr>
        <p:spPr>
          <a:xfrm>
            <a:off x="3581400" y="4381500"/>
            <a:ext cx="5334000" cy="1381125"/>
          </a:xfrm>
          <a:prstGeom prst="roundRect">
            <a:avLst>
              <a:gd name="adj" fmla="val 13241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3" name="Icono Network"/>
          <p:cNvSpPr/>
          <p:nvPr/>
        </p:nvSpPr>
        <p:spPr>
          <a:xfrm>
            <a:off x="3771900" y="4591050"/>
            <a:ext cx="533400" cy="5334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24" name="Image 2" descr="Icono Netwo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9916" y="4719066"/>
            <a:ext cx="277368" cy="27736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4495800" y="4591050"/>
            <a:ext cx="4191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4495800" y="4895850"/>
            <a:ext cx="419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total entre laboratorio, droguería, farmacia, médico y paciente.</a:t>
            </a:r>
            <a:endParaRPr lang="en-US" sz="1200" dirty="0"/>
          </a:p>
        </p:txBody>
      </p:sp>
      <p:sp>
        <p:nvSpPr>
          <p:cNvPr id="27" name="FOTO (reemplazar): farmacéutica / paciente escaneando"/>
          <p:cNvSpPr/>
          <p:nvPr/>
        </p:nvSpPr>
        <p:spPr>
          <a:xfrm rot="240000">
            <a:off x="9239250" y="1428750"/>
            <a:ext cx="2286000" cy="4000500"/>
          </a:xfrm>
          <a:prstGeom prst="roundRect">
            <a:avLst>
              <a:gd name="adj" fmla="val 14000"/>
            </a:avLst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8" name="Image 3" descr="Icono Smartpho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7910" y="2994660"/>
            <a:ext cx="868680" cy="868680"/>
          </a:xfrm>
          <a:prstGeom prst="rect">
            <a:avLst/>
          </a:prstGeom>
        </p:spPr>
      </p:pic>
      <p:sp>
        <p:nvSpPr>
          <p:cNvPr id="29" name="Etiqueta foto"/>
          <p:cNvSpPr txBox="1"/>
          <p:nvPr/>
        </p:nvSpPr>
        <p:spPr>
          <a:xfrm>
            <a:off x="9315450" y="5181600"/>
            <a:ext cx="2133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foto: farmacéutica / paciente escaneando</a:t>
            </a:r>
            <a:endParaRPr lang="en-US" sz="800" dirty="0"/>
          </a:p>
        </p:txBody>
      </p:sp>
      <p:sp>
        <p:nvSpPr>
          <p:cNvPr id="30" name="Icono ScanLine"/>
          <p:cNvSpPr/>
          <p:nvPr/>
        </p:nvSpPr>
        <p:spPr>
          <a:xfrm>
            <a:off x="8953500" y="1333500"/>
            <a:ext cx="533400" cy="533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1" name="Image 4" descr="Icono ScanLin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1516" y="1461516"/>
            <a:ext cx="277368" cy="2773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PUNTO 1</a:t>
            </a:r>
            <a:endParaRPr lang="en-US" sz="9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Rastreo Inteligente: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parte del dato estándar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85850"/>
            <a:ext cx="952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algoritmos de IA son tan buenos como la calidad de los datos estándar que los alimentan.</a:t>
            </a:r>
            <a:endParaRPr lang="en-US" sz="1250" dirty="0"/>
          </a:p>
        </p:txBody>
      </p:sp>
      <p:sp>
        <p:nvSpPr>
          <p:cNvPr id="5" name="Tarjeta"/>
          <p:cNvSpPr/>
          <p:nvPr/>
        </p:nvSpPr>
        <p:spPr>
          <a:xfrm>
            <a:off x="457200" y="1524000"/>
            <a:ext cx="3276600" cy="333375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6" name="Cabecero"/>
          <p:cNvSpPr/>
          <p:nvPr/>
        </p:nvSpPr>
        <p:spPr>
          <a:xfrm>
            <a:off x="457200" y="1524000"/>
            <a:ext cx="3276600" cy="723900"/>
          </a:xfrm>
          <a:prstGeom prst="roundRect">
            <a:avLst>
              <a:gd name="adj" fmla="val 22737"/>
            </a:avLst>
          </a:prstGeom>
          <a:solidFill>
            <a:schemeClr val="tx2"/>
          </a:solidFill>
          <a:ln/>
        </p:spPr>
      </p:sp>
      <p:sp>
        <p:nvSpPr>
          <p:cNvPr id="7" name="Cabecero (base)"/>
          <p:cNvSpPr/>
          <p:nvPr/>
        </p:nvSpPr>
        <p:spPr>
          <a:xfrm>
            <a:off x="457200" y="1885950"/>
            <a:ext cx="3276600" cy="361950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8" name="Image 0" descr="Icono 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" y="1676400"/>
            <a:ext cx="247650" cy="24765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52500" y="1657350"/>
            <a:ext cx="2667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Datos estándar GS1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28650" y="1962150"/>
            <a:ext cx="2952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Identificadores únicos y universales</a:t>
            </a:r>
            <a:endParaRPr lang="en-US" sz="1050" dirty="0"/>
          </a:p>
        </p:txBody>
      </p:sp>
      <p:sp>
        <p:nvSpPr>
          <p:cNvPr id="11" name="Dato GTIN"/>
          <p:cNvSpPr/>
          <p:nvPr/>
        </p:nvSpPr>
        <p:spPr>
          <a:xfrm>
            <a:off x="609600" y="2400300"/>
            <a:ext cx="2971800" cy="476250"/>
          </a:xfrm>
          <a:prstGeom prst="roundRect">
            <a:avLst>
              <a:gd name="adj" fmla="val 23040"/>
            </a:avLst>
          </a:prstGeom>
          <a:solidFill>
            <a:srgbClr val="F4F8F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04850" y="2400300"/>
            <a:ext cx="95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676400" y="2400300"/>
            <a:ext cx="1866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producto</a:t>
            </a:r>
            <a:endParaRPr lang="en-US" sz="1100" dirty="0"/>
          </a:p>
        </p:txBody>
      </p:sp>
      <p:sp>
        <p:nvSpPr>
          <p:cNvPr id="14" name="Dato GLN"/>
          <p:cNvSpPr/>
          <p:nvPr/>
        </p:nvSpPr>
        <p:spPr>
          <a:xfrm>
            <a:off x="609600" y="2971800"/>
            <a:ext cx="2971800" cy="476250"/>
          </a:xfrm>
          <a:prstGeom prst="roundRect">
            <a:avLst>
              <a:gd name="adj" fmla="val 23040"/>
            </a:avLst>
          </a:prstGeom>
          <a:solidFill>
            <a:srgbClr val="F4F8F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04850" y="2971800"/>
            <a:ext cx="95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GLN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676400" y="2971800"/>
            <a:ext cx="1866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/ ubicación</a:t>
            </a:r>
            <a:endParaRPr lang="en-US" sz="1100" dirty="0"/>
          </a:p>
        </p:txBody>
      </p:sp>
      <p:sp>
        <p:nvSpPr>
          <p:cNvPr id="17" name="Dato Lote/Serie"/>
          <p:cNvSpPr/>
          <p:nvPr/>
        </p:nvSpPr>
        <p:spPr>
          <a:xfrm>
            <a:off x="609600" y="3543300"/>
            <a:ext cx="2971800" cy="476250"/>
          </a:xfrm>
          <a:prstGeom prst="roundRect">
            <a:avLst>
              <a:gd name="adj" fmla="val 23040"/>
            </a:avLst>
          </a:prstGeom>
          <a:solidFill>
            <a:srgbClr val="F4F8F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4850" y="3543300"/>
            <a:ext cx="95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Lote/Serie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1676400" y="3543300"/>
            <a:ext cx="1866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unidad</a:t>
            </a:r>
            <a:endParaRPr lang="en-US" sz="1100" dirty="0"/>
          </a:p>
        </p:txBody>
      </p:sp>
      <p:sp>
        <p:nvSpPr>
          <p:cNvPr id="20" name="Dato SSCC"/>
          <p:cNvSpPr/>
          <p:nvPr/>
        </p:nvSpPr>
        <p:spPr>
          <a:xfrm>
            <a:off x="609600" y="4114800"/>
            <a:ext cx="2971800" cy="476250"/>
          </a:xfrm>
          <a:prstGeom prst="roundRect">
            <a:avLst>
              <a:gd name="adj" fmla="val 23040"/>
            </a:avLst>
          </a:prstGeom>
          <a:solidFill>
            <a:srgbClr val="F4F8F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04850" y="4114800"/>
            <a:ext cx="95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SSCC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676400" y="4114800"/>
            <a:ext cx="1866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envío</a:t>
            </a:r>
            <a:endParaRPr lang="en-US" sz="1100" dirty="0"/>
          </a:p>
        </p:txBody>
      </p:sp>
      <p:sp>
        <p:nvSpPr>
          <p:cNvPr id="23" name="Flecha"/>
          <p:cNvSpPr/>
          <p:nvPr/>
        </p:nvSpPr>
        <p:spPr>
          <a:xfrm>
            <a:off x="3829050" y="3048000"/>
            <a:ext cx="533400" cy="3048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4" name="Tarjeta"/>
          <p:cNvSpPr/>
          <p:nvPr/>
        </p:nvSpPr>
        <p:spPr>
          <a:xfrm>
            <a:off x="4457700" y="1524000"/>
            <a:ext cx="3276600" cy="333375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5" name="Cabecero"/>
          <p:cNvSpPr/>
          <p:nvPr/>
        </p:nvSpPr>
        <p:spPr>
          <a:xfrm>
            <a:off x="4457700" y="1524000"/>
            <a:ext cx="3276600" cy="723900"/>
          </a:xfrm>
          <a:prstGeom prst="roundRect">
            <a:avLst>
              <a:gd name="adj" fmla="val 22737"/>
            </a:avLst>
          </a:prstGeom>
          <a:solidFill>
            <a:schemeClr val="accent1"/>
          </a:solidFill>
          <a:ln/>
        </p:spPr>
      </p:sp>
      <p:sp>
        <p:nvSpPr>
          <p:cNvPr id="26" name="Cabecero (base)"/>
          <p:cNvSpPr/>
          <p:nvPr/>
        </p:nvSpPr>
        <p:spPr>
          <a:xfrm>
            <a:off x="4457700" y="1885950"/>
            <a:ext cx="3276600" cy="361950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27" name="Image 1" descr="Icono Ra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1676400"/>
            <a:ext cx="247650" cy="24765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4953000" y="1657350"/>
            <a:ext cx="2667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Eventos EPCIS 2.0</a:t>
            </a:r>
            <a:endParaRPr lang="en-US" sz="1350" dirty="0"/>
          </a:p>
        </p:txBody>
      </p:sp>
      <p:sp>
        <p:nvSpPr>
          <p:cNvPr id="29" name="Text 25"/>
          <p:cNvSpPr txBox="1"/>
          <p:nvPr/>
        </p:nvSpPr>
        <p:spPr>
          <a:xfrm>
            <a:off x="4629150" y="1962150"/>
            <a:ext cx="2952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movimiento queda registrado</a:t>
            </a:r>
            <a:endParaRPr lang="en-US" sz="1050" dirty="0"/>
          </a:p>
        </p:txBody>
      </p:sp>
      <p:sp>
        <p:nvSpPr>
          <p:cNvPr id="30" name="Dato QUÉ"/>
          <p:cNvSpPr/>
          <p:nvPr/>
        </p:nvSpPr>
        <p:spPr>
          <a:xfrm>
            <a:off x="4610100" y="2400300"/>
            <a:ext cx="2971800" cy="476250"/>
          </a:xfrm>
          <a:prstGeom prst="roundRect">
            <a:avLst>
              <a:gd name="adj" fmla="val 23040"/>
            </a:avLst>
          </a:prstGeom>
          <a:solidFill>
            <a:srgbClr val="F4F8F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4705350" y="2400300"/>
            <a:ext cx="95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5676900" y="2400300"/>
            <a:ext cx="1866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y cantidad</a:t>
            </a:r>
            <a:endParaRPr lang="en-US" sz="1100" dirty="0"/>
          </a:p>
        </p:txBody>
      </p:sp>
      <p:sp>
        <p:nvSpPr>
          <p:cNvPr id="33" name="Dato DÓNDE"/>
          <p:cNvSpPr/>
          <p:nvPr/>
        </p:nvSpPr>
        <p:spPr>
          <a:xfrm>
            <a:off x="4610100" y="2971800"/>
            <a:ext cx="2971800" cy="476250"/>
          </a:xfrm>
          <a:prstGeom prst="roundRect">
            <a:avLst>
              <a:gd name="adj" fmla="val 23040"/>
            </a:avLst>
          </a:prstGeom>
          <a:solidFill>
            <a:srgbClr val="F4F8FB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4705350" y="2971800"/>
            <a:ext cx="95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DÓNDE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5676900" y="2971800"/>
            <a:ext cx="1866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GLN</a:t>
            </a:r>
            <a:endParaRPr lang="en-US" sz="1100" dirty="0"/>
          </a:p>
        </p:txBody>
      </p:sp>
      <p:sp>
        <p:nvSpPr>
          <p:cNvPr id="36" name="Dato CUÁNDO"/>
          <p:cNvSpPr/>
          <p:nvPr/>
        </p:nvSpPr>
        <p:spPr>
          <a:xfrm>
            <a:off x="4610100" y="3543300"/>
            <a:ext cx="2971800" cy="476250"/>
          </a:xfrm>
          <a:prstGeom prst="roundRect">
            <a:avLst>
              <a:gd name="adj" fmla="val 23040"/>
            </a:avLst>
          </a:prstGeom>
          <a:solidFill>
            <a:srgbClr val="F4F8FB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4705350" y="3543300"/>
            <a:ext cx="95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CUÁNDO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5676900" y="3543300"/>
            <a:ext cx="1866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y hora</a:t>
            </a:r>
            <a:endParaRPr lang="en-US" sz="1100" dirty="0"/>
          </a:p>
        </p:txBody>
      </p:sp>
      <p:sp>
        <p:nvSpPr>
          <p:cNvPr id="39" name="Dato POR QUÉ"/>
          <p:cNvSpPr/>
          <p:nvPr/>
        </p:nvSpPr>
        <p:spPr>
          <a:xfrm>
            <a:off x="4610100" y="4114800"/>
            <a:ext cx="2971800" cy="476250"/>
          </a:xfrm>
          <a:prstGeom prst="roundRect">
            <a:avLst>
              <a:gd name="adj" fmla="val 23040"/>
            </a:avLst>
          </a:prstGeom>
          <a:solidFill>
            <a:srgbClr val="F4F8FB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4705350" y="4114800"/>
            <a:ext cx="95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QUÉ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5676900" y="4114800"/>
            <a:ext cx="1866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recepción, despacho, dispensación</a:t>
            </a:r>
            <a:endParaRPr lang="en-US" sz="1100" dirty="0"/>
          </a:p>
        </p:txBody>
      </p:sp>
      <p:sp>
        <p:nvSpPr>
          <p:cNvPr id="42" name="Flecha"/>
          <p:cNvSpPr/>
          <p:nvPr/>
        </p:nvSpPr>
        <p:spPr>
          <a:xfrm>
            <a:off x="7829550" y="3048000"/>
            <a:ext cx="533400" cy="3048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43" name="Tarjeta"/>
          <p:cNvSpPr/>
          <p:nvPr/>
        </p:nvSpPr>
        <p:spPr>
          <a:xfrm>
            <a:off x="8458200" y="1524000"/>
            <a:ext cx="3276600" cy="333375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44" name="Cabecero"/>
          <p:cNvSpPr/>
          <p:nvPr/>
        </p:nvSpPr>
        <p:spPr>
          <a:xfrm>
            <a:off x="8458200" y="1524000"/>
            <a:ext cx="3276600" cy="723900"/>
          </a:xfrm>
          <a:prstGeom prst="roundRect">
            <a:avLst>
              <a:gd name="adj" fmla="val 22737"/>
            </a:avLst>
          </a:prstGeom>
          <a:solidFill>
            <a:schemeClr val="accent3"/>
          </a:solidFill>
          <a:ln/>
        </p:spPr>
      </p:sp>
      <p:sp>
        <p:nvSpPr>
          <p:cNvPr id="45" name="Cabecero (base)"/>
          <p:cNvSpPr/>
          <p:nvPr/>
        </p:nvSpPr>
        <p:spPr>
          <a:xfrm>
            <a:off x="8458200" y="1885950"/>
            <a:ext cx="3276600" cy="361950"/>
          </a:xfrm>
          <a:prstGeom prst="rect">
            <a:avLst/>
          </a:prstGeom>
          <a:solidFill>
            <a:schemeClr val="accent3"/>
          </a:solidFill>
          <a:ln/>
        </p:spPr>
      </p:sp>
      <p:pic>
        <p:nvPicPr>
          <p:cNvPr id="46" name="Image 2" descr="Icono C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650" y="1676400"/>
            <a:ext cx="247650" cy="247650"/>
          </a:xfrm>
          <a:prstGeom prst="rect">
            <a:avLst/>
          </a:prstGeom>
        </p:spPr>
      </p:pic>
      <p:sp>
        <p:nvSpPr>
          <p:cNvPr id="47" name="Text 42"/>
          <p:cNvSpPr txBox="1"/>
          <p:nvPr/>
        </p:nvSpPr>
        <p:spPr>
          <a:xfrm>
            <a:off x="8953500" y="1657350"/>
            <a:ext cx="2667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Inteligencia Artificial</a:t>
            </a:r>
            <a:endParaRPr lang="en-US" sz="1350" dirty="0"/>
          </a:p>
        </p:txBody>
      </p:sp>
      <p:sp>
        <p:nvSpPr>
          <p:cNvPr id="48" name="Text 43"/>
          <p:cNvSpPr txBox="1"/>
          <p:nvPr/>
        </p:nvSpPr>
        <p:spPr>
          <a:xfrm>
            <a:off x="8629650" y="1962150"/>
            <a:ext cx="2952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sobre datos confiables</a:t>
            </a:r>
            <a:endParaRPr lang="en-US" sz="1050" dirty="0"/>
          </a:p>
        </p:txBody>
      </p:sp>
      <p:sp>
        <p:nvSpPr>
          <p:cNvPr id="49" name="Dato Predicción"/>
          <p:cNvSpPr/>
          <p:nvPr/>
        </p:nvSpPr>
        <p:spPr>
          <a:xfrm>
            <a:off x="8610600" y="2400300"/>
            <a:ext cx="2971800" cy="476250"/>
          </a:xfrm>
          <a:prstGeom prst="roundRect">
            <a:avLst>
              <a:gd name="adj" fmla="val 23040"/>
            </a:avLst>
          </a:prstGeom>
          <a:solidFill>
            <a:srgbClr val="F4F8FB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8705850" y="2400300"/>
            <a:ext cx="95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Predicción</a:t>
            </a:r>
            <a:endParaRPr lang="en-US" sz="1050" dirty="0"/>
          </a:p>
        </p:txBody>
      </p:sp>
      <p:sp>
        <p:nvSpPr>
          <p:cNvPr id="51" name="Text 46"/>
          <p:cNvSpPr txBox="1"/>
          <p:nvPr/>
        </p:nvSpPr>
        <p:spPr>
          <a:xfrm>
            <a:off x="9677400" y="2400300"/>
            <a:ext cx="1866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y escasez</a:t>
            </a:r>
            <a:endParaRPr lang="en-US" sz="1100" dirty="0"/>
          </a:p>
        </p:txBody>
      </p:sp>
      <p:sp>
        <p:nvSpPr>
          <p:cNvPr id="52" name="Dato Visión"/>
          <p:cNvSpPr/>
          <p:nvPr/>
        </p:nvSpPr>
        <p:spPr>
          <a:xfrm>
            <a:off x="8610600" y="2971800"/>
            <a:ext cx="2971800" cy="476250"/>
          </a:xfrm>
          <a:prstGeom prst="roundRect">
            <a:avLst>
              <a:gd name="adj" fmla="val 23040"/>
            </a:avLst>
          </a:prstGeom>
          <a:solidFill>
            <a:srgbClr val="F4F8FB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8705850" y="2971800"/>
            <a:ext cx="95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Visión</a:t>
            </a:r>
            <a:endParaRPr lang="en-US" sz="1050" dirty="0"/>
          </a:p>
        </p:txBody>
      </p:sp>
      <p:sp>
        <p:nvSpPr>
          <p:cNvPr id="54" name="Text 49"/>
          <p:cNvSpPr txBox="1"/>
          <p:nvPr/>
        </p:nvSpPr>
        <p:spPr>
          <a:xfrm>
            <a:off x="9677400" y="2971800"/>
            <a:ext cx="1866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códigos 2D</a:t>
            </a:r>
            <a:endParaRPr lang="en-US" sz="1100" dirty="0"/>
          </a:p>
        </p:txBody>
      </p:sp>
      <p:sp>
        <p:nvSpPr>
          <p:cNvPr id="55" name="Dato Anomalías"/>
          <p:cNvSpPr/>
          <p:nvPr/>
        </p:nvSpPr>
        <p:spPr>
          <a:xfrm>
            <a:off x="8610600" y="3543300"/>
            <a:ext cx="2971800" cy="476250"/>
          </a:xfrm>
          <a:prstGeom prst="roundRect">
            <a:avLst>
              <a:gd name="adj" fmla="val 23040"/>
            </a:avLst>
          </a:prstGeom>
          <a:solidFill>
            <a:srgbClr val="F4F8FB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8705850" y="3543300"/>
            <a:ext cx="95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Anomalías</a:t>
            </a:r>
            <a:endParaRPr lang="en-US" sz="1050" dirty="0"/>
          </a:p>
        </p:txBody>
      </p:sp>
      <p:sp>
        <p:nvSpPr>
          <p:cNvPr id="57" name="Text 52"/>
          <p:cNvSpPr txBox="1"/>
          <p:nvPr/>
        </p:nvSpPr>
        <p:spPr>
          <a:xfrm>
            <a:off x="9677400" y="3543300"/>
            <a:ext cx="1866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desvíos y cadena de frío</a:t>
            </a:r>
            <a:endParaRPr lang="en-US" sz="1100" dirty="0"/>
          </a:p>
        </p:txBody>
      </p:sp>
      <p:sp>
        <p:nvSpPr>
          <p:cNvPr id="58" name="Alerta"/>
          <p:cNvSpPr/>
          <p:nvPr/>
        </p:nvSpPr>
        <p:spPr>
          <a:xfrm>
            <a:off x="457200" y="5086350"/>
            <a:ext cx="11277600" cy="800100"/>
          </a:xfrm>
          <a:prstGeom prst="roundRect">
            <a:avLst>
              <a:gd name="adj" fmla="val 22857"/>
            </a:avLst>
          </a:prstGeom>
          <a:solidFill>
            <a:srgbClr val="FFF7ED"/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59" name="Image 3" descr="Icono TriangleAle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50" y="5353050"/>
            <a:ext cx="285750" cy="285750"/>
          </a:xfrm>
          <a:prstGeom prst="rect">
            <a:avLst/>
          </a:prstGeom>
        </p:spPr>
      </p:pic>
      <p:sp>
        <p:nvSpPr>
          <p:cNvPr id="60" name="Text 54"/>
          <p:cNvSpPr txBox="1"/>
          <p:nvPr/>
        </p:nvSpPr>
        <p:spPr>
          <a:xfrm>
            <a:off x="1143000" y="5124450"/>
            <a:ext cx="10382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estándar, no hay IA confiable: </a:t>
            </a:r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genéricos, datos incompletos o duplicados producen predicciones y alertas poco fiables.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PUNTO 1</a:t>
            </a:r>
            <a:endParaRPr lang="en-US" sz="9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usos de la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+ GS1 en salud</a:t>
            </a:r>
            <a:endParaRPr lang="en-US" sz="2600" dirty="0"/>
          </a:p>
        </p:txBody>
      </p:sp>
      <p:sp>
        <p:nvSpPr>
          <p:cNvPr id="4" name="Tarjeta"/>
          <p:cNvSpPr/>
          <p:nvPr/>
        </p:nvSpPr>
        <p:spPr>
          <a:xfrm>
            <a:off x="457200" y="1333500"/>
            <a:ext cx="5715000" cy="1352550"/>
          </a:xfrm>
          <a:prstGeom prst="roundRect">
            <a:avLst>
              <a:gd name="adj" fmla="val 13521"/>
            </a:avLst>
          </a:prstGeom>
          <a:solidFill>
            <a:schemeClr val="bg1"/>
          </a:solidFill>
          <a:ln w="19050">
            <a:solidFill>
              <a:srgbClr val="1CA9C9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" name="Icono ChartLine"/>
          <p:cNvSpPr/>
          <p:nvPr/>
        </p:nvSpPr>
        <p:spPr>
          <a:xfrm>
            <a:off x="647700" y="1562100"/>
            <a:ext cx="533400" cy="5334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6" name="Image 0" descr="Icono 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716" y="1690116"/>
            <a:ext cx="277368" cy="2773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543050"/>
            <a:ext cx="4572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predictivos de demanda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847850"/>
            <a:ext cx="457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Anticipan la escasez de insumos críticos y reactivos en clínicas y hospitales venezolanos.</a:t>
            </a:r>
            <a:endParaRPr lang="en-US" sz="1200" dirty="0"/>
          </a:p>
        </p:txBody>
      </p:sp>
      <p:sp>
        <p:nvSpPr>
          <p:cNvPr id="9" name="Tarjeta"/>
          <p:cNvSpPr/>
          <p:nvPr/>
        </p:nvSpPr>
        <p:spPr>
          <a:xfrm>
            <a:off x="457200" y="2819400"/>
            <a:ext cx="5715000" cy="1352550"/>
          </a:xfrm>
          <a:prstGeom prst="roundRect">
            <a:avLst>
              <a:gd name="adj" fmla="val 13521"/>
            </a:avLst>
          </a:prstGeom>
          <a:solidFill>
            <a:schemeClr val="bg1"/>
          </a:solidFill>
          <a:ln w="19050">
            <a:solidFill>
              <a:srgbClr val="00A79D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0" name="Icono ScanEye"/>
          <p:cNvSpPr/>
          <p:nvPr/>
        </p:nvSpPr>
        <p:spPr>
          <a:xfrm>
            <a:off x="647700" y="3048000"/>
            <a:ext cx="533400" cy="533400"/>
          </a:xfrm>
          <a:prstGeom prst="ellipse">
            <a:avLst/>
          </a:prstGeom>
          <a:solidFill>
            <a:srgbClr val="00A79D"/>
          </a:solidFill>
          <a:ln/>
        </p:spPr>
      </p:sp>
      <p:pic>
        <p:nvPicPr>
          <p:cNvPr id="11" name="Image 1" descr="Icono Scan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16" y="3176016"/>
            <a:ext cx="277368" cy="27736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3028950"/>
            <a:ext cx="4572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 artificial en líneas de empaque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371600" y="3333750"/>
            <a:ext cx="457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a alta velocidad de GS1 DataMatrix y QR GS1 Digital Link en plantas farmacéuticas.</a:t>
            </a:r>
            <a:endParaRPr lang="en-US" sz="1200" dirty="0"/>
          </a:p>
        </p:txBody>
      </p:sp>
      <p:sp>
        <p:nvSpPr>
          <p:cNvPr id="14" name="Tarjeta"/>
          <p:cNvSpPr/>
          <p:nvPr/>
        </p:nvSpPr>
        <p:spPr>
          <a:xfrm>
            <a:off x="457200" y="4305300"/>
            <a:ext cx="5715000" cy="1352550"/>
          </a:xfrm>
          <a:prstGeom prst="roundRect">
            <a:avLst>
              <a:gd name="adj" fmla="val 13521"/>
            </a:avLst>
          </a:prstGeom>
          <a:solidFill>
            <a:schemeClr val="bg1"/>
          </a:solidFill>
          <a:ln w="19050">
            <a:solidFill>
              <a:srgbClr val="F26334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5" name="Icono Snowflake"/>
          <p:cNvSpPr/>
          <p:nvPr/>
        </p:nvSpPr>
        <p:spPr>
          <a:xfrm>
            <a:off x="647700" y="4533900"/>
            <a:ext cx="533400" cy="533400"/>
          </a:xfrm>
          <a:prstGeom prst="ellipse">
            <a:avLst/>
          </a:prstGeom>
          <a:solidFill>
            <a:srgbClr val="F26334"/>
          </a:solidFill>
          <a:ln/>
        </p:spPr>
      </p:sp>
      <p:pic>
        <p:nvPicPr>
          <p:cNvPr id="16" name="Image 2" descr="Icono Snowfl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716" y="4661916"/>
            <a:ext cx="277368" cy="27736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514850"/>
            <a:ext cx="4572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anomalías con Machine Learning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4819650"/>
            <a:ext cx="457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temprana de desvíos a canales irregulares y rupturas de cadena de frío (insulinas, vacunas, biológicos).</a:t>
            </a:r>
            <a:endParaRPr lang="en-US" sz="1200" dirty="0"/>
          </a:p>
        </p:txBody>
      </p:sp>
      <p:sp>
        <p:nvSpPr>
          <p:cNvPr id="19" name="FOTO (reemplazar): cadena de suministro farmacéutica"/>
          <p:cNvSpPr/>
          <p:nvPr/>
        </p:nvSpPr>
        <p:spPr>
          <a:xfrm>
            <a:off x="6477000" y="1333500"/>
            <a:ext cx="5257800" cy="2114550"/>
          </a:xfrm>
          <a:prstGeom prst="roundRect">
            <a:avLst>
              <a:gd name="adj" fmla="val 15135"/>
            </a:avLst>
          </a:prstGeom>
          <a:solidFill>
            <a:schemeClr val="accent6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0" name="Image 3" descr="Icono Ware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4136" y="1989011"/>
            <a:ext cx="803529" cy="803529"/>
          </a:xfrm>
          <a:prstGeom prst="rect">
            <a:avLst/>
          </a:prstGeom>
        </p:spPr>
      </p:pic>
      <p:sp>
        <p:nvSpPr>
          <p:cNvPr id="21" name="Etiqueta foto"/>
          <p:cNvSpPr txBox="1"/>
          <p:nvPr/>
        </p:nvSpPr>
        <p:spPr>
          <a:xfrm>
            <a:off x="6553200" y="3200400"/>
            <a:ext cx="5105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foto: cadena de suministro farmacéutica</a:t>
            </a:r>
            <a:endParaRPr lang="en-US" sz="800" dirty="0"/>
          </a:p>
        </p:txBody>
      </p:sp>
      <p:sp>
        <p:nvSpPr>
          <p:cNvPr id="22" name="Badge GTIN"/>
          <p:cNvSpPr/>
          <p:nvPr/>
        </p:nvSpPr>
        <p:spPr>
          <a:xfrm>
            <a:off x="6705600" y="2971800"/>
            <a:ext cx="609600" cy="266700"/>
          </a:xfrm>
          <a:prstGeom prst="roundRect">
            <a:avLst>
              <a:gd name="adj" fmla="val 50000"/>
            </a:avLst>
          </a:prstGeom>
          <a:solidFill>
            <a:srgbClr val="F26334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6705600" y="2971800"/>
            <a:ext cx="609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</a:t>
            </a:r>
            <a:endParaRPr lang="en-US" sz="1050" dirty="0"/>
          </a:p>
        </p:txBody>
      </p:sp>
      <p:sp>
        <p:nvSpPr>
          <p:cNvPr id="24" name="Badge GLN"/>
          <p:cNvSpPr/>
          <p:nvPr/>
        </p:nvSpPr>
        <p:spPr>
          <a:xfrm>
            <a:off x="7524750" y="2971800"/>
            <a:ext cx="609600" cy="266700"/>
          </a:xfrm>
          <a:prstGeom prst="roundRect">
            <a:avLst>
              <a:gd name="adj" fmla="val 50000"/>
            </a:avLst>
          </a:prstGeom>
          <a:solidFill>
            <a:srgbClr val="1CA9C9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7524750" y="2971800"/>
            <a:ext cx="609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GLN</a:t>
            </a:r>
            <a:endParaRPr lang="en-US" sz="1050" dirty="0"/>
          </a:p>
        </p:txBody>
      </p:sp>
      <p:sp>
        <p:nvSpPr>
          <p:cNvPr id="26" name="Badge EPCIS"/>
          <p:cNvSpPr/>
          <p:nvPr/>
        </p:nvSpPr>
        <p:spPr>
          <a:xfrm>
            <a:off x="8229600" y="2971800"/>
            <a:ext cx="723900" cy="266700"/>
          </a:xfrm>
          <a:prstGeom prst="roundRect">
            <a:avLst>
              <a:gd name="adj" fmla="val 50000"/>
            </a:avLst>
          </a:prstGeom>
          <a:solidFill>
            <a:srgbClr val="00A79D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8229600" y="2971800"/>
            <a:ext cx="723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EPCIS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334250" y="3028950"/>
            <a:ext cx="152400" cy="152400"/>
          </a:xfrm>
          <a:prstGeom prst="rightArrow">
            <a:avLst/>
          </a:prstGeom>
          <a:solidFill>
            <a:schemeClr val="bg1"/>
          </a:solidFill>
          <a:ln/>
        </p:spPr>
      </p:sp>
      <p:sp>
        <p:nvSpPr>
          <p:cNvPr id="29" name="Shape 23"/>
          <p:cNvSpPr/>
          <p:nvPr/>
        </p:nvSpPr>
        <p:spPr>
          <a:xfrm>
            <a:off x="8077200" y="3028950"/>
            <a:ext cx="133350" cy="152400"/>
          </a:xfrm>
          <a:prstGeom prst="rightArrow">
            <a:avLst/>
          </a:prstGeom>
          <a:solidFill>
            <a:schemeClr val="bg1"/>
          </a:solidFill>
          <a:ln/>
        </p:spPr>
      </p:sp>
      <p:sp>
        <p:nvSpPr>
          <p:cNvPr id="30" name="Tarjeta"/>
          <p:cNvSpPr/>
          <p:nvPr/>
        </p:nvSpPr>
        <p:spPr>
          <a:xfrm>
            <a:off x="6477000" y="3657600"/>
            <a:ext cx="5257800" cy="1638300"/>
          </a:xfrm>
          <a:prstGeom prst="roundRect">
            <a:avLst>
              <a:gd name="adj" fmla="val 11163"/>
            </a:avLst>
          </a:prstGeom>
          <a:solidFill>
            <a:schemeClr val="bg1"/>
          </a:solidFill>
          <a:ln w="19050">
            <a:solidFill>
              <a:srgbClr val="002C6C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686550" y="3790950"/>
            <a:ext cx="381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DIRECTO EN VENEZUELA</a:t>
            </a:r>
            <a:endParaRPr lang="en-US" sz="900" dirty="0"/>
          </a:p>
        </p:txBody>
      </p:sp>
      <p:pic>
        <p:nvPicPr>
          <p:cNvPr id="32" name="Image 4" descr="Icono Rou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095750"/>
            <a:ext cx="209550" cy="20955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010400" y="4076700"/>
            <a:ext cx="455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de rutas logísticas entre laboratorios nacionales, droguerías y farmacias en todo el país.</a:t>
            </a:r>
            <a:endParaRPr lang="en-US" sz="1150" dirty="0"/>
          </a:p>
        </p:txBody>
      </p:sp>
      <p:pic>
        <p:nvPicPr>
          <p:cNvPr id="34" name="Image 5" descr="Icono Hourglas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6550" y="4705350"/>
            <a:ext cx="209550" cy="20955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7010400" y="4686300"/>
            <a:ext cx="45529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vencimientos </a:t>
            </a:r>
            <a:pPr algn="l"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FEFO</a:t>
            </a:r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(First Expired, First Out): menos mermas financieras por caducidad.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PUNTO 2</a:t>
            </a:r>
            <a:endParaRPr lang="en-US" sz="9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del paciente: los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Correctos</a:t>
            </a:r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(BCMA)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668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Escaneo a pie de cama — Bedside Barcode Medication Administration</a:t>
            </a:r>
            <a:endParaRPr lang="en-US" sz="1100" dirty="0"/>
          </a:p>
        </p:txBody>
      </p:sp>
      <p:pic>
        <p:nvPicPr>
          <p:cNvPr id="5" name="Image 0" descr="Médico sosteniendo la mano del paci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300000">
            <a:off x="571500" y="1524000"/>
            <a:ext cx="2381250" cy="3848100"/>
          </a:xfrm>
          <a:prstGeom prst="rect">
            <a:avLst/>
          </a:prstGeom>
        </p:spPr>
      </p:pic>
      <p:pic>
        <p:nvPicPr>
          <p:cNvPr id="6" name="Image 1" descr="Médico con iconos de sal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50" y="4095750"/>
            <a:ext cx="1905000" cy="1905000"/>
          </a:xfrm>
          <a:prstGeom prst="rect">
            <a:avLst/>
          </a:prstGeom>
        </p:spPr>
      </p:pic>
      <p:sp>
        <p:nvSpPr>
          <p:cNvPr id="7" name="Icono ShieldCheck"/>
          <p:cNvSpPr/>
          <p:nvPr/>
        </p:nvSpPr>
        <p:spPr>
          <a:xfrm>
            <a:off x="723900" y="1333500"/>
            <a:ext cx="533400" cy="533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8" name="Image 2" descr="Icono 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916" y="1461516"/>
            <a:ext cx="277368" cy="277368"/>
          </a:xfrm>
          <a:prstGeom prst="rect">
            <a:avLst/>
          </a:prstGeom>
        </p:spPr>
      </p:pic>
      <p:sp>
        <p:nvSpPr>
          <p:cNvPr id="9" name="Tarjeta"/>
          <p:cNvSpPr/>
          <p:nvPr/>
        </p:nvSpPr>
        <p:spPr>
          <a:xfrm>
            <a:off x="3810000" y="1524000"/>
            <a:ext cx="792480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0" name="Insignia 1"/>
          <p:cNvSpPr/>
          <p:nvPr/>
        </p:nvSpPr>
        <p:spPr>
          <a:xfrm>
            <a:off x="4000500" y="1685925"/>
            <a:ext cx="438150" cy="43815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4000500" y="16859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4629150" y="16192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 correcto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4629150" y="18669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Escaneo del código GS1 del brazalete de identificación hospitalaria.</a:t>
            </a:r>
            <a:endParaRPr lang="en-US" sz="1100" dirty="0"/>
          </a:p>
        </p:txBody>
      </p:sp>
      <p:sp>
        <p:nvSpPr>
          <p:cNvPr id="14" name="Etiqueta GSRN"/>
          <p:cNvSpPr/>
          <p:nvPr/>
        </p:nvSpPr>
        <p:spPr>
          <a:xfrm>
            <a:off x="10706100" y="1771650"/>
            <a:ext cx="838200" cy="2667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10706100" y="1771650"/>
            <a:ext cx="83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GSRN</a:t>
            </a:r>
            <a:endParaRPr lang="en-US" sz="950" dirty="0"/>
          </a:p>
        </p:txBody>
      </p:sp>
      <p:sp>
        <p:nvSpPr>
          <p:cNvPr id="16" name="Tarjeta"/>
          <p:cNvSpPr/>
          <p:nvPr/>
        </p:nvSpPr>
        <p:spPr>
          <a:xfrm>
            <a:off x="3810000" y="2400300"/>
            <a:ext cx="792480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7" name="Insignia 2"/>
          <p:cNvSpPr/>
          <p:nvPr/>
        </p:nvSpPr>
        <p:spPr>
          <a:xfrm>
            <a:off x="4000500" y="2562225"/>
            <a:ext cx="438150" cy="43815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4000500" y="25622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629150" y="24955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Medicamento correcto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4629150" y="27432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instantánea del GTIN contra la prescripción médica electrónica.</a:t>
            </a:r>
            <a:endParaRPr lang="en-US" sz="1100" dirty="0"/>
          </a:p>
        </p:txBody>
      </p:sp>
      <p:sp>
        <p:nvSpPr>
          <p:cNvPr id="21" name="Etiqueta GTIN"/>
          <p:cNvSpPr/>
          <p:nvPr/>
        </p:nvSpPr>
        <p:spPr>
          <a:xfrm>
            <a:off x="10706100" y="2647950"/>
            <a:ext cx="838200" cy="2667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10706100" y="2647950"/>
            <a:ext cx="83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</a:t>
            </a:r>
            <a:endParaRPr lang="en-US" sz="950" dirty="0"/>
          </a:p>
        </p:txBody>
      </p:sp>
      <p:sp>
        <p:nvSpPr>
          <p:cNvPr id="23" name="Tarjeta"/>
          <p:cNvSpPr/>
          <p:nvPr/>
        </p:nvSpPr>
        <p:spPr>
          <a:xfrm>
            <a:off x="3810000" y="3276600"/>
            <a:ext cx="792480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4" name="Insignia 3"/>
          <p:cNvSpPr/>
          <p:nvPr/>
        </p:nvSpPr>
        <p:spPr>
          <a:xfrm>
            <a:off x="4000500" y="3438525"/>
            <a:ext cx="438150" cy="43815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000500" y="34385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629150" y="33718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Dosis correcta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4629150" y="36195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la concentración (500 mg vs 1000 mg) y evita errores LASA (Look-Alike, Sound-Alike).</a:t>
            </a:r>
            <a:endParaRPr lang="en-US" sz="1100" dirty="0"/>
          </a:p>
        </p:txBody>
      </p:sp>
      <p:sp>
        <p:nvSpPr>
          <p:cNvPr id="28" name="Etiqueta LASA"/>
          <p:cNvSpPr/>
          <p:nvPr/>
        </p:nvSpPr>
        <p:spPr>
          <a:xfrm>
            <a:off x="10706100" y="3524250"/>
            <a:ext cx="838200" cy="2667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10706100" y="3524250"/>
            <a:ext cx="83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LASA</a:t>
            </a:r>
            <a:endParaRPr lang="en-US" sz="950" dirty="0"/>
          </a:p>
        </p:txBody>
      </p:sp>
      <p:sp>
        <p:nvSpPr>
          <p:cNvPr id="30" name="Tarjeta"/>
          <p:cNvSpPr/>
          <p:nvPr/>
        </p:nvSpPr>
        <p:spPr>
          <a:xfrm>
            <a:off x="3810000" y="4152900"/>
            <a:ext cx="792480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1" name="Insignia 4"/>
          <p:cNvSpPr/>
          <p:nvPr/>
        </p:nvSpPr>
        <p:spPr>
          <a:xfrm>
            <a:off x="4000500" y="4314825"/>
            <a:ext cx="438150" cy="43815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4000500" y="43148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4629150" y="42481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Vía y hora correctas</a:t>
            </a:r>
            <a:endParaRPr lang="en-US" sz="1350" dirty="0"/>
          </a:p>
        </p:txBody>
      </p:sp>
      <p:sp>
        <p:nvSpPr>
          <p:cNvPr id="34" name="Text 29"/>
          <p:cNvSpPr txBox="1"/>
          <p:nvPr/>
        </p:nvSpPr>
        <p:spPr>
          <a:xfrm>
            <a:off x="4629150" y="44958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automático en la Historia Clínica Electrónica.</a:t>
            </a:r>
            <a:endParaRPr lang="en-US" sz="1100" dirty="0"/>
          </a:p>
        </p:txBody>
      </p:sp>
      <p:sp>
        <p:nvSpPr>
          <p:cNvPr id="35" name="Etiqueta HCE"/>
          <p:cNvSpPr/>
          <p:nvPr/>
        </p:nvSpPr>
        <p:spPr>
          <a:xfrm>
            <a:off x="10706100" y="4400550"/>
            <a:ext cx="838200" cy="2667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10706100" y="4400550"/>
            <a:ext cx="83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HCE</a:t>
            </a:r>
            <a:endParaRPr lang="en-US" sz="950" dirty="0"/>
          </a:p>
        </p:txBody>
      </p:sp>
      <p:sp>
        <p:nvSpPr>
          <p:cNvPr id="37" name="Tarjeta"/>
          <p:cNvSpPr/>
          <p:nvPr/>
        </p:nvSpPr>
        <p:spPr>
          <a:xfrm>
            <a:off x="3810000" y="5029200"/>
            <a:ext cx="792480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19050">
            <a:solidFill>
              <a:srgbClr val="F26334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8" name="Insignia 5"/>
          <p:cNvSpPr/>
          <p:nvPr/>
        </p:nvSpPr>
        <p:spPr>
          <a:xfrm>
            <a:off x="4000500" y="5191125"/>
            <a:ext cx="438150" cy="43815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4000500" y="51911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40" name="Text 35"/>
          <p:cNvSpPr txBox="1"/>
          <p:nvPr/>
        </p:nvSpPr>
        <p:spPr>
          <a:xfrm>
            <a:off x="4629150" y="51244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Vigencia garantizada</a:t>
            </a:r>
            <a:endParaRPr lang="en-US" sz="1350" dirty="0"/>
          </a:p>
        </p:txBody>
      </p:sp>
      <p:sp>
        <p:nvSpPr>
          <p:cNvPr id="41" name="Text 36"/>
          <p:cNvSpPr txBox="1"/>
          <p:nvPr/>
        </p:nvSpPr>
        <p:spPr>
          <a:xfrm>
            <a:off x="4629150" y="53721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bloquea la dosis si (17) indica vencido o si el lote (10) tiene alerta de retiro.</a:t>
            </a:r>
            <a:endParaRPr lang="en-US" sz="1100" dirty="0"/>
          </a:p>
        </p:txBody>
      </p:sp>
      <p:sp>
        <p:nvSpPr>
          <p:cNvPr id="42" name="Etiqueta BLOQUEO ACTIVO"/>
          <p:cNvSpPr/>
          <p:nvPr/>
        </p:nvSpPr>
        <p:spPr>
          <a:xfrm>
            <a:off x="10210800" y="5276850"/>
            <a:ext cx="1333500" cy="2667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10210800" y="5276850"/>
            <a:ext cx="1333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BLOQUEO ACTIVO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PUNTO 2</a:t>
            </a:r>
            <a:endParaRPr lang="en-US" sz="9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Eficiencia de la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suministro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668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mismo lenguaje GS1 desde el laboratorio hasta el paciente en Venezuela</a:t>
            </a:r>
            <a:endParaRPr lang="en-US" sz="1100" dirty="0"/>
          </a:p>
        </p:txBody>
      </p:sp>
      <p:sp>
        <p:nvSpPr>
          <p:cNvPr id="5" name="Nodo Laboratorio"/>
          <p:cNvSpPr/>
          <p:nvPr/>
        </p:nvSpPr>
        <p:spPr>
          <a:xfrm>
            <a:off x="1352550" y="1428750"/>
            <a:ext cx="876300" cy="876300"/>
          </a:xfrm>
          <a:prstGeom prst="ellipse">
            <a:avLst/>
          </a:prstGeom>
          <a:solidFill>
            <a:schemeClr val="tx2"/>
          </a:solidFill>
          <a:ln w="508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6" name="Image 0" descr="Icono Fac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1150" y="1638300"/>
            <a:ext cx="419100" cy="4191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2419350"/>
            <a:ext cx="266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Laboratorio</a:t>
            </a:r>
            <a:endParaRPr lang="en-US" sz="1300" dirty="0"/>
          </a:p>
        </p:txBody>
      </p:sp>
      <p:sp>
        <p:nvSpPr>
          <p:cNvPr id="8" name="Claves GS1"/>
          <p:cNvSpPr/>
          <p:nvPr/>
        </p:nvSpPr>
        <p:spPr>
          <a:xfrm>
            <a:off x="838200" y="2705100"/>
            <a:ext cx="1905000" cy="285750"/>
          </a:xfrm>
          <a:prstGeom prst="roundRect">
            <a:avLst>
              <a:gd name="adj" fmla="val 50000"/>
            </a:avLst>
          </a:prstGeom>
          <a:solidFill>
            <a:srgbClr val="E0F4F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38200" y="27051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 · Lote · Serie</a:t>
            </a:r>
            <a:endParaRPr lang="en-US" sz="1050" dirty="0"/>
          </a:p>
        </p:txBody>
      </p:sp>
      <p:sp>
        <p:nvSpPr>
          <p:cNvPr id="10" name="Flecha flujo"/>
          <p:cNvSpPr/>
          <p:nvPr/>
        </p:nvSpPr>
        <p:spPr>
          <a:xfrm>
            <a:off x="2457450" y="1676400"/>
            <a:ext cx="342900" cy="38100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1" name="Nodo Droguería / Distribuidor"/>
          <p:cNvSpPr/>
          <p:nvPr/>
        </p:nvSpPr>
        <p:spPr>
          <a:xfrm>
            <a:off x="4222718" y="1428750"/>
            <a:ext cx="876300" cy="876300"/>
          </a:xfrm>
          <a:prstGeom prst="ellipse">
            <a:avLst/>
          </a:prstGeom>
          <a:solidFill>
            <a:schemeClr val="accent1"/>
          </a:solidFill>
          <a:ln w="508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2" name="Image 1" descr="Icono Tr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318" y="1638300"/>
            <a:ext cx="419100" cy="4191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327368" y="2419350"/>
            <a:ext cx="266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Droguería / Distribuidor</a:t>
            </a:r>
            <a:endParaRPr lang="en-US" sz="1300" dirty="0"/>
          </a:p>
        </p:txBody>
      </p:sp>
      <p:sp>
        <p:nvSpPr>
          <p:cNvPr id="14" name="Claves GS1"/>
          <p:cNvSpPr/>
          <p:nvPr/>
        </p:nvSpPr>
        <p:spPr>
          <a:xfrm>
            <a:off x="3708368" y="2705100"/>
            <a:ext cx="1905000" cy="285750"/>
          </a:xfrm>
          <a:prstGeom prst="roundRect">
            <a:avLst>
              <a:gd name="adj" fmla="val 50000"/>
            </a:avLst>
          </a:prstGeom>
          <a:solidFill>
            <a:srgbClr val="E0F4F9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3708368" y="27051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SSCC · GLN</a:t>
            </a:r>
            <a:endParaRPr lang="en-US" sz="1050" dirty="0"/>
          </a:p>
        </p:txBody>
      </p:sp>
      <p:sp>
        <p:nvSpPr>
          <p:cNvPr id="16" name="Flecha flujo"/>
          <p:cNvSpPr/>
          <p:nvPr/>
        </p:nvSpPr>
        <p:spPr>
          <a:xfrm>
            <a:off x="5327618" y="1676400"/>
            <a:ext cx="342900" cy="38100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7" name="Nodo Farmacia / Clínica"/>
          <p:cNvSpPr/>
          <p:nvPr/>
        </p:nvSpPr>
        <p:spPr>
          <a:xfrm>
            <a:off x="7092887" y="1428750"/>
            <a:ext cx="876300" cy="876300"/>
          </a:xfrm>
          <a:prstGeom prst="ellipse">
            <a:avLst/>
          </a:prstGeom>
          <a:solidFill>
            <a:schemeClr val="accent3"/>
          </a:solidFill>
          <a:ln w="508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8" name="Image 2" descr="Icono 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486" y="1638300"/>
            <a:ext cx="419100" cy="4191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197537" y="2419350"/>
            <a:ext cx="266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Farmacia / Clínica</a:t>
            </a:r>
            <a:endParaRPr lang="en-US" sz="1300" dirty="0"/>
          </a:p>
        </p:txBody>
      </p:sp>
      <p:sp>
        <p:nvSpPr>
          <p:cNvPr id="20" name="Claves GS1"/>
          <p:cNvSpPr/>
          <p:nvPr/>
        </p:nvSpPr>
        <p:spPr>
          <a:xfrm>
            <a:off x="6578537" y="2705100"/>
            <a:ext cx="1905000" cy="285750"/>
          </a:xfrm>
          <a:prstGeom prst="roundRect">
            <a:avLst>
              <a:gd name="adj" fmla="val 50000"/>
            </a:avLst>
          </a:prstGeom>
          <a:solidFill>
            <a:srgbClr val="E0F4F9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578537" y="27051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 · GLN</a:t>
            </a:r>
            <a:endParaRPr lang="en-US" sz="1050" dirty="0"/>
          </a:p>
        </p:txBody>
      </p:sp>
      <p:sp>
        <p:nvSpPr>
          <p:cNvPr id="22" name="Flecha flujo"/>
          <p:cNvSpPr/>
          <p:nvPr/>
        </p:nvSpPr>
        <p:spPr>
          <a:xfrm>
            <a:off x="8197787" y="1676400"/>
            <a:ext cx="342900" cy="38100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23" name="Nodo Paciente"/>
          <p:cNvSpPr/>
          <p:nvPr/>
        </p:nvSpPr>
        <p:spPr>
          <a:xfrm>
            <a:off x="9963055" y="1428750"/>
            <a:ext cx="876300" cy="876300"/>
          </a:xfrm>
          <a:prstGeom prst="ellipse">
            <a:avLst/>
          </a:prstGeom>
          <a:solidFill>
            <a:schemeClr val="accent2"/>
          </a:solidFill>
          <a:ln w="508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4" name="Image 3" descr="Icono Us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1655" y="1638300"/>
            <a:ext cx="419100" cy="4191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067705" y="2419350"/>
            <a:ext cx="266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</a:t>
            </a:r>
            <a:endParaRPr lang="en-US" sz="1300" dirty="0"/>
          </a:p>
        </p:txBody>
      </p:sp>
      <p:sp>
        <p:nvSpPr>
          <p:cNvPr id="26" name="Claves GS1"/>
          <p:cNvSpPr/>
          <p:nvPr/>
        </p:nvSpPr>
        <p:spPr>
          <a:xfrm>
            <a:off x="9448705" y="2705100"/>
            <a:ext cx="1905000" cy="285750"/>
          </a:xfrm>
          <a:prstGeom prst="roundRect">
            <a:avLst>
              <a:gd name="adj" fmla="val 50000"/>
            </a:avLst>
          </a:prstGeom>
          <a:solidFill>
            <a:srgbClr val="E0F4F9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9448705" y="27051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GSRN · e-PIL</a:t>
            </a:r>
            <a:endParaRPr lang="en-US" sz="1050" dirty="0"/>
          </a:p>
        </p:txBody>
      </p:sp>
      <p:sp>
        <p:nvSpPr>
          <p:cNvPr id="28" name="Tarjeta"/>
          <p:cNvSpPr/>
          <p:nvPr/>
        </p:nvSpPr>
        <p:spPr>
          <a:xfrm>
            <a:off x="457200" y="3333750"/>
            <a:ext cx="2667000" cy="2381250"/>
          </a:xfrm>
          <a:prstGeom prst="roundRect">
            <a:avLst>
              <a:gd name="adj" fmla="val 768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9" name="Barra de color"/>
          <p:cNvSpPr/>
          <p:nvPr/>
        </p:nvSpPr>
        <p:spPr>
          <a:xfrm>
            <a:off x="590550" y="3333750"/>
            <a:ext cx="2400300" cy="76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Barra de color (base)"/>
          <p:cNvSpPr/>
          <p:nvPr/>
        </p:nvSpPr>
        <p:spPr>
          <a:xfrm>
            <a:off x="590550" y="3371850"/>
            <a:ext cx="2400300" cy="381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Icono Eye"/>
          <p:cNvSpPr/>
          <p:nvPr/>
        </p:nvSpPr>
        <p:spPr>
          <a:xfrm>
            <a:off x="647700" y="3581400"/>
            <a:ext cx="457200" cy="4572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32" name="Image 4" descr="Icono Ey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28" y="3691128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47700" y="4171950"/>
            <a:ext cx="232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Visibilidad en tiempo real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647700" y="4629150"/>
            <a:ext cx="23241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movimiento se registra con EPCIS 2.0 y es consultable por los socios autorizados.</a:t>
            </a:r>
            <a:endParaRPr lang="en-US" sz="1100" dirty="0"/>
          </a:p>
        </p:txBody>
      </p:sp>
      <p:sp>
        <p:nvSpPr>
          <p:cNvPr id="35" name="Tarjeta"/>
          <p:cNvSpPr/>
          <p:nvPr/>
        </p:nvSpPr>
        <p:spPr>
          <a:xfrm>
            <a:off x="3327368" y="3333750"/>
            <a:ext cx="2667000" cy="2381250"/>
          </a:xfrm>
          <a:prstGeom prst="roundRect">
            <a:avLst>
              <a:gd name="adj" fmla="val 768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6" name="Barra de color"/>
          <p:cNvSpPr/>
          <p:nvPr/>
        </p:nvSpPr>
        <p:spPr>
          <a:xfrm>
            <a:off x="3460718" y="3333750"/>
            <a:ext cx="2400300" cy="76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7" name="Barra de color (base)"/>
          <p:cNvSpPr/>
          <p:nvPr/>
        </p:nvSpPr>
        <p:spPr>
          <a:xfrm>
            <a:off x="3460718" y="3371850"/>
            <a:ext cx="2400300" cy="381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8" name="Icono Hourglass"/>
          <p:cNvSpPr/>
          <p:nvPr/>
        </p:nvSpPr>
        <p:spPr>
          <a:xfrm>
            <a:off x="3517868" y="3581400"/>
            <a:ext cx="457200" cy="457200"/>
          </a:xfrm>
          <a:prstGeom prst="ellipse">
            <a:avLst/>
          </a:prstGeom>
          <a:solidFill>
            <a:srgbClr val="F26334"/>
          </a:solidFill>
          <a:ln/>
        </p:spPr>
      </p:sp>
      <p:pic>
        <p:nvPicPr>
          <p:cNvPr id="39" name="Image 5" descr="Icono Hourglas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596" y="3691128"/>
            <a:ext cx="237744" cy="23774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517868" y="4171950"/>
            <a:ext cx="232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Vencimientos FEFO</a:t>
            </a:r>
            <a:endParaRPr lang="en-US" sz="1300" dirty="0"/>
          </a:p>
        </p:txBody>
      </p:sp>
      <p:sp>
        <p:nvSpPr>
          <p:cNvPr id="41" name="Text 33"/>
          <p:cNvSpPr txBox="1"/>
          <p:nvPr/>
        </p:nvSpPr>
        <p:spPr>
          <a:xfrm>
            <a:off x="3517868" y="4629150"/>
            <a:ext cx="23241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despacha primero lo que vence primero, con lote y fecha leídos del código.</a:t>
            </a:r>
            <a:endParaRPr lang="en-US" sz="1100" dirty="0"/>
          </a:p>
        </p:txBody>
      </p:sp>
      <p:sp>
        <p:nvSpPr>
          <p:cNvPr id="42" name="Tarjeta"/>
          <p:cNvSpPr/>
          <p:nvPr/>
        </p:nvSpPr>
        <p:spPr>
          <a:xfrm>
            <a:off x="6197537" y="3333750"/>
            <a:ext cx="2667000" cy="2381250"/>
          </a:xfrm>
          <a:prstGeom prst="roundRect">
            <a:avLst>
              <a:gd name="adj" fmla="val 768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43" name="Barra de color"/>
          <p:cNvSpPr/>
          <p:nvPr/>
        </p:nvSpPr>
        <p:spPr>
          <a:xfrm>
            <a:off x="6330886" y="3333750"/>
            <a:ext cx="2400300" cy="76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44" name="Barra de color (base)"/>
          <p:cNvSpPr/>
          <p:nvPr/>
        </p:nvSpPr>
        <p:spPr>
          <a:xfrm>
            <a:off x="6330886" y="3371850"/>
            <a:ext cx="2400300" cy="381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5" name="Icono Undo2"/>
          <p:cNvSpPr/>
          <p:nvPr/>
        </p:nvSpPr>
        <p:spPr>
          <a:xfrm>
            <a:off x="6388036" y="3581400"/>
            <a:ext cx="457200" cy="457200"/>
          </a:xfrm>
          <a:prstGeom prst="ellipse">
            <a:avLst/>
          </a:prstGeom>
          <a:solidFill>
            <a:srgbClr val="00A79D"/>
          </a:solidFill>
          <a:ln/>
        </p:spPr>
      </p:sp>
      <p:pic>
        <p:nvPicPr>
          <p:cNvPr id="46" name="Image 6" descr="Icono Undo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7764" y="3691128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6388036" y="4171950"/>
            <a:ext cx="232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Retiro de lotes ágil</a:t>
            </a:r>
            <a:endParaRPr lang="en-US" sz="1300" dirty="0"/>
          </a:p>
        </p:txBody>
      </p:sp>
      <p:sp>
        <p:nvSpPr>
          <p:cNvPr id="48" name="Text 39"/>
          <p:cNvSpPr txBox="1"/>
          <p:nvPr/>
        </p:nvSpPr>
        <p:spPr>
          <a:xfrm>
            <a:off x="6388036" y="4629150"/>
            <a:ext cx="23241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recall se ubica por lote y GLN en minutos, sin revisar inventario caja por caja.</a:t>
            </a:r>
            <a:endParaRPr lang="en-US" sz="1100" dirty="0"/>
          </a:p>
        </p:txBody>
      </p:sp>
      <p:sp>
        <p:nvSpPr>
          <p:cNvPr id="49" name="Tarjeta"/>
          <p:cNvSpPr/>
          <p:nvPr/>
        </p:nvSpPr>
        <p:spPr>
          <a:xfrm>
            <a:off x="9067705" y="3333750"/>
            <a:ext cx="2667000" cy="2381250"/>
          </a:xfrm>
          <a:prstGeom prst="roundRect">
            <a:avLst>
              <a:gd name="adj" fmla="val 768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0" name="Barra de color"/>
          <p:cNvSpPr/>
          <p:nvPr/>
        </p:nvSpPr>
        <p:spPr>
          <a:xfrm>
            <a:off x="9201055" y="3333750"/>
            <a:ext cx="2400300" cy="762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1" name="Barra de color (base)"/>
          <p:cNvSpPr/>
          <p:nvPr/>
        </p:nvSpPr>
        <p:spPr>
          <a:xfrm>
            <a:off x="9201055" y="3371850"/>
            <a:ext cx="2400300" cy="381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2" name="Icono Snowflake"/>
          <p:cNvSpPr/>
          <p:nvPr/>
        </p:nvSpPr>
        <p:spPr>
          <a:xfrm>
            <a:off x="9258205" y="3581400"/>
            <a:ext cx="457200" cy="457200"/>
          </a:xfrm>
          <a:prstGeom prst="ellipse">
            <a:avLst/>
          </a:prstGeom>
          <a:solidFill>
            <a:srgbClr val="002C6C"/>
          </a:solidFill>
          <a:ln/>
        </p:spPr>
      </p:sp>
      <p:pic>
        <p:nvPicPr>
          <p:cNvPr id="53" name="Image 7" descr="Icono Snowflak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7933" y="3691128"/>
            <a:ext cx="237744" cy="237744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9258205" y="4171950"/>
            <a:ext cx="232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frío</a:t>
            </a:r>
            <a:endParaRPr lang="en-US" sz="1300" dirty="0"/>
          </a:p>
        </p:txBody>
      </p:sp>
      <p:sp>
        <p:nvSpPr>
          <p:cNvPr id="55" name="Text 45"/>
          <p:cNvSpPr txBox="1"/>
          <p:nvPr/>
        </p:nvSpPr>
        <p:spPr>
          <a:xfrm>
            <a:off x="9258205" y="4629150"/>
            <a:ext cx="23241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ante desvíos de temperatura en insulinas, vacunas y biológicos.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PUNTO 2 · TRAZABILIDAD DE MEDICAMENTOS</a:t>
            </a:r>
            <a:endParaRPr lang="en-US" sz="9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barra tradicional al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2D en salud</a:t>
            </a:r>
            <a:endParaRPr lang="en-US" sz="2600" dirty="0"/>
          </a:p>
        </p:txBody>
      </p:sp>
      <p:sp>
        <p:nvSpPr>
          <p:cNvPr id="4" name="Tarjeta"/>
          <p:cNvSpPr/>
          <p:nvPr/>
        </p:nvSpPr>
        <p:spPr>
          <a:xfrm>
            <a:off x="457200" y="1238250"/>
            <a:ext cx="3543300" cy="2495550"/>
          </a:xfrm>
          <a:prstGeom prst="roundRect">
            <a:avLst>
              <a:gd name="adj" fmla="val 7328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" name="Etapa"/>
          <p:cNvSpPr/>
          <p:nvPr/>
        </p:nvSpPr>
        <p:spPr>
          <a:xfrm>
            <a:off x="800100" y="1371600"/>
            <a:ext cx="2857500" cy="24765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0100" y="13716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 – 2022 · Hasta ahora</a:t>
            </a:r>
            <a:endParaRPr lang="en-US" sz="1000" dirty="0"/>
          </a:p>
        </p:txBody>
      </p:sp>
      <p:pic>
        <p:nvPicPr>
          <p:cNvPr id="7" name="Image 0" descr="Caja Acetaminofén 500 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6350" y="1676400"/>
            <a:ext cx="1905000" cy="1524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2450" y="3219450"/>
            <a:ext cx="335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EAN-13 · código 1D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09600" y="34290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identifica el GTIN, de forma estática.</a:t>
            </a:r>
            <a:endParaRPr lang="en-US" sz="1000" dirty="0"/>
          </a:p>
        </p:txBody>
      </p:sp>
      <p:sp>
        <p:nvSpPr>
          <p:cNvPr id="10" name="Tarjeta"/>
          <p:cNvSpPr/>
          <p:nvPr/>
        </p:nvSpPr>
        <p:spPr>
          <a:xfrm>
            <a:off x="4305300" y="1238250"/>
            <a:ext cx="3543300" cy="2495550"/>
          </a:xfrm>
          <a:prstGeom prst="roundRect">
            <a:avLst>
              <a:gd name="adj" fmla="val 7328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1" name="Etapa"/>
          <p:cNvSpPr/>
          <p:nvPr/>
        </p:nvSpPr>
        <p:spPr>
          <a:xfrm>
            <a:off x="4648200" y="1371600"/>
            <a:ext cx="2857500" cy="247650"/>
          </a:xfrm>
          <a:prstGeom prst="roundRect">
            <a:avLst>
              <a:gd name="adj" fmla="val 50000"/>
            </a:avLst>
          </a:prstGeom>
          <a:solidFill>
            <a:srgbClr val="FDE9E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48200" y="13716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– 2026 · Transición dual</a:t>
            </a:r>
            <a:endParaRPr lang="en-US" sz="1000" dirty="0"/>
          </a:p>
        </p:txBody>
      </p:sp>
      <p:pic>
        <p:nvPicPr>
          <p:cNvPr id="13" name="Image 1" descr="Caja Acetaminofén 500 m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1790700"/>
            <a:ext cx="1638300" cy="1314450"/>
          </a:xfrm>
          <a:prstGeom prst="rect">
            <a:avLst/>
          </a:prstGeom>
        </p:spPr>
      </p:pic>
      <p:pic>
        <p:nvPicPr>
          <p:cNvPr id="14" name="Image 2" descr="Caja Acetaminofén 500 m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90700"/>
            <a:ext cx="1638300" cy="131445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400550" y="3219450"/>
            <a:ext cx="335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Coexisten 1D + 2D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457700" y="34290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preparan lectores ópticos en farmacias y centros de salud.</a:t>
            </a:r>
            <a:endParaRPr lang="en-US" sz="1000" dirty="0"/>
          </a:p>
        </p:txBody>
      </p:sp>
      <p:sp>
        <p:nvSpPr>
          <p:cNvPr id="17" name="Tarjeta"/>
          <p:cNvSpPr/>
          <p:nvPr/>
        </p:nvSpPr>
        <p:spPr>
          <a:xfrm>
            <a:off x="8153400" y="1238250"/>
            <a:ext cx="3543300" cy="2495550"/>
          </a:xfrm>
          <a:prstGeom prst="roundRect">
            <a:avLst>
              <a:gd name="adj" fmla="val 7328"/>
            </a:avLst>
          </a:prstGeom>
          <a:solidFill>
            <a:schemeClr val="bg1"/>
          </a:solidFill>
          <a:ln w="19050">
            <a:solidFill>
              <a:srgbClr val="1CA9C9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8" name="Etapa"/>
          <p:cNvSpPr/>
          <p:nvPr/>
        </p:nvSpPr>
        <p:spPr>
          <a:xfrm>
            <a:off x="8496300" y="1371600"/>
            <a:ext cx="2857500" cy="247650"/>
          </a:xfrm>
          <a:prstGeom prst="roundRect">
            <a:avLst>
              <a:gd name="adj" fmla="val 50000"/>
            </a:avLst>
          </a:prstGeom>
          <a:solidFill>
            <a:srgbClr val="1CA9C9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496300" y="13716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2027+ · Ambición global y Healthcare</a:t>
            </a:r>
            <a:endParaRPr lang="en-US" sz="1000" dirty="0"/>
          </a:p>
        </p:txBody>
      </p:sp>
      <p:pic>
        <p:nvPicPr>
          <p:cNvPr id="20" name="Image 3" descr="Caja Acetaminofén 500 m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5800" y="1790700"/>
            <a:ext cx="1638300" cy="1314450"/>
          </a:xfrm>
          <a:prstGeom prst="rect">
            <a:avLst/>
          </a:prstGeom>
        </p:spPr>
      </p:pic>
      <p:pic>
        <p:nvPicPr>
          <p:cNvPr id="21" name="Image 4" descr="Caja Acetaminofén 500 m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4100" y="1790700"/>
            <a:ext cx="1638300" cy="131445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248650" y="3219450"/>
            <a:ext cx="335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GS1 DataMatrix + QR Digital Link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8305800" y="34290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clínica/regulatoria + interacción con el paciente.</a:t>
            </a:r>
            <a:endParaRPr lang="en-US" sz="1000" dirty="0"/>
          </a:p>
        </p:txBody>
      </p:sp>
      <p:sp>
        <p:nvSpPr>
          <p:cNvPr id="24" name="Flecha"/>
          <p:cNvSpPr/>
          <p:nvPr/>
        </p:nvSpPr>
        <p:spPr>
          <a:xfrm>
            <a:off x="4038600" y="2362200"/>
            <a:ext cx="247650" cy="24765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5" name="Flecha"/>
          <p:cNvSpPr/>
          <p:nvPr/>
        </p:nvSpPr>
        <p:spPr>
          <a:xfrm>
            <a:off x="7886700" y="2362200"/>
            <a:ext cx="247650" cy="24765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6" name="Tarjeta"/>
          <p:cNvSpPr/>
          <p:nvPr/>
        </p:nvSpPr>
        <p:spPr>
          <a:xfrm>
            <a:off x="457200" y="3924300"/>
            <a:ext cx="2667000" cy="876300"/>
          </a:xfrm>
          <a:prstGeom prst="roundRect">
            <a:avLst>
              <a:gd name="adj" fmla="val 2087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590550" y="401955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(01)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07591196014853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590550" y="4286250"/>
            <a:ext cx="2419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GTIN · 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único del medicamento (prefijo 759 GS1 Venezuela)</a:t>
            </a:r>
            <a:endParaRPr lang="en-US" sz="1050" dirty="0"/>
          </a:p>
        </p:txBody>
      </p:sp>
      <p:sp>
        <p:nvSpPr>
          <p:cNvPr id="29" name="Tarjeta"/>
          <p:cNvSpPr/>
          <p:nvPr/>
        </p:nvSpPr>
        <p:spPr>
          <a:xfrm>
            <a:off x="3327368" y="3924300"/>
            <a:ext cx="2667000" cy="876300"/>
          </a:xfrm>
          <a:prstGeom prst="roundRect">
            <a:avLst>
              <a:gd name="adj" fmla="val 2087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3460718" y="401955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(17)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281231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3460718" y="4286250"/>
            <a:ext cx="2419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Vencimiento · 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Dic 2028</a:t>
            </a:r>
            <a:endParaRPr lang="en-US" sz="1050" dirty="0"/>
          </a:p>
        </p:txBody>
      </p:sp>
      <p:sp>
        <p:nvSpPr>
          <p:cNvPr id="32" name="Tarjeta"/>
          <p:cNvSpPr/>
          <p:nvPr/>
        </p:nvSpPr>
        <p:spPr>
          <a:xfrm>
            <a:off x="6197537" y="3924300"/>
            <a:ext cx="2667000" cy="876300"/>
          </a:xfrm>
          <a:prstGeom prst="roundRect">
            <a:avLst>
              <a:gd name="adj" fmla="val 2087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6330886" y="401955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(10)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LOTE-VE26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6330886" y="4286250"/>
            <a:ext cx="2419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· 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de producción</a:t>
            </a:r>
            <a:endParaRPr lang="en-US" sz="1050" dirty="0"/>
          </a:p>
        </p:txBody>
      </p:sp>
      <p:sp>
        <p:nvSpPr>
          <p:cNvPr id="35" name="Tarjeta"/>
          <p:cNvSpPr/>
          <p:nvPr/>
        </p:nvSpPr>
        <p:spPr>
          <a:xfrm>
            <a:off x="9067705" y="3924300"/>
            <a:ext cx="2667000" cy="876300"/>
          </a:xfrm>
          <a:prstGeom prst="roundRect">
            <a:avLst>
              <a:gd name="adj" fmla="val 2087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6" name="Text 29"/>
          <p:cNvSpPr txBox="1"/>
          <p:nvPr/>
        </p:nvSpPr>
        <p:spPr>
          <a:xfrm>
            <a:off x="9201055" y="401955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(21)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SN998877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9201055" y="4286250"/>
            <a:ext cx="2419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 · 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unitaria anti-falsificación</a:t>
            </a:r>
            <a:endParaRPr lang="en-US" sz="105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953000"/>
            <a:ext cx="381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GS1 DIGITAL LINK</a:t>
            </a:r>
            <a:endParaRPr lang="en-US" sz="900" dirty="0"/>
          </a:p>
        </p:txBody>
      </p:sp>
      <p:sp>
        <p:nvSpPr>
          <p:cNvPr id="39" name="Tarjeta"/>
          <p:cNvSpPr/>
          <p:nvPr/>
        </p:nvSpPr>
        <p:spPr>
          <a:xfrm>
            <a:off x="457200" y="5162550"/>
            <a:ext cx="11277600" cy="571500"/>
          </a:xfrm>
          <a:prstGeom prst="roundRect">
            <a:avLst>
              <a:gd name="adj" fmla="val 32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40" name="Text 33"/>
          <p:cNvSpPr txBox="1"/>
          <p:nvPr/>
        </p:nvSpPr>
        <p:spPr>
          <a:xfrm>
            <a:off x="685800" y="5162550"/>
            <a:ext cx="1082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</a:t>
            </a:r>
            <a:pPr algn="l" indent="0" marL="0">
              <a:buNone/>
            </a:pPr>
            <a:r>
              <a:rPr lang="en-US" sz="15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dl.gs1ve.org</a:t>
            </a:r>
            <a:pPr algn="l" indent="0" marL="0">
              <a:buNone/>
            </a:pPr>
            <a:r>
              <a:rPr lang="en-US" sz="15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/01/</a:t>
            </a:r>
            <a:pPr algn="l" indent="0" marL="0">
              <a:buNone/>
            </a:pPr>
            <a:r>
              <a:rPr lang="en-US" sz="15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07591196014853</a:t>
            </a:r>
            <a:pPr algn="l" indent="0" marL="0">
              <a:buNone/>
            </a:pPr>
            <a:r>
              <a:rPr lang="en-US" sz="15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/10/</a:t>
            </a:r>
            <a:pPr algn="l" indent="0" marL="0">
              <a:buNone/>
            </a:pPr>
            <a:r>
              <a:rPr lang="en-US" sz="15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LOTE-VE26</a:t>
            </a:r>
            <a:pPr algn="l" indent="0" marL="0">
              <a:buNone/>
            </a:pPr>
            <a:r>
              <a:rPr lang="en-US" sz="15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?17=</a:t>
            </a:r>
            <a:pPr algn="l" indent="0" marL="0">
              <a:buNone/>
            </a:pPr>
            <a:r>
              <a:rPr lang="en-US" sz="15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281231</a:t>
            </a:r>
            <a:endParaRPr lang="en-US" sz="1550" dirty="0"/>
          </a:p>
        </p:txBody>
      </p:sp>
      <p:sp>
        <p:nvSpPr>
          <p:cNvPr id="41" name="Text 34"/>
          <p:cNvSpPr txBox="1"/>
          <p:nvPr/>
        </p:nvSpPr>
        <p:spPr>
          <a:xfrm>
            <a:off x="457200" y="582930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Dominio web     </a:t>
            </a:r>
            <a:pPr algn="l" indent="0" marL="0">
              <a:buNone/>
            </a:pPr>
            <a:r>
              <a:rPr lang="en-US" sz="1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Identificador de aplicación (AI)     </a:t>
            </a:r>
            <a:pPr algn="l"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GTIN / Lote / Vencimiento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INTERNACIONAL · GS1 HEALTHCARE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éxito: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real en hospitales y regulación</a:t>
            </a:r>
            <a:endParaRPr lang="en-US" sz="2600" dirty="0"/>
          </a:p>
        </p:txBody>
      </p:sp>
      <p:sp>
        <p:nvSpPr>
          <p:cNvPr id="4" name="Tarjeta"/>
          <p:cNvSpPr/>
          <p:nvPr/>
        </p:nvSpPr>
        <p:spPr>
          <a:xfrm>
            <a:off x="457200" y="1190625"/>
            <a:ext cx="3600450" cy="4762500"/>
          </a:xfrm>
          <a:prstGeom prst="roundRect">
            <a:avLst>
              <a:gd name="adj" fmla="val 5079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" name="FOTO (reemplazar): Reino Unido · NHS"/>
          <p:cNvSpPr/>
          <p:nvPr/>
        </p:nvSpPr>
        <p:spPr>
          <a:xfrm>
            <a:off x="457200" y="1190625"/>
            <a:ext cx="3600450" cy="1238250"/>
          </a:xfrm>
          <a:prstGeom prst="roundRect">
            <a:avLst>
              <a:gd name="adj" fmla="val 13292"/>
            </a:avLst>
          </a:prstGeom>
          <a:solidFill>
            <a:srgbClr val="002C6C"/>
          </a:solidFill>
          <a:ln/>
        </p:spPr>
      </p:sp>
      <p:sp>
        <p:nvSpPr>
          <p:cNvPr id="6" name="FOTO (reemplazar): Reino Unido · NHS (base)"/>
          <p:cNvSpPr/>
          <p:nvPr/>
        </p:nvSpPr>
        <p:spPr>
          <a:xfrm>
            <a:off x="457200" y="1809750"/>
            <a:ext cx="3600450" cy="619125"/>
          </a:xfrm>
          <a:prstGeom prst="rect">
            <a:avLst/>
          </a:prstGeom>
          <a:solidFill>
            <a:srgbClr val="002C6C"/>
          </a:solidFill>
          <a:ln/>
        </p:spPr>
      </p:sp>
      <p:pic>
        <p:nvPicPr>
          <p:cNvPr id="7" name="Image 0" descr="Icono Hosp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925" y="1552575"/>
            <a:ext cx="381000" cy="381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2450" y="2209800"/>
            <a:ext cx="3409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foto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47700" y="2552700"/>
            <a:ext cx="3238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Reino Unido · NHS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7700" y="2800350"/>
            <a:ext cx="323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Scan4Safety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47700" y="3067050"/>
            <a:ext cx="3238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 · GLN · GSRN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47700" y="3295650"/>
            <a:ext cx="3238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Adopción en hospitales públicos británicos.</a:t>
            </a:r>
            <a:endParaRPr lang="en-US" sz="1100" dirty="0"/>
          </a:p>
        </p:txBody>
      </p:sp>
      <p:sp>
        <p:nvSpPr>
          <p:cNvPr id="13" name="Tarjeta"/>
          <p:cNvSpPr/>
          <p:nvPr/>
        </p:nvSpPr>
        <p:spPr>
          <a:xfrm>
            <a:off x="4286250" y="1190625"/>
            <a:ext cx="3600450" cy="4762500"/>
          </a:xfrm>
          <a:prstGeom prst="roundRect">
            <a:avLst>
              <a:gd name="adj" fmla="val 5079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4" name="FOTO (reemplazar): Argentina (ANMAT) y Brasil"/>
          <p:cNvSpPr/>
          <p:nvPr/>
        </p:nvSpPr>
        <p:spPr>
          <a:xfrm>
            <a:off x="4286250" y="1190625"/>
            <a:ext cx="3600450" cy="1238250"/>
          </a:xfrm>
          <a:prstGeom prst="roundRect">
            <a:avLst>
              <a:gd name="adj" fmla="val 13292"/>
            </a:avLst>
          </a:prstGeom>
          <a:solidFill>
            <a:srgbClr val="0097B2"/>
          </a:solidFill>
          <a:ln/>
        </p:spPr>
      </p:sp>
      <p:sp>
        <p:nvSpPr>
          <p:cNvPr id="15" name="FOTO (reemplazar): Argentina (ANMAT) y Brasil (base)"/>
          <p:cNvSpPr/>
          <p:nvPr/>
        </p:nvSpPr>
        <p:spPr>
          <a:xfrm>
            <a:off x="4286250" y="1809750"/>
            <a:ext cx="3600450" cy="619125"/>
          </a:xfrm>
          <a:prstGeom prst="rect">
            <a:avLst/>
          </a:prstGeom>
          <a:solidFill>
            <a:srgbClr val="0097B2"/>
          </a:solidFill>
          <a:ln/>
        </p:spPr>
      </p:sp>
      <p:pic>
        <p:nvPicPr>
          <p:cNvPr id="16" name="Image 1" descr="Icono Pi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5975" y="1552575"/>
            <a:ext cx="381000" cy="3810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81500" y="2209800"/>
            <a:ext cx="3409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foto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4476750" y="2552700"/>
            <a:ext cx="3238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Argentina (ANMAT) y Brasil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476750" y="2800350"/>
            <a:ext cx="323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ANVISA · Sírio-Libanês · Einstein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4476750" y="3067050"/>
            <a:ext cx="3238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GS1 DataMatrix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4476750" y="3295650"/>
            <a:ext cx="3238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unitaria de medicamentos oncológicos y de alto costo.</a:t>
            </a:r>
            <a:endParaRPr lang="en-US" sz="1100" dirty="0"/>
          </a:p>
        </p:txBody>
      </p:sp>
      <p:sp>
        <p:nvSpPr>
          <p:cNvPr id="22" name="Tarjeta"/>
          <p:cNvSpPr/>
          <p:nvPr/>
        </p:nvSpPr>
        <p:spPr>
          <a:xfrm>
            <a:off x="8115300" y="1190625"/>
            <a:ext cx="3600450" cy="4762500"/>
          </a:xfrm>
          <a:prstGeom prst="roundRect">
            <a:avLst>
              <a:gd name="adj" fmla="val 5079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3" name="FOTO (reemplazar): Unión Europea (FMD) y Colombia"/>
          <p:cNvSpPr/>
          <p:nvPr/>
        </p:nvSpPr>
        <p:spPr>
          <a:xfrm>
            <a:off x="8115300" y="1190625"/>
            <a:ext cx="3600450" cy="1238250"/>
          </a:xfrm>
          <a:prstGeom prst="roundRect">
            <a:avLst>
              <a:gd name="adj" fmla="val 13292"/>
            </a:avLst>
          </a:prstGeom>
          <a:solidFill>
            <a:srgbClr val="00A79D"/>
          </a:solidFill>
          <a:ln/>
        </p:spPr>
      </p:sp>
      <p:sp>
        <p:nvSpPr>
          <p:cNvPr id="24" name="FOTO (reemplazar): Unión Europea (FMD) y Colombia (base)"/>
          <p:cNvSpPr/>
          <p:nvPr/>
        </p:nvSpPr>
        <p:spPr>
          <a:xfrm>
            <a:off x="8115300" y="1809750"/>
            <a:ext cx="3600450" cy="619125"/>
          </a:xfrm>
          <a:prstGeom prst="rect">
            <a:avLst/>
          </a:prstGeom>
          <a:solidFill>
            <a:srgbClr val="00A79D"/>
          </a:solidFill>
          <a:ln/>
        </p:spPr>
      </p:sp>
      <p:pic>
        <p:nvPicPr>
          <p:cNvPr id="25" name="Image 2" descr="Icono ScanLi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025" y="1552575"/>
            <a:ext cx="381000" cy="3810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210550" y="2209800"/>
            <a:ext cx="3409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foto</a:t>
            </a:r>
            <a:endParaRPr lang="en-US" sz="800" dirty="0"/>
          </a:p>
        </p:txBody>
      </p:sp>
      <p:sp>
        <p:nvSpPr>
          <p:cNvPr id="27" name="Text 22"/>
          <p:cNvSpPr txBox="1"/>
          <p:nvPr/>
        </p:nvSpPr>
        <p:spPr>
          <a:xfrm>
            <a:off x="8305800" y="2552700"/>
            <a:ext cx="3238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Unión Europea (FMD) y Colombia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305800" y="2800350"/>
            <a:ext cx="323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GDSN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8305800" y="3067050"/>
            <a:ext cx="3238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DataMatrix · e-PIL · Digital Link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8305800" y="3295650"/>
            <a:ext cx="3238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serializada punto a punto y prospecto electrónico (e-PIL) mediante GS1 Digital Link.</a:t>
            </a:r>
            <a:endParaRPr lang="en-US" sz="1100" dirty="0"/>
          </a:p>
        </p:txBody>
      </p:sp>
      <p:sp>
        <p:nvSpPr>
          <p:cNvPr id="31" name="Tarjeta"/>
          <p:cNvSpPr/>
          <p:nvPr/>
        </p:nvSpPr>
        <p:spPr>
          <a:xfrm>
            <a:off x="647700" y="3848100"/>
            <a:ext cx="1009650" cy="1143000"/>
          </a:xfrm>
          <a:prstGeom prst="roundRect">
            <a:avLst>
              <a:gd name="adj" fmla="val 13585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47700" y="3962400"/>
            <a:ext cx="1009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76%</a:t>
            </a:r>
            <a:endParaRPr lang="en-US" sz="2400" dirty="0"/>
          </a:p>
        </p:txBody>
      </p:sp>
      <p:sp>
        <p:nvSpPr>
          <p:cNvPr id="33" name="Text 28"/>
          <p:cNvSpPr txBox="1"/>
          <p:nvPr/>
        </p:nvSpPr>
        <p:spPr>
          <a:xfrm>
            <a:off x="704850" y="4400550"/>
            <a:ext cx="8953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errores de medicación</a:t>
            </a:r>
            <a:endParaRPr lang="en-US" sz="950" dirty="0"/>
          </a:p>
        </p:txBody>
      </p:sp>
      <p:sp>
        <p:nvSpPr>
          <p:cNvPr id="34" name="Tarjeta"/>
          <p:cNvSpPr/>
          <p:nvPr/>
        </p:nvSpPr>
        <p:spPr>
          <a:xfrm>
            <a:off x="1733550" y="3848100"/>
            <a:ext cx="1009650" cy="1143000"/>
          </a:xfrm>
          <a:prstGeom prst="roundRect">
            <a:avLst>
              <a:gd name="adj" fmla="val 13585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1733550" y="3962400"/>
            <a:ext cx="1009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+140,000</a:t>
            </a:r>
            <a:endParaRPr lang="en-US" sz="1500" dirty="0"/>
          </a:p>
        </p:txBody>
      </p:sp>
      <p:sp>
        <p:nvSpPr>
          <p:cNvPr id="36" name="Text 31"/>
          <p:cNvSpPr txBox="1"/>
          <p:nvPr/>
        </p:nvSpPr>
        <p:spPr>
          <a:xfrm>
            <a:off x="1790700" y="4400550"/>
            <a:ext cx="8953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clínicas liberadas</a:t>
            </a:r>
            <a:endParaRPr lang="en-US" sz="950" dirty="0"/>
          </a:p>
        </p:txBody>
      </p:sp>
      <p:sp>
        <p:nvSpPr>
          <p:cNvPr id="37" name="Tarjeta"/>
          <p:cNvSpPr/>
          <p:nvPr/>
        </p:nvSpPr>
        <p:spPr>
          <a:xfrm>
            <a:off x="2819400" y="3848100"/>
            <a:ext cx="1009650" cy="1143000"/>
          </a:xfrm>
          <a:prstGeom prst="roundRect">
            <a:avLst>
              <a:gd name="adj" fmla="val 13585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2819400" y="3962400"/>
            <a:ext cx="1009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 min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2876550" y="4400550"/>
            <a:ext cx="8953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ubicar lotes (recall)</a:t>
            </a:r>
            <a:endParaRPr lang="en-US" sz="950" dirty="0"/>
          </a:p>
        </p:txBody>
      </p:sp>
      <p:sp>
        <p:nvSpPr>
          <p:cNvPr id="40" name="Text 35"/>
          <p:cNvSpPr txBox="1"/>
          <p:nvPr/>
        </p:nvSpPr>
        <p:spPr>
          <a:xfrm>
            <a:off x="4476750" y="3848100"/>
            <a:ext cx="3238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99.9%</a:t>
            </a:r>
            <a:endParaRPr lang="en-US" sz="4400" dirty="0"/>
          </a:p>
        </p:txBody>
      </p:sp>
      <p:sp>
        <p:nvSpPr>
          <p:cNvPr id="41" name="Text 36"/>
          <p:cNvSpPr txBox="1"/>
          <p:nvPr/>
        </p:nvSpPr>
        <p:spPr>
          <a:xfrm>
            <a:off x="4476750" y="4476750"/>
            <a:ext cx="323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precisión en dispensación intrahospitalaria</a:t>
            </a:r>
            <a:endParaRPr lang="en-US" sz="1100" dirty="0"/>
          </a:p>
        </p:txBody>
      </p:sp>
      <p:sp>
        <p:nvSpPr>
          <p:cNvPr id="42" name="Tarjeta"/>
          <p:cNvSpPr/>
          <p:nvPr/>
        </p:nvSpPr>
        <p:spPr>
          <a:xfrm>
            <a:off x="4476750" y="4953000"/>
            <a:ext cx="3219450" cy="781050"/>
          </a:xfrm>
          <a:prstGeom prst="roundRect">
            <a:avLst>
              <a:gd name="adj" fmla="val 17561"/>
            </a:avLst>
          </a:prstGeom>
          <a:solidFill>
            <a:srgbClr val="E6F8F1"/>
          </a:solidFill>
          <a:ln w="9525">
            <a:solidFill>
              <a:srgbClr val="E6F8F1"/>
            </a:solidFill>
            <a:prstDash val="solid"/>
          </a:ln>
        </p:spPr>
      </p:sp>
      <p:pic>
        <p:nvPicPr>
          <p:cNvPr id="43" name="Image 3" descr="Icono 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0100" y="5200650"/>
            <a:ext cx="228600" cy="228600"/>
          </a:xfrm>
          <a:prstGeom prst="rect">
            <a:avLst/>
          </a:prstGeom>
        </p:spPr>
      </p:pic>
      <p:sp>
        <p:nvSpPr>
          <p:cNvPr id="44" name="Text 38"/>
          <p:cNvSpPr txBox="1"/>
          <p:nvPr/>
        </p:nvSpPr>
        <p:spPr>
          <a:xfrm>
            <a:off x="4933950" y="4991100"/>
            <a:ext cx="266700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Erradicación de fármacos falsificados en el canal formal.</a:t>
            </a:r>
            <a:endParaRPr lang="en-US" sz="1050" dirty="0"/>
          </a:p>
        </p:txBody>
      </p:sp>
      <p:sp>
        <p:nvSpPr>
          <p:cNvPr id="45" name="Text 39"/>
          <p:cNvSpPr txBox="1"/>
          <p:nvPr/>
        </p:nvSpPr>
        <p:spPr>
          <a:xfrm>
            <a:off x="8305800" y="3848100"/>
            <a:ext cx="3238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−40%</a:t>
            </a:r>
            <a:endParaRPr lang="en-US" sz="4400" dirty="0"/>
          </a:p>
        </p:txBody>
      </p:sp>
      <p:sp>
        <p:nvSpPr>
          <p:cNvPr id="46" name="Text 40"/>
          <p:cNvSpPr txBox="1"/>
          <p:nvPr/>
        </p:nvSpPr>
        <p:spPr>
          <a:xfrm>
            <a:off x="8305800" y="447675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errores de catalogación entre laboratorios y clínicas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PUNTO 3 · GS1 NEWS</a:t>
            </a:r>
            <a:endParaRPr lang="en-US" sz="9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Novedades globales y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de ruta 2026–2027</a:t>
            </a:r>
            <a:endParaRPr lang="en-US" sz="2600" dirty="0"/>
          </a:p>
        </p:txBody>
      </p:sp>
      <p:pic>
        <p:nvPicPr>
          <p:cNvPr id="4" name="Image 0" descr="Logo GS1 Venezue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133350"/>
            <a:ext cx="1524000" cy="428625"/>
          </a:xfrm>
          <a:prstGeom prst="rect">
            <a:avLst/>
          </a:prstGeom>
        </p:spPr>
      </p:pic>
      <p:sp>
        <p:nvSpPr>
          <p:cNvPr id="5" name="Tarjeta"/>
          <p:cNvSpPr/>
          <p:nvPr/>
        </p:nvSpPr>
        <p:spPr>
          <a:xfrm>
            <a:off x="457200" y="1285875"/>
            <a:ext cx="5524500" cy="220980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6" name="Icono Sunrise"/>
          <p:cNvSpPr/>
          <p:nvPr/>
        </p:nvSpPr>
        <p:spPr>
          <a:xfrm>
            <a:off x="685800" y="1514475"/>
            <a:ext cx="609600" cy="609600"/>
          </a:xfrm>
          <a:prstGeom prst="ellipse">
            <a:avLst/>
          </a:prstGeom>
          <a:solidFill>
            <a:srgbClr val="F26334"/>
          </a:solidFill>
          <a:ln/>
        </p:spPr>
      </p:sp>
      <p:pic>
        <p:nvPicPr>
          <p:cNvPr id="7" name="Image 1" descr="Icono Sunri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660779"/>
            <a:ext cx="316992" cy="31699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85900" y="1514475"/>
            <a:ext cx="4286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Rumbo a GS1 Sunrise 2027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485900" y="1838325"/>
            <a:ext cx="1238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2743200" y="1876425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meta de GS1 Sunrise (pilotos en 48 países / 88% del PIB mundial)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485900" y="2409825"/>
            <a:ext cx="4286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venta y farmacias avanzan hacia la lectura nativa de códigos 2D.</a:t>
            </a:r>
            <a:endParaRPr lang="en-US" sz="1250" dirty="0"/>
          </a:p>
        </p:txBody>
      </p:sp>
      <p:sp>
        <p:nvSpPr>
          <p:cNvPr id="12" name="Tarjeta"/>
          <p:cNvSpPr/>
          <p:nvPr/>
        </p:nvSpPr>
        <p:spPr>
          <a:xfrm>
            <a:off x="6210300" y="1285875"/>
            <a:ext cx="5524500" cy="220980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3" name="Icono QrCode"/>
          <p:cNvSpPr/>
          <p:nvPr/>
        </p:nvSpPr>
        <p:spPr>
          <a:xfrm>
            <a:off x="6438900" y="1514475"/>
            <a:ext cx="609600" cy="6096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14" name="Image 2" descr="Icono Qr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204" y="1660779"/>
            <a:ext cx="316992" cy="31699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239000" y="1514475"/>
            <a:ext cx="4286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GS1 Digital Link Latam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239000" y="1838325"/>
            <a:ext cx="428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para afiliados de GS1 Venezuela en </a:t>
            </a:r>
            <a:pPr algn="l" indent="0" marL="0">
              <a:buNone/>
            </a:pPr>
            <a:r>
              <a:rPr lang="en-US" sz="125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app.gs1digitallink.lat</a:t>
            </a:r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Exportación de arte tanto para QR Digital Link como GS1 DataMatrix:</a:t>
            </a:r>
            <a:endParaRPr lang="en-US" sz="1250" dirty="0"/>
          </a:p>
        </p:txBody>
      </p:sp>
      <p:sp>
        <p:nvSpPr>
          <p:cNvPr id="17" name="Formato SVG"/>
          <p:cNvSpPr/>
          <p:nvPr/>
        </p:nvSpPr>
        <p:spPr>
          <a:xfrm>
            <a:off x="7239000" y="2714625"/>
            <a:ext cx="571500" cy="285750"/>
          </a:xfrm>
          <a:prstGeom prst="roundRect">
            <a:avLst>
              <a:gd name="adj" fmla="val 38400"/>
            </a:avLst>
          </a:prstGeom>
          <a:solidFill>
            <a:srgbClr val="E0F4F9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7239000" y="2714625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SVG</a:t>
            </a:r>
            <a:endParaRPr lang="en-US" sz="1050" dirty="0"/>
          </a:p>
        </p:txBody>
      </p:sp>
      <p:sp>
        <p:nvSpPr>
          <p:cNvPr id="19" name="Formato PNG"/>
          <p:cNvSpPr/>
          <p:nvPr/>
        </p:nvSpPr>
        <p:spPr>
          <a:xfrm>
            <a:off x="7905750" y="2714625"/>
            <a:ext cx="571500" cy="285750"/>
          </a:xfrm>
          <a:prstGeom prst="roundRect">
            <a:avLst>
              <a:gd name="adj" fmla="val 38400"/>
            </a:avLst>
          </a:prstGeom>
          <a:solidFill>
            <a:srgbClr val="E0F4F9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7905750" y="2714625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PNG</a:t>
            </a:r>
            <a:endParaRPr lang="en-US" sz="1050" dirty="0"/>
          </a:p>
        </p:txBody>
      </p:sp>
      <p:sp>
        <p:nvSpPr>
          <p:cNvPr id="21" name="Formato PDF"/>
          <p:cNvSpPr/>
          <p:nvPr/>
        </p:nvSpPr>
        <p:spPr>
          <a:xfrm>
            <a:off x="8572500" y="2714625"/>
            <a:ext cx="571500" cy="285750"/>
          </a:xfrm>
          <a:prstGeom prst="roundRect">
            <a:avLst>
              <a:gd name="adj" fmla="val 38400"/>
            </a:avLst>
          </a:prstGeom>
          <a:solidFill>
            <a:srgbClr val="E0F4F9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572500" y="2714625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1050" dirty="0"/>
          </a:p>
        </p:txBody>
      </p:sp>
      <p:sp>
        <p:nvSpPr>
          <p:cNvPr id="23" name="Formato EPS"/>
          <p:cNvSpPr/>
          <p:nvPr/>
        </p:nvSpPr>
        <p:spPr>
          <a:xfrm>
            <a:off x="9239250" y="2714625"/>
            <a:ext cx="571500" cy="285750"/>
          </a:xfrm>
          <a:prstGeom prst="roundRect">
            <a:avLst>
              <a:gd name="adj" fmla="val 38400"/>
            </a:avLst>
          </a:prstGeom>
          <a:solidFill>
            <a:srgbClr val="E0F4F9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9239250" y="2714625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</a:t>
            </a:r>
            <a:endParaRPr lang="en-US" sz="1050" dirty="0"/>
          </a:p>
        </p:txBody>
      </p:sp>
      <p:sp>
        <p:nvSpPr>
          <p:cNvPr id="25" name="Tarjeta"/>
          <p:cNvSpPr/>
          <p:nvPr/>
        </p:nvSpPr>
        <p:spPr>
          <a:xfrm>
            <a:off x="457200" y="3667125"/>
            <a:ext cx="5524500" cy="220980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6" name="Icono Share2"/>
          <p:cNvSpPr/>
          <p:nvPr/>
        </p:nvSpPr>
        <p:spPr>
          <a:xfrm>
            <a:off x="685800" y="3895725"/>
            <a:ext cx="609600" cy="609600"/>
          </a:xfrm>
          <a:prstGeom prst="ellipse">
            <a:avLst/>
          </a:prstGeom>
          <a:solidFill>
            <a:srgbClr val="00A79D"/>
          </a:solidFill>
          <a:ln/>
        </p:spPr>
      </p:sp>
      <p:pic>
        <p:nvPicPr>
          <p:cNvPr id="27" name="Image 3" descr="Icono Share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" y="4042029"/>
            <a:ext cx="316992" cy="31699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485900" y="3895725"/>
            <a:ext cx="4286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EPCIS 2.0 e interoperabilidad con IA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1485900" y="4257675"/>
            <a:ext cx="428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estándar global para compartir eventos de visibilidad en cadenas de suministro de salud con máxima ciberseguridad.</a:t>
            </a:r>
            <a:endParaRPr lang="en-US" sz="1250" dirty="0"/>
          </a:p>
        </p:txBody>
      </p:sp>
      <p:sp>
        <p:nvSpPr>
          <p:cNvPr id="30" name="Tarjeta"/>
          <p:cNvSpPr/>
          <p:nvPr/>
        </p:nvSpPr>
        <p:spPr>
          <a:xfrm>
            <a:off x="6210300" y="3667125"/>
            <a:ext cx="5524500" cy="220980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1" name="Icono GraduationCap"/>
          <p:cNvSpPr/>
          <p:nvPr/>
        </p:nvSpPr>
        <p:spPr>
          <a:xfrm>
            <a:off x="6438900" y="3895725"/>
            <a:ext cx="609600" cy="609600"/>
          </a:xfrm>
          <a:prstGeom prst="ellipse">
            <a:avLst/>
          </a:prstGeom>
          <a:solidFill>
            <a:srgbClr val="002C6C"/>
          </a:solidFill>
          <a:ln/>
        </p:spPr>
      </p:sp>
      <p:pic>
        <p:nvPicPr>
          <p:cNvPr id="32" name="Image 4" descr="Icono GraduationC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5204" y="4042029"/>
            <a:ext cx="316992" cy="31699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239000" y="3895725"/>
            <a:ext cx="4286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Formación y acompañamiento técnico</a:t>
            </a:r>
            <a:endParaRPr lang="en-US" sz="1500" dirty="0"/>
          </a:p>
        </p:txBody>
      </p:sp>
      <p:sp>
        <p:nvSpPr>
          <p:cNvPr id="34" name="Text 27"/>
          <p:cNvSpPr txBox="1"/>
          <p:nvPr/>
        </p:nvSpPr>
        <p:spPr>
          <a:xfrm>
            <a:off x="7239000" y="4257675"/>
            <a:ext cx="428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Consultoría del Departamento de Estándares de GS1 Venezuela para adecuar líneas de empaque, asignación de GLN/GTIN y catalogación.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PUNTO 4 · MESA DE TRABAJO DEL COMITÉ</a:t>
            </a:r>
            <a:endParaRPr lang="en-US" sz="9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Abierta</a:t>
            </a:r>
            <a:endParaRPr lang="en-US" sz="2600" dirty="0"/>
          </a:p>
        </p:txBody>
      </p:sp>
      <p:sp>
        <p:nvSpPr>
          <p:cNvPr id="4" name="FOTO (reemplazar): mesa de trabajo del comité"/>
          <p:cNvSpPr/>
          <p:nvPr/>
        </p:nvSpPr>
        <p:spPr>
          <a:xfrm rot="-180000">
            <a:off x="571500" y="1333500"/>
            <a:ext cx="3429000" cy="4191000"/>
          </a:xfrm>
          <a:prstGeom prst="roundRect">
            <a:avLst>
              <a:gd name="adj" fmla="val 9333"/>
            </a:avLst>
          </a:prstGeom>
          <a:solidFill>
            <a:schemeClr val="accent6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5" name="Image 0" descr="Icono 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4490" y="2777490"/>
            <a:ext cx="1303020" cy="1303020"/>
          </a:xfrm>
          <a:prstGeom prst="rect">
            <a:avLst/>
          </a:prstGeom>
        </p:spPr>
      </p:pic>
      <p:sp>
        <p:nvSpPr>
          <p:cNvPr id="6" name="Etiqueta foto"/>
          <p:cNvSpPr txBox="1"/>
          <p:nvPr/>
        </p:nvSpPr>
        <p:spPr>
          <a:xfrm>
            <a:off x="647700" y="5276850"/>
            <a:ext cx="3276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foto: mesa de trabajo del comité</a:t>
            </a:r>
            <a:endParaRPr lang="en-US" sz="800" dirty="0"/>
          </a:p>
        </p:txBody>
      </p:sp>
      <p:sp>
        <p:nvSpPr>
          <p:cNvPr id="7" name="Etiqueta comité"/>
          <p:cNvSpPr/>
          <p:nvPr/>
        </p:nvSpPr>
        <p:spPr>
          <a:xfrm>
            <a:off x="819150" y="5219700"/>
            <a:ext cx="2381250" cy="32385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19150" y="5219700"/>
            <a:ext cx="238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Salud GS1 · 5 Nov 2026</a:t>
            </a:r>
            <a:endParaRPr lang="en-US" sz="1050" dirty="0"/>
          </a:p>
        </p:txBody>
      </p:sp>
      <p:sp>
        <p:nvSpPr>
          <p:cNvPr id="9" name="Tarjeta"/>
          <p:cNvSpPr/>
          <p:nvPr/>
        </p:nvSpPr>
        <p:spPr>
          <a:xfrm>
            <a:off x="4476750" y="1333500"/>
            <a:ext cx="7258050" cy="990600"/>
          </a:xfrm>
          <a:prstGeom prst="roundRect">
            <a:avLst>
              <a:gd name="adj" fmla="val 18462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0" name="Insignia 1"/>
          <p:cNvSpPr/>
          <p:nvPr/>
        </p:nvSpPr>
        <p:spPr>
          <a:xfrm>
            <a:off x="4686300" y="1581150"/>
            <a:ext cx="495300" cy="4953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86300" y="158115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391150" y="1504950"/>
            <a:ext cx="6096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Retos en empaque primario y secundario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391150" y="18097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impresión para códigos 2D variables (lote / vencimiento).</a:t>
            </a:r>
            <a:endParaRPr lang="en-US" sz="1200" dirty="0"/>
          </a:p>
        </p:txBody>
      </p:sp>
      <p:sp>
        <p:nvSpPr>
          <p:cNvPr id="14" name="Tarjeta"/>
          <p:cNvSpPr/>
          <p:nvPr/>
        </p:nvSpPr>
        <p:spPr>
          <a:xfrm>
            <a:off x="4476750" y="2476500"/>
            <a:ext cx="7258050" cy="990600"/>
          </a:xfrm>
          <a:prstGeom prst="roundRect">
            <a:avLst>
              <a:gd name="adj" fmla="val 18462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5" name="Insignia 2"/>
          <p:cNvSpPr/>
          <p:nvPr/>
        </p:nvSpPr>
        <p:spPr>
          <a:xfrm>
            <a:off x="4686300" y="2724150"/>
            <a:ext cx="495300" cy="4953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686300" y="272415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391150" y="2647950"/>
            <a:ext cx="6096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Integración con farmacias y clínicas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391150" y="29527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Homologación de lectores ópticos 2D y sistemas ERP / HIS en Venezuela.</a:t>
            </a:r>
            <a:endParaRPr lang="en-US" sz="1200" dirty="0"/>
          </a:p>
        </p:txBody>
      </p:sp>
      <p:sp>
        <p:nvSpPr>
          <p:cNvPr id="19" name="Tarjeta"/>
          <p:cNvSpPr/>
          <p:nvPr/>
        </p:nvSpPr>
        <p:spPr>
          <a:xfrm>
            <a:off x="4476750" y="3619500"/>
            <a:ext cx="7258050" cy="990600"/>
          </a:xfrm>
          <a:prstGeom prst="roundRect">
            <a:avLst>
              <a:gd name="adj" fmla="val 18462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0" name="Insignia 3"/>
          <p:cNvSpPr/>
          <p:nvPr/>
        </p:nvSpPr>
        <p:spPr>
          <a:xfrm>
            <a:off x="4686300" y="3867150"/>
            <a:ext cx="495300" cy="4953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86300" y="386715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391150" y="3790950"/>
            <a:ext cx="6096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Educación al médico y al paciente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391150" y="40957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 conjuntas para impulsar el escaneo de autenticidad y prospecto digital.</a:t>
            </a:r>
            <a:endParaRPr lang="en-US" sz="1200" dirty="0"/>
          </a:p>
        </p:txBody>
      </p:sp>
      <p:sp>
        <p:nvSpPr>
          <p:cNvPr id="24" name="Tarjeta"/>
          <p:cNvSpPr/>
          <p:nvPr/>
        </p:nvSpPr>
        <p:spPr>
          <a:xfrm>
            <a:off x="4476750" y="4762500"/>
            <a:ext cx="7258050" cy="990600"/>
          </a:xfrm>
          <a:prstGeom prst="roundRect">
            <a:avLst>
              <a:gd name="adj" fmla="val 18462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5" name="Insignia 4"/>
          <p:cNvSpPr/>
          <p:nvPr/>
        </p:nvSpPr>
        <p:spPr>
          <a:xfrm>
            <a:off x="4686300" y="5010150"/>
            <a:ext cx="495300" cy="4953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686300" y="501015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391150" y="4933950"/>
            <a:ext cx="6096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pilotos 2026–2027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391150" y="52387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 las mesas técnicas de trabajo del Comité Salud.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ndas corporativ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Logo GS1 Venezue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0" y="190500"/>
            <a:ext cx="1600200" cy="800100"/>
          </a:xfrm>
          <a:prstGeom prst="rect">
            <a:avLst/>
          </a:prstGeom>
        </p:spPr>
      </p:pic>
      <p:sp>
        <p:nvSpPr>
          <p:cNvPr id="4" name="Título"/>
          <p:cNvSpPr txBox="1"/>
          <p:nvPr/>
        </p:nvSpPr>
        <p:spPr>
          <a:xfrm>
            <a:off x="4953000" y="990600"/>
            <a:ext cx="6858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Únete al </a:t>
            </a:r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Comité Salud GS1</a:t>
            </a:r>
            <a:endParaRPr lang="en-US" sz="3300" dirty="0"/>
          </a:p>
        </p:txBody>
      </p:sp>
      <p:sp>
        <p:nvSpPr>
          <p:cNvPr id="5" name="Text 1"/>
          <p:cNvSpPr txBox="1"/>
          <p:nvPr/>
        </p:nvSpPr>
        <p:spPr>
          <a:xfrm>
            <a:off x="4953000" y="1562100"/>
            <a:ext cx="666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 tu acceso a la plataforma Digital Link.</a:t>
            </a:r>
            <a:endParaRPr lang="en-US" sz="1250" dirty="0"/>
          </a:p>
        </p:txBody>
      </p:sp>
      <p:sp>
        <p:nvSpPr>
          <p:cNvPr id="6" name="Tarjeta"/>
          <p:cNvSpPr/>
          <p:nvPr/>
        </p:nvSpPr>
        <p:spPr>
          <a:xfrm>
            <a:off x="1238250" y="2381250"/>
            <a:ext cx="2857500" cy="28575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7" name="Image 2" descr="Código QR ilustrativ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850" y="2609850"/>
            <a:ext cx="2400300" cy="240030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123950" y="2266950"/>
            <a:ext cx="419100" cy="0"/>
          </a:xfrm>
          <a:prstGeom prst="line">
            <a:avLst/>
          </a:prstGeom>
          <a:noFill/>
          <a:ln w="63500">
            <a:solidFill>
              <a:srgbClr val="002C6C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123950" y="2266950"/>
            <a:ext cx="0" cy="419100"/>
          </a:xfrm>
          <a:prstGeom prst="line">
            <a:avLst/>
          </a:prstGeom>
          <a:noFill/>
          <a:ln w="63500">
            <a:solidFill>
              <a:srgbClr val="002C6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790950" y="2266950"/>
            <a:ext cx="419100" cy="0"/>
          </a:xfrm>
          <a:prstGeom prst="line">
            <a:avLst/>
          </a:prstGeom>
          <a:noFill/>
          <a:ln w="63500">
            <a:solidFill>
              <a:srgbClr val="1CA9C9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4210050" y="2266950"/>
            <a:ext cx="0" cy="419100"/>
          </a:xfrm>
          <a:prstGeom prst="line">
            <a:avLst/>
          </a:prstGeom>
          <a:noFill/>
          <a:ln w="63500">
            <a:solidFill>
              <a:srgbClr val="1CA9C9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1123950" y="5353050"/>
            <a:ext cx="419100" cy="0"/>
          </a:xfrm>
          <a:prstGeom prst="line">
            <a:avLst/>
          </a:prstGeom>
          <a:noFill/>
          <a:ln w="63500">
            <a:solidFill>
              <a:srgbClr val="1CA9C9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23950" y="4933950"/>
            <a:ext cx="0" cy="419100"/>
          </a:xfrm>
          <a:prstGeom prst="line">
            <a:avLst/>
          </a:prstGeom>
          <a:noFill/>
          <a:ln w="63500">
            <a:solidFill>
              <a:srgbClr val="1CA9C9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790950" y="5353050"/>
            <a:ext cx="419100" cy="0"/>
          </a:xfrm>
          <a:prstGeom prst="line">
            <a:avLst/>
          </a:prstGeom>
          <a:noFill/>
          <a:ln w="63500">
            <a:solidFill>
              <a:srgbClr val="002C6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210050" y="4933950"/>
            <a:ext cx="0" cy="419100"/>
          </a:xfrm>
          <a:prstGeom prst="line">
            <a:avLst/>
          </a:prstGeom>
          <a:noFill/>
          <a:ln w="63500">
            <a:solidFill>
              <a:srgbClr val="002C6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238250" y="5562600"/>
            <a:ext cx="2857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· SOLICITA ACCESO</a:t>
            </a:r>
            <a:endParaRPr lang="en-US" sz="900" dirty="0"/>
          </a:p>
        </p:txBody>
      </p:sp>
      <p:sp>
        <p:nvSpPr>
          <p:cNvPr id="17" name="Tarjeta"/>
          <p:cNvSpPr/>
          <p:nvPr/>
        </p:nvSpPr>
        <p:spPr>
          <a:xfrm>
            <a:off x="4953000" y="2038350"/>
            <a:ext cx="6781800" cy="552450"/>
          </a:xfrm>
          <a:prstGeom prst="roundRect">
            <a:avLst>
              <a:gd name="adj" fmla="val 49655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8" name="Image 3" descr="Icono MapP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2209800"/>
            <a:ext cx="209550" cy="20955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86400" y="2038350"/>
            <a:ext cx="6096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GS1 Venezuela. </a:t>
            </a:r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Ruices, Calle Los Laboratorios, Edf. Quorum, Piso 1, Oficina K, Caracas, Venezuela.</a:t>
            </a:r>
            <a:endParaRPr lang="en-US" sz="1150" dirty="0"/>
          </a:p>
        </p:txBody>
      </p:sp>
      <p:sp>
        <p:nvSpPr>
          <p:cNvPr id="20" name="Tarjeta"/>
          <p:cNvSpPr/>
          <p:nvPr/>
        </p:nvSpPr>
        <p:spPr>
          <a:xfrm>
            <a:off x="4953000" y="2724150"/>
            <a:ext cx="6781800" cy="4191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1" name="Image 4" descr="Icono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500" y="2828925"/>
            <a:ext cx="209550" cy="20955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486400" y="27241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+58 414-2771877  /  +58 412-628-3276</a:t>
            </a:r>
            <a:endParaRPr lang="en-US" sz="1100" dirty="0"/>
          </a:p>
        </p:txBody>
      </p:sp>
      <p:sp>
        <p:nvSpPr>
          <p:cNvPr id="23" name="Tarjeta"/>
          <p:cNvSpPr/>
          <p:nvPr/>
        </p:nvSpPr>
        <p:spPr>
          <a:xfrm>
            <a:off x="4953000" y="3276600"/>
            <a:ext cx="6781800" cy="628650"/>
          </a:xfrm>
          <a:prstGeom prst="roundRect">
            <a:avLst>
              <a:gd name="adj" fmla="val 43636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4" name="Image 5" descr="Icono Ma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0" y="3486150"/>
            <a:ext cx="209550" cy="20955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486400" y="32766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Solicituddecodigo@gs1ve.org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Glabrador@gs1ve.org · Acastro@gs1ve.org</a:t>
            </a:r>
            <a:endParaRPr lang="en-US" sz="1100" dirty="0"/>
          </a:p>
        </p:txBody>
      </p:sp>
      <p:sp>
        <p:nvSpPr>
          <p:cNvPr id="26" name="Tarjeta"/>
          <p:cNvSpPr/>
          <p:nvPr/>
        </p:nvSpPr>
        <p:spPr>
          <a:xfrm>
            <a:off x="4953000" y="4038600"/>
            <a:ext cx="6781800" cy="4191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7" name="Image 6" descr="Icono Glob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500" y="4143375"/>
            <a:ext cx="209550" cy="20955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486400" y="40386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www.gs1ve.org  ·  Instagram @GS1Venezuela  ·  RIF J-00336360-0</a:t>
            </a:r>
            <a:endParaRPr lang="en-US" sz="1150" dirty="0"/>
          </a:p>
        </p:txBody>
      </p:sp>
      <p:sp>
        <p:nvSpPr>
          <p:cNvPr id="29" name="Text 20"/>
          <p:cNvSpPr txBox="1"/>
          <p:nvPr/>
        </p:nvSpPr>
        <p:spPr>
          <a:xfrm>
            <a:off x="4953000" y="51435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estándar, </a:t>
            </a:r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decisiones seguras.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S1 Healthcare">
  <a:themeElements>
    <a:clrScheme name="GS1 Healthcare">
      <a:dk1>
        <a:srgbClr val="0B132B"/>
      </a:dk1>
      <a:lt1>
        <a:srgbClr val="FFFFFF"/>
      </a:lt1>
      <a:dk2>
        <a:srgbClr val="002C6C"/>
      </a:dk2>
      <a:lt2>
        <a:srgbClr val="F8FAFC"/>
      </a:lt2>
      <a:accent1>
        <a:srgbClr val="1CA9C9"/>
      </a:accent1>
      <a:accent2>
        <a:srgbClr val="F26334"/>
      </a:accent2>
      <a:accent3>
        <a:srgbClr val="00A79D"/>
      </a:accent3>
      <a:accent4>
        <a:srgbClr val="10B981"/>
      </a:accent4>
      <a:accent5>
        <a:srgbClr val="EF4444"/>
      </a:accent5>
      <a:accent6>
        <a:srgbClr val="0097B2"/>
      </a:accent6>
      <a:hlink>
        <a:srgbClr val="0097B2"/>
      </a:hlink>
      <a:folHlink>
        <a:srgbClr val="002C6C"/>
      </a:folHlink>
    </a:clrScheme>
    <a:fontScheme name="GS1 Healthcar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GS1 Venezuela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COMITÉ Salud GS1</dc:title>
  <dc:subject>PptxGenJS Presentation</dc:subject>
  <dc:creator>GS1 Venezuela</dc:creator>
  <cp:lastModifiedBy>GS1 Venezuela</cp:lastModifiedBy>
  <cp:revision>1</cp:revision>
  <dcterms:created xsi:type="dcterms:W3CDTF">2026-10-29T15:43:10Z</dcterms:created>
  <dcterms:modified xsi:type="dcterms:W3CDTF">2026-10-29T15:43:10Z</dcterms:modified>
</cp:coreProperties>
</file>