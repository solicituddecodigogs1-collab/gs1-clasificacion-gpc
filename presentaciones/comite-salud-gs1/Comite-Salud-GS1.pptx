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41</c:v>
                </c:pt>
                <c:pt idx="1">
                  <c:v>59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80</c:v>
                </c:pt>
                <c:pt idx="1">
                  <c:v>20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Escaneos</c:v>
                </c:pt>
              </c:strCache>
            </c:strRef>
          </c:tx>
          <c:spPr>
            <a:solidFill>
              <a:srgbClr val="1CA9C9">
                <a:alpha val="35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4</c:v>
                  </c:pt>
                  <c:pt idx="2">
                    <c:v>7</c:v>
                  </c:pt>
                  <c:pt idx="3">
                    <c:v>10</c:v>
                  </c:pt>
                  <c:pt idx="4">
                    <c:v>13</c:v>
                  </c:pt>
                  <c:pt idx="5">
                    <c:v>16</c:v>
                  </c:pt>
                  <c:pt idx="6">
                    <c:v>19</c:v>
                  </c:pt>
                  <c:pt idx="7">
                    <c:v>22</c:v>
                  </c:pt>
                  <c:pt idx="8">
                    <c:v>25</c:v>
                  </c:pt>
                  <c:pt idx="9">
                    <c:v>28</c:v>
                  </c:pt>
                  <c:pt idx="10">
                    <c:v>30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820</c:v>
                </c:pt>
                <c:pt idx="1">
                  <c:v>1100</c:v>
                </c:pt>
                <c:pt idx="2">
                  <c:v>980</c:v>
                </c:pt>
                <c:pt idx="3">
                  <c:v>1500</c:v>
                </c:pt>
                <c:pt idx="4">
                  <c:v>1380</c:v>
                </c:pt>
                <c:pt idx="5">
                  <c:v>1900</c:v>
                </c:pt>
                <c:pt idx="6">
                  <c:v>1760</c:v>
                </c:pt>
                <c:pt idx="7">
                  <c:v>2300</c:v>
                </c:pt>
                <c:pt idx="8">
                  <c:v>2150</c:v>
                </c:pt>
                <c:pt idx="9">
                  <c:v>2700</c:v>
                </c:pt>
                <c:pt idx="10">
                  <c:v>2600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Escaneos</c:v>
                </c:pt>
              </c:strCache>
            </c:strRef>
          </c:tx>
          <c:spPr>
            <a:solidFill>
              <a:srgbClr val="002C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Zulia</c:v>
                  </c:pt>
                  <c:pt idx="1">
                    <c:v>Carabobo</c:v>
                  </c:pt>
                  <c:pt idx="2">
                    <c:v>Miranda</c:v>
                  </c:pt>
                  <c:pt idx="3">
                    <c:v>Caracas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31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41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Reemplazar los marcadores de foto (cápsula y círculo) por fotos de atención médica.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GS1_OSCURO-image-3.png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CLAR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S1 Venezu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7000"/>
            <a:ext cx="952500" cy="2667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38500" y="653415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Comité Salud GS1 · 5 Nov 2026 · www.gs1ve.org</a:t>
            </a:r>
            <a:endParaRPr lang="en-US" sz="900" dirty="0"/>
          </a:p>
        </p:txBody>
      </p:sp>
      <p:pic>
        <p:nvPicPr>
          <p:cNvPr id="4" name="Image 1" descr="Onda decorati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0" y="0"/>
            <a:ext cx="1809750" cy="81915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OSCUR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S1 Venezu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7000"/>
            <a:ext cx="952500" cy="2667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38500" y="653415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Comité Salud GS1 · 5 Nov 2026 · www.gs1ve.org</a:t>
            </a:r>
            <a:endParaRPr lang="en-US" sz="900" dirty="0"/>
          </a:p>
        </p:txBody>
      </p:sp>
      <p:pic>
        <p:nvPicPr>
          <p:cNvPr id="4" name="Image 1" descr="Onda decorati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0" y="0"/>
            <a:ext cx="1809750" cy="81915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495300"/>
            <a:ext cx="9525000" cy="723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S1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3" Type="http://schemas.openxmlformats.org/officeDocument/2006/relationships/chart" Target="/ppt/charts/chart2.xml"/><Relationship Id="rId2" Type="http://schemas.openxmlformats.org/officeDocument/2006/relationships/image" Target="../media/image-2-1.png"/><Relationship Id="rId4" Type="http://schemas.openxmlformats.org/officeDocument/2006/relationships/image" Target="../media/image-2-2.png"/><Relationship Id="rId5" Type="http://schemas.openxmlformats.org/officeDocument/2006/relationships/image" Target="../media/image-2-3.png"/><Relationship Id="rId6" Type="http://schemas.openxmlformats.org/officeDocument/2006/relationships/image" Target="../media/image-2-4.png"/><Relationship Id="rId7" Type="http://schemas.openxmlformats.org/officeDocument/2006/relationships/image" Target="../media/image-2-5.png"/><Relationship Id="rId8" Type="http://schemas.openxmlformats.org/officeDocument/2006/relationships/image" Target="../media/image-2-6.png"/><Relationship Id="rId9" Type="http://schemas.openxmlformats.org/officeDocument/2006/relationships/image" Target="../media/image-2-7.png"/><Relationship Id="rId10" Type="http://schemas.openxmlformats.org/officeDocument/2006/relationships/image" Target="../media/image-2-8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image" Target="../media/image-9-1.png"/><Relationship Id="rId4" Type="http://schemas.openxmlformats.org/officeDocument/2006/relationships/image" Target="../media/image-9-2.png"/><Relationship Id="rId5" Type="http://schemas.openxmlformats.org/officeDocument/2006/relationships/image" Target="../media/image-9-3.png"/><Relationship Id="rId6" Type="http://schemas.openxmlformats.org/officeDocument/2006/relationships/image" Target="../media/image-9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das corporativ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go GS1 Venezue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23850"/>
            <a:ext cx="1905000" cy="533400"/>
          </a:xfrm>
          <a:prstGeom prst="rect">
            <a:avLst/>
          </a:prstGeom>
        </p:spPr>
      </p:pic>
      <p:sp>
        <p:nvSpPr>
          <p:cNvPr id="4" name="Título"/>
          <p:cNvSpPr txBox="1"/>
          <p:nvPr/>
        </p:nvSpPr>
        <p:spPr>
          <a:xfrm>
            <a:off x="533400" y="10287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COMITÉ</a:t>
            </a:r>
            <a:endParaRPr lang="en-US" sz="6900" dirty="0"/>
          </a:p>
        </p:txBody>
      </p:sp>
      <p:sp>
        <p:nvSpPr>
          <p:cNvPr id="5" name="Text 1"/>
          <p:cNvSpPr txBox="1"/>
          <p:nvPr/>
        </p:nvSpPr>
        <p:spPr>
          <a:xfrm>
            <a:off x="533400" y="1962150"/>
            <a:ext cx="590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Salud GS1</a:t>
            </a:r>
            <a:endParaRPr lang="en-US" sz="5800" dirty="0"/>
          </a:p>
        </p:txBody>
      </p:sp>
      <p:sp>
        <p:nvSpPr>
          <p:cNvPr id="6" name="Icono BrainCircuit"/>
          <p:cNvSpPr/>
          <p:nvPr/>
        </p:nvSpPr>
        <p:spPr>
          <a:xfrm>
            <a:off x="533400" y="3028950"/>
            <a:ext cx="342900" cy="3429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7" name="Image 2" descr="Icono BrainCircui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96" y="3111246"/>
            <a:ext cx="178308" cy="1783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90600" y="30099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Rastreo Inteligente: IA Aplicada a la Trazabilidad Médica.</a:t>
            </a:r>
            <a:endParaRPr lang="en-US" sz="1200" dirty="0"/>
          </a:p>
        </p:txBody>
      </p:sp>
      <p:sp>
        <p:nvSpPr>
          <p:cNvPr id="9" name="Icono ShieldPlus"/>
          <p:cNvSpPr/>
          <p:nvPr/>
        </p:nvSpPr>
        <p:spPr>
          <a:xfrm>
            <a:off x="533400" y="3524250"/>
            <a:ext cx="342900" cy="3429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10" name="Image 3" descr="Icono ShieldPl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96" y="3606546"/>
            <a:ext cx="178308" cy="17830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90600" y="35052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Seguridad del paciente, eficiencia de la cadena de suministro y trazabilidad de medicamentos.</a:t>
            </a:r>
            <a:endParaRPr lang="en-US" sz="1200" dirty="0"/>
          </a:p>
        </p:txBody>
      </p:sp>
      <p:sp>
        <p:nvSpPr>
          <p:cNvPr id="12" name="Icono Globe"/>
          <p:cNvSpPr/>
          <p:nvPr/>
        </p:nvSpPr>
        <p:spPr>
          <a:xfrm>
            <a:off x="533400" y="4019550"/>
            <a:ext cx="342900" cy="3429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13" name="Image 4" descr="Icono Glo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96" y="4101846"/>
            <a:ext cx="178308" cy="17830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990600" y="40005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Casos de Éxito Internacionales y Contexto Venezolano.</a:t>
            </a:r>
            <a:endParaRPr lang="en-US" sz="1200" dirty="0"/>
          </a:p>
        </p:txBody>
      </p:sp>
      <p:sp>
        <p:nvSpPr>
          <p:cNvPr id="15" name="Icono MessagesSquare"/>
          <p:cNvSpPr/>
          <p:nvPr/>
        </p:nvSpPr>
        <p:spPr>
          <a:xfrm>
            <a:off x="533400" y="4514850"/>
            <a:ext cx="342900" cy="3429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16" name="Image 5" descr="Icono MessagesSqua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696" y="4597146"/>
            <a:ext cx="178308" cy="17830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90600" y="44958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4. </a:t>
            </a:r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GS1 News &amp; Ronda Abierta.</a:t>
            </a:r>
            <a:endParaRPr lang="en-US" sz="1200" dirty="0"/>
          </a:p>
        </p:txBody>
      </p:sp>
      <p:sp>
        <p:nvSpPr>
          <p:cNvPr id="18" name="Tarjeta"/>
          <p:cNvSpPr/>
          <p:nvPr/>
        </p:nvSpPr>
        <p:spPr>
          <a:xfrm>
            <a:off x="533400" y="5467350"/>
            <a:ext cx="6381750" cy="1066800"/>
          </a:xfrm>
          <a:prstGeom prst="roundRect">
            <a:avLst>
              <a:gd name="adj" fmla="val 25714"/>
            </a:avLst>
          </a:prstGeom>
          <a:solidFill>
            <a:schemeClr val="accent1"/>
          </a:solidFill>
          <a:ln w="9525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9" name="Image 6" descr="Icono CalendarDay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5619750"/>
            <a:ext cx="209550" cy="20955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47750" y="560070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Noviembre, 2026</a:t>
            </a:r>
            <a:endParaRPr lang="en-US" sz="1600" dirty="0"/>
          </a:p>
        </p:txBody>
      </p:sp>
      <p:pic>
        <p:nvPicPr>
          <p:cNvPr id="21" name="Image 7" descr="Icono Clo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5981700"/>
            <a:ext cx="171450" cy="17145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47750" y="596265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8:30 am – 10:00 am</a:t>
            </a:r>
            <a:endParaRPr lang="en-US" sz="1200" dirty="0"/>
          </a:p>
        </p:txBody>
      </p:sp>
      <p:sp>
        <p:nvSpPr>
          <p:cNvPr id="23" name="Shape 13"/>
          <p:cNvSpPr/>
          <p:nvPr/>
        </p:nvSpPr>
        <p:spPr>
          <a:xfrm>
            <a:off x="3143250" y="5638800"/>
            <a:ext cx="0" cy="723900"/>
          </a:xfrm>
          <a:prstGeom prst="line">
            <a:avLst/>
          </a:prstGeom>
          <a:noFill/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pic>
        <p:nvPicPr>
          <p:cNvPr id="24" name="Image 8" descr="Icono MapPi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3750" y="5657850"/>
            <a:ext cx="209550" cy="20955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3619500" y="5619750"/>
            <a:ext cx="31432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Oficina GS1 Venezuela.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Los Ruices, Calle Los Laboratorios, Edf. Quorum, Piso 1, Oficina K (Caracas).</a:t>
            </a:r>
            <a:endParaRPr lang="en-US" sz="1100" dirty="0"/>
          </a:p>
        </p:txBody>
      </p:sp>
      <p:sp>
        <p:nvSpPr>
          <p:cNvPr id="26" name="FOTO (reemplazar): atención médica"/>
          <p:cNvSpPr/>
          <p:nvPr/>
        </p:nvSpPr>
        <p:spPr>
          <a:xfrm rot="360000">
            <a:off x="8096250" y="1428750"/>
            <a:ext cx="2476500" cy="4000500"/>
          </a:xfrm>
          <a:prstGeom prst="roundRect">
            <a:avLst>
              <a:gd name="adj" fmla="val 12923"/>
            </a:avLst>
          </a:prstGeom>
          <a:solidFill>
            <a:schemeClr val="accent6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7" name="Image 9" descr="Icono 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3965" y="2958465"/>
            <a:ext cx="941070" cy="941070"/>
          </a:xfrm>
          <a:prstGeom prst="rect">
            <a:avLst/>
          </a:prstGeom>
        </p:spPr>
      </p:pic>
      <p:sp>
        <p:nvSpPr>
          <p:cNvPr id="28" name="Etiqueta foto"/>
          <p:cNvSpPr txBox="1"/>
          <p:nvPr/>
        </p:nvSpPr>
        <p:spPr>
          <a:xfrm>
            <a:off x="8172450" y="5181600"/>
            <a:ext cx="23241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atención médica</a:t>
            </a:r>
            <a:endParaRPr lang="en-US" sz="800" dirty="0"/>
          </a:p>
        </p:txBody>
      </p:sp>
      <p:sp>
        <p:nvSpPr>
          <p:cNvPr id="29" name="FOTO (reemplazar): médico"/>
          <p:cNvSpPr/>
          <p:nvPr/>
        </p:nvSpPr>
        <p:spPr>
          <a:xfrm>
            <a:off x="7048500" y="3028950"/>
            <a:ext cx="2190750" cy="2190750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30" name="Image 10" descr="Icono Us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27633" y="3708083"/>
            <a:ext cx="832485" cy="832485"/>
          </a:xfrm>
          <a:prstGeom prst="rect">
            <a:avLst/>
          </a:prstGeom>
        </p:spPr>
      </p:pic>
      <p:sp>
        <p:nvSpPr>
          <p:cNvPr id="31" name="Etiqueta foto"/>
          <p:cNvSpPr txBox="1"/>
          <p:nvPr/>
        </p:nvSpPr>
        <p:spPr>
          <a:xfrm>
            <a:off x="7124700" y="4972050"/>
            <a:ext cx="2038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médico</a:t>
            </a:r>
            <a:endParaRPr lang="en-US" sz="800" dirty="0"/>
          </a:p>
        </p:txBody>
      </p:sp>
      <p:sp>
        <p:nvSpPr>
          <p:cNvPr id="32" name="Círculo"/>
          <p:cNvSpPr/>
          <p:nvPr/>
        </p:nvSpPr>
        <p:spPr>
          <a:xfrm>
            <a:off x="8905875" y="2714625"/>
            <a:ext cx="552450" cy="552450"/>
          </a:xfrm>
          <a:prstGeom prst="ellipse">
            <a:avLst/>
          </a:prstGeom>
          <a:solidFill>
            <a:schemeClr val="bg1"/>
          </a:solidFill>
          <a:ln w="38100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3" name="Text 20"/>
          <p:cNvSpPr txBox="1"/>
          <p:nvPr/>
        </p:nvSpPr>
        <p:spPr>
          <a:xfrm>
            <a:off x="8905875" y="2714625"/>
            <a:ext cx="552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</a:t>
            </a:r>
            <a:endParaRPr lang="en-US" sz="3400" dirty="0"/>
          </a:p>
        </p:txBody>
      </p:sp>
      <p:sp>
        <p:nvSpPr>
          <p:cNvPr id="34" name="Icono ShieldCheck"/>
          <p:cNvSpPr/>
          <p:nvPr/>
        </p:nvSpPr>
        <p:spPr>
          <a:xfrm>
            <a:off x="10382250" y="123825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Image 11" descr="Icono ShieldChec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91978" y="1347978"/>
            <a:ext cx="237744" cy="237744"/>
          </a:xfrm>
          <a:prstGeom prst="rect">
            <a:avLst/>
          </a:prstGeom>
        </p:spPr>
      </p:pic>
      <p:pic>
        <p:nvPicPr>
          <p:cNvPr id="36" name="Image 12" descr="Icono Phon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20250" y="6324600"/>
            <a:ext cx="152400" cy="152400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9829800" y="630555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+58 414 2771877</a:t>
            </a:r>
            <a:endParaRPr lang="en-US" sz="1100" dirty="0"/>
          </a:p>
        </p:txBody>
      </p:sp>
      <p:pic>
        <p:nvPicPr>
          <p:cNvPr id="38" name="Image 13" descr="Icono Glob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20250" y="6553200"/>
            <a:ext cx="152400" cy="152400"/>
          </a:xfrm>
          <a:prstGeom prst="rect">
            <a:avLst/>
          </a:prstGeom>
        </p:spPr>
      </p:pic>
      <p:sp>
        <p:nvSpPr>
          <p:cNvPr id="39" name="Text 23"/>
          <p:cNvSpPr txBox="1"/>
          <p:nvPr/>
        </p:nvSpPr>
        <p:spPr>
          <a:xfrm>
            <a:off x="9829800" y="653415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www.gs1ve.org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EL ECOSISTEMA DE SALUD EN VENEZUELA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Nuevo Paciente</a:t>
            </a:r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venezolano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428750"/>
            <a:ext cx="2857500" cy="2333625"/>
          </a:xfrm>
          <a:prstGeom prst="roundRect">
            <a:avLst>
              <a:gd name="adj" fmla="val 783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09600" y="1581150"/>
          <a:ext cx="914400" cy="914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Icono 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450" y="1809750"/>
            <a:ext cx="381000" cy="381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590800"/>
            <a:ext cx="238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41%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257550"/>
            <a:ext cx="2400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No escanea códigos QR estáticos sin valor agregado.</a:t>
            </a:r>
            <a:endParaRPr lang="en-US" sz="1100" dirty="0"/>
          </a:p>
        </p:txBody>
      </p:sp>
      <p:sp>
        <p:nvSpPr>
          <p:cNvPr id="9" name="Tarjeta"/>
          <p:cNvSpPr/>
          <p:nvPr/>
        </p:nvSpPr>
        <p:spPr>
          <a:xfrm>
            <a:off x="3543300" y="1428750"/>
            <a:ext cx="2857500" cy="2333625"/>
          </a:xfrm>
          <a:prstGeom prst="roundRect">
            <a:avLst>
              <a:gd name="adj" fmla="val 783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graphicFrame>
        <p:nvGraphicFramePr>
          <p:cNvPr id="10" name="Chart 1" descr=""/>
          <p:cNvGraphicFramePr/>
          <p:nvPr/>
        </p:nvGraphicFramePr>
        <p:xfrm>
          <a:off x="3695700" y="1581150"/>
          <a:ext cx="914400" cy="914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Image 1" descr="Icono Badg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1809750"/>
            <a:ext cx="381000" cy="3810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771900" y="2590800"/>
            <a:ext cx="238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80%</a:t>
            </a:r>
            <a:endParaRPr lang="en-US" sz="4800" dirty="0"/>
          </a:p>
        </p:txBody>
      </p:sp>
      <p:sp>
        <p:nvSpPr>
          <p:cNvPr id="13" name="Text 7"/>
          <p:cNvSpPr txBox="1"/>
          <p:nvPr/>
        </p:nvSpPr>
        <p:spPr>
          <a:xfrm>
            <a:off x="3771900" y="3257550"/>
            <a:ext cx="2400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Escanearía para verificar origen, registro sanitario y autenticidad.</a:t>
            </a:r>
            <a:endParaRPr lang="en-US" sz="1100" dirty="0"/>
          </a:p>
        </p:txBody>
      </p:sp>
      <p:sp>
        <p:nvSpPr>
          <p:cNvPr id="14" name="FOTO (reemplazar): farmacia"/>
          <p:cNvSpPr/>
          <p:nvPr/>
        </p:nvSpPr>
        <p:spPr>
          <a:xfrm rot="-300000">
            <a:off x="6858000" y="1333500"/>
            <a:ext cx="2190750" cy="2571750"/>
          </a:xfrm>
          <a:prstGeom prst="roundRect">
            <a:avLst>
              <a:gd name="adj" fmla="val 14609"/>
            </a:avLst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5" name="Image 2" descr="Icono Pi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133" y="2203133"/>
            <a:ext cx="832485" cy="832485"/>
          </a:xfrm>
          <a:prstGeom prst="rect">
            <a:avLst/>
          </a:prstGeom>
        </p:spPr>
      </p:pic>
      <p:sp>
        <p:nvSpPr>
          <p:cNvPr id="16" name="Etiqueta foto"/>
          <p:cNvSpPr txBox="1"/>
          <p:nvPr/>
        </p:nvSpPr>
        <p:spPr>
          <a:xfrm>
            <a:off x="6934200" y="3657600"/>
            <a:ext cx="2038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farmacia</a:t>
            </a:r>
            <a:endParaRPr lang="en-US" sz="800" dirty="0"/>
          </a:p>
        </p:txBody>
      </p:sp>
      <p:sp>
        <p:nvSpPr>
          <p:cNvPr id="17" name="FOTO (reemplazar): escaneo"/>
          <p:cNvSpPr/>
          <p:nvPr/>
        </p:nvSpPr>
        <p:spPr>
          <a:xfrm>
            <a:off x="8572500" y="2047875"/>
            <a:ext cx="1905000" cy="1905000"/>
          </a:xfrm>
          <a:prstGeom prst="ellipse">
            <a:avLst/>
          </a:prstGeom>
          <a:solidFill>
            <a:schemeClr val="accent6"/>
          </a:solidFill>
          <a:ln w="635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8" name="Image 3" descr="Icono Smartpho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3050" y="2638425"/>
            <a:ext cx="723900" cy="723900"/>
          </a:xfrm>
          <a:prstGeom prst="rect">
            <a:avLst/>
          </a:prstGeom>
        </p:spPr>
      </p:pic>
      <p:sp>
        <p:nvSpPr>
          <p:cNvPr id="19" name="Etiqueta foto"/>
          <p:cNvSpPr txBox="1"/>
          <p:nvPr/>
        </p:nvSpPr>
        <p:spPr>
          <a:xfrm>
            <a:off x="8648700" y="3705225"/>
            <a:ext cx="1752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escaneo</a:t>
            </a:r>
            <a:endParaRPr lang="en-US" sz="800" dirty="0"/>
          </a:p>
        </p:txBody>
      </p:sp>
      <p:sp>
        <p:nvSpPr>
          <p:cNvPr id="20" name="Icono ScanLine"/>
          <p:cNvSpPr/>
          <p:nvPr/>
        </p:nvSpPr>
        <p:spPr>
          <a:xfrm>
            <a:off x="10239375" y="1619250"/>
            <a:ext cx="533400" cy="533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4" descr="Icono ScanL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7391" y="1747266"/>
            <a:ext cx="277368" cy="277368"/>
          </a:xfrm>
          <a:prstGeom prst="rect">
            <a:avLst/>
          </a:prstGeom>
        </p:spPr>
      </p:pic>
      <p:sp>
        <p:nvSpPr>
          <p:cNvPr id="22" name="Tarjeta"/>
          <p:cNvSpPr/>
          <p:nvPr/>
        </p:nvSpPr>
        <p:spPr>
          <a:xfrm>
            <a:off x="457200" y="4191000"/>
            <a:ext cx="3600450" cy="1428750"/>
          </a:xfrm>
          <a:prstGeom prst="roundRect">
            <a:avLst>
              <a:gd name="adj" fmla="val 128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3" name="Icono FileText"/>
          <p:cNvSpPr/>
          <p:nvPr/>
        </p:nvSpPr>
        <p:spPr>
          <a:xfrm>
            <a:off x="628650" y="4362450"/>
            <a:ext cx="495300" cy="495300"/>
          </a:xfrm>
          <a:prstGeom prst="ellipse">
            <a:avLst/>
          </a:prstGeom>
          <a:solidFill>
            <a:srgbClr val="002C6C"/>
          </a:solidFill>
          <a:ln/>
        </p:spPr>
      </p:sp>
      <p:pic>
        <p:nvPicPr>
          <p:cNvPr id="24" name="Image 5" descr="Icono FileTex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522" y="4481322"/>
            <a:ext cx="257556" cy="257556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257300" y="436245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· Información</a:t>
            </a:r>
            <a:endParaRPr lang="en-US" sz="1400" dirty="0"/>
          </a:p>
        </p:txBody>
      </p:sp>
      <p:sp>
        <p:nvSpPr>
          <p:cNvPr id="26" name="Text 16"/>
          <p:cNvSpPr txBox="1"/>
          <p:nvPr/>
        </p:nvSpPr>
        <p:spPr>
          <a:xfrm>
            <a:off x="1257300" y="46291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Posología, alertas de farmacovigilancia y prospecto digital (e-PIL) al instante.</a:t>
            </a:r>
            <a:endParaRPr lang="en-US" sz="1100" dirty="0"/>
          </a:p>
        </p:txBody>
      </p:sp>
      <p:sp>
        <p:nvSpPr>
          <p:cNvPr id="27" name="Tarjeta"/>
          <p:cNvSpPr/>
          <p:nvPr/>
        </p:nvSpPr>
        <p:spPr>
          <a:xfrm>
            <a:off x="4286250" y="4191000"/>
            <a:ext cx="3600450" cy="1428750"/>
          </a:xfrm>
          <a:prstGeom prst="roundRect">
            <a:avLst>
              <a:gd name="adj" fmla="val 128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8" name="Icono ShieldCheck"/>
          <p:cNvSpPr/>
          <p:nvPr/>
        </p:nvSpPr>
        <p:spPr>
          <a:xfrm>
            <a:off x="4457700" y="4362450"/>
            <a:ext cx="495300" cy="4953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29" name="Image 6" descr="Icono ShieldChe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6572" y="4481322"/>
            <a:ext cx="257556" cy="257556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5086350" y="436245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· Confianza</a:t>
            </a:r>
            <a:endParaRPr lang="en-US" sz="1400" dirty="0"/>
          </a:p>
        </p:txBody>
      </p:sp>
      <p:sp>
        <p:nvSpPr>
          <p:cNvPr id="31" name="Text 20"/>
          <p:cNvSpPr txBox="1"/>
          <p:nvPr/>
        </p:nvSpPr>
        <p:spPr>
          <a:xfrm>
            <a:off x="5086350" y="46291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Validación frente a medicamentos ilícitos, contrabando o sin registro sanitario (SACS / INHRR).</a:t>
            </a:r>
            <a:endParaRPr lang="en-US" sz="1100" dirty="0"/>
          </a:p>
        </p:txBody>
      </p:sp>
      <p:sp>
        <p:nvSpPr>
          <p:cNvPr id="32" name="Tarjeta"/>
          <p:cNvSpPr/>
          <p:nvPr/>
        </p:nvSpPr>
        <p:spPr>
          <a:xfrm>
            <a:off x="8115300" y="4191000"/>
            <a:ext cx="3600450" cy="1428750"/>
          </a:xfrm>
          <a:prstGeom prst="roundRect">
            <a:avLst>
              <a:gd name="adj" fmla="val 128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3" name="Icono Network"/>
          <p:cNvSpPr/>
          <p:nvPr/>
        </p:nvSpPr>
        <p:spPr>
          <a:xfrm>
            <a:off x="8286750" y="4362450"/>
            <a:ext cx="495300" cy="4953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34" name="Image 7" descr="Icono Networ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5622" y="4481322"/>
            <a:ext cx="257556" cy="257556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8915400" y="436245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· Experiencia</a:t>
            </a:r>
            <a:endParaRPr lang="en-US" sz="1400" dirty="0"/>
          </a:p>
        </p:txBody>
      </p:sp>
      <p:sp>
        <p:nvSpPr>
          <p:cNvPr id="36" name="Text 24"/>
          <p:cNvSpPr txBox="1"/>
          <p:nvPr/>
        </p:nvSpPr>
        <p:spPr>
          <a:xfrm>
            <a:off x="8915400" y="46291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Conexión directa: laboratorio, droguería, farmacia, clínica y paciente.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1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52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Rastreo Inteligente: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IA aplicada a la trazabilidad médica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19200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BD5E1"/>
                </a:solidFill>
              </a:rPr>
              <a:t>Los algoritmos de IA son tan buenos como la calidad de los datos estándar que los alimentan.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764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IA + GS1 · GTIN + GLN + EPCIS 2.0</a:t>
            </a:r>
            <a:endParaRPr lang="en-US" sz="900" dirty="0"/>
          </a:p>
        </p:txBody>
      </p:sp>
      <p:sp>
        <p:nvSpPr>
          <p:cNvPr id="6" name="Tarjeta oscura"/>
          <p:cNvSpPr/>
          <p:nvPr/>
        </p:nvSpPr>
        <p:spPr>
          <a:xfrm>
            <a:off x="457200" y="1924050"/>
            <a:ext cx="5715000" cy="1085850"/>
          </a:xfrm>
          <a:prstGeom prst="roundRect">
            <a:avLst>
              <a:gd name="adj" fmla="val 15158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Icono ChartLine"/>
          <p:cNvSpPr/>
          <p:nvPr/>
        </p:nvSpPr>
        <p:spPr>
          <a:xfrm>
            <a:off x="628650" y="2114550"/>
            <a:ext cx="457200" cy="457200"/>
          </a:xfrm>
          <a:prstGeom prst="ellipse">
            <a:avLst/>
          </a:prstGeom>
          <a:solidFill>
            <a:srgbClr val="1CA9C9"/>
          </a:solidFill>
          <a:ln/>
        </p:spPr>
      </p:sp>
      <p:pic>
        <p:nvPicPr>
          <p:cNvPr id="8" name="Image 0" descr="Icono 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378" y="222427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8250" y="2076450"/>
            <a:ext cx="476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Modelos predictivos de demanda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38250" y="2343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Anticipan la escasez de insumos críticos y reactivos en clínicas y hospitales venezolanos.</a:t>
            </a:r>
            <a:endParaRPr lang="en-US" sz="1100" dirty="0"/>
          </a:p>
        </p:txBody>
      </p:sp>
      <p:sp>
        <p:nvSpPr>
          <p:cNvPr id="11" name="Tarjeta oscura"/>
          <p:cNvSpPr/>
          <p:nvPr/>
        </p:nvSpPr>
        <p:spPr>
          <a:xfrm>
            <a:off x="457200" y="3162300"/>
            <a:ext cx="5715000" cy="1085850"/>
          </a:xfrm>
          <a:prstGeom prst="roundRect">
            <a:avLst>
              <a:gd name="adj" fmla="val 15158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2" name="Icono ScanEye"/>
          <p:cNvSpPr/>
          <p:nvPr/>
        </p:nvSpPr>
        <p:spPr>
          <a:xfrm>
            <a:off x="628650" y="3352800"/>
            <a:ext cx="457200" cy="457200"/>
          </a:xfrm>
          <a:prstGeom prst="ellipse">
            <a:avLst/>
          </a:prstGeom>
          <a:solidFill>
            <a:srgbClr val="F26334"/>
          </a:solidFill>
          <a:ln/>
        </p:spPr>
      </p:sp>
      <p:pic>
        <p:nvPicPr>
          <p:cNvPr id="13" name="Image 1" descr="Icono Scan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" y="346252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8250" y="3314700"/>
            <a:ext cx="476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Visión artificial en líneas de empaque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238250" y="35814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Verificación a alta velocidad de GS1 DataMatrix y QR GS1 Digital Link.</a:t>
            </a:r>
            <a:endParaRPr lang="en-US" sz="1100" dirty="0"/>
          </a:p>
        </p:txBody>
      </p:sp>
      <p:sp>
        <p:nvSpPr>
          <p:cNvPr id="16" name="Tarjeta oscura"/>
          <p:cNvSpPr/>
          <p:nvPr/>
        </p:nvSpPr>
        <p:spPr>
          <a:xfrm>
            <a:off x="457200" y="4400550"/>
            <a:ext cx="5715000" cy="1085850"/>
          </a:xfrm>
          <a:prstGeom prst="roundRect">
            <a:avLst>
              <a:gd name="adj" fmla="val 15158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7" name="Icono Snowflake"/>
          <p:cNvSpPr/>
          <p:nvPr/>
        </p:nvSpPr>
        <p:spPr>
          <a:xfrm>
            <a:off x="628650" y="4591050"/>
            <a:ext cx="457200" cy="457200"/>
          </a:xfrm>
          <a:prstGeom prst="ellipse">
            <a:avLst/>
          </a:prstGeom>
          <a:solidFill>
            <a:srgbClr val="00A79D"/>
          </a:solidFill>
          <a:ln/>
        </p:spPr>
      </p:sp>
      <p:pic>
        <p:nvPicPr>
          <p:cNvPr id="18" name="Image 2" descr="Icono Snowfl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378" y="470077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38250" y="4552950"/>
            <a:ext cx="476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Detección de anomalías con Machine Learning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238250" y="48196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Alerta temprana de desvíos a canales irregulares y rupturas de cadena de frío (insulinas, vacunas, biológicos).</a:t>
            </a:r>
            <a:endParaRPr lang="en-US" sz="1100" dirty="0"/>
          </a:p>
        </p:txBody>
      </p:sp>
      <p:sp>
        <p:nvSpPr>
          <p:cNvPr id="21" name="FOTO (reemplazar): cadena de suministro"/>
          <p:cNvSpPr/>
          <p:nvPr/>
        </p:nvSpPr>
        <p:spPr>
          <a:xfrm>
            <a:off x="6667500" y="1857375"/>
            <a:ext cx="2047875" cy="2047875"/>
          </a:xfrm>
          <a:prstGeom prst="roundRect">
            <a:avLst>
              <a:gd name="adj" fmla="val 15628"/>
            </a:avLst>
          </a:prstGeom>
          <a:solidFill>
            <a:schemeClr val="accent6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2" name="Image 3" descr="Icono Ware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341" y="2492216"/>
            <a:ext cx="778193" cy="778193"/>
          </a:xfrm>
          <a:prstGeom prst="rect">
            <a:avLst/>
          </a:prstGeom>
        </p:spPr>
      </p:pic>
      <p:sp>
        <p:nvSpPr>
          <p:cNvPr id="23" name="Etiqueta foto"/>
          <p:cNvSpPr txBox="1"/>
          <p:nvPr/>
        </p:nvSpPr>
        <p:spPr>
          <a:xfrm>
            <a:off x="6743700" y="3657600"/>
            <a:ext cx="18954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cadena de suministro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 flipV="1">
            <a:off x="9191625" y="2047875"/>
            <a:ext cx="762000" cy="1905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91625" y="2238375"/>
            <a:ext cx="762000" cy="3810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 flipV="1">
            <a:off x="9191625" y="2047875"/>
            <a:ext cx="762000" cy="8572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 flipV="1">
            <a:off x="9191625" y="2619375"/>
            <a:ext cx="76200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191625" y="2905125"/>
            <a:ext cx="76200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 flipV="1">
            <a:off x="9191625" y="2619375"/>
            <a:ext cx="762000" cy="9525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 flipV="1">
            <a:off x="9191625" y="3190875"/>
            <a:ext cx="762000" cy="3810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9953625" y="2047875"/>
            <a:ext cx="85725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 flipV="1">
            <a:off x="9953625" y="2333625"/>
            <a:ext cx="85725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953625" y="2619375"/>
            <a:ext cx="85725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 flipV="1">
            <a:off x="9953625" y="2905125"/>
            <a:ext cx="857250" cy="28575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9953625" y="3190875"/>
            <a:ext cx="857250" cy="333375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10810875" y="2333625"/>
            <a:ext cx="714375" cy="333375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 flipV="1">
            <a:off x="10810875" y="2667000"/>
            <a:ext cx="714375" cy="238125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10810875" y="2905125"/>
            <a:ext cx="714375" cy="381000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 flipV="1">
            <a:off x="10810875" y="3286125"/>
            <a:ext cx="714375" cy="238125"/>
          </a:xfrm>
          <a:prstGeom prst="line">
            <a:avLst/>
          </a:prstGeom>
          <a:noFill/>
          <a:ln w="12700">
            <a:solidFill>
              <a:srgbClr val="1CA9C9">
                <a:alpha val="60000"/>
              </a:srgbClr>
            </a:solidFill>
            <a:prstDash val="solid"/>
          </a:ln>
        </p:spPr>
      </p:sp>
      <p:sp>
        <p:nvSpPr>
          <p:cNvPr id="40" name="Nodo"/>
          <p:cNvSpPr/>
          <p:nvPr/>
        </p:nvSpPr>
        <p:spPr>
          <a:xfrm>
            <a:off x="9105900" y="21526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1" name="Nodo"/>
          <p:cNvSpPr/>
          <p:nvPr/>
        </p:nvSpPr>
        <p:spPr>
          <a:xfrm>
            <a:off x="9105900" y="281940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2" name="Nodo"/>
          <p:cNvSpPr/>
          <p:nvPr/>
        </p:nvSpPr>
        <p:spPr>
          <a:xfrm>
            <a:off x="9105900" y="34861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3" name="Nodo"/>
          <p:cNvSpPr/>
          <p:nvPr/>
        </p:nvSpPr>
        <p:spPr>
          <a:xfrm>
            <a:off x="9867900" y="19621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4" name="Nodo"/>
          <p:cNvSpPr/>
          <p:nvPr/>
        </p:nvSpPr>
        <p:spPr>
          <a:xfrm>
            <a:off x="9867900" y="25336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5" name="Nodo"/>
          <p:cNvSpPr/>
          <p:nvPr/>
        </p:nvSpPr>
        <p:spPr>
          <a:xfrm>
            <a:off x="9867900" y="310515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6" name="Nodo"/>
          <p:cNvSpPr/>
          <p:nvPr/>
        </p:nvSpPr>
        <p:spPr>
          <a:xfrm>
            <a:off x="10725150" y="224790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7" name="Nodo"/>
          <p:cNvSpPr/>
          <p:nvPr/>
        </p:nvSpPr>
        <p:spPr>
          <a:xfrm>
            <a:off x="10725150" y="2819400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8" name="Nodo"/>
          <p:cNvSpPr/>
          <p:nvPr/>
        </p:nvSpPr>
        <p:spPr>
          <a:xfrm>
            <a:off x="10725150" y="3438525"/>
            <a:ext cx="171450" cy="171450"/>
          </a:xfrm>
          <a:prstGeom prst="ellipse">
            <a:avLst/>
          </a:prstGeom>
          <a:solidFill>
            <a:srgbClr val="0B132B"/>
          </a:solidFill>
          <a:ln w="19050">
            <a:solidFill>
              <a:srgbClr val="1CA9C9"/>
            </a:solidFill>
            <a:prstDash val="solid"/>
          </a:ln>
        </p:spPr>
      </p:sp>
      <p:sp>
        <p:nvSpPr>
          <p:cNvPr id="49" name="Nodo salida"/>
          <p:cNvSpPr/>
          <p:nvPr/>
        </p:nvSpPr>
        <p:spPr>
          <a:xfrm>
            <a:off x="11401425" y="2543175"/>
            <a:ext cx="247650" cy="24765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0" name="Nodo salida"/>
          <p:cNvSpPr/>
          <p:nvPr/>
        </p:nvSpPr>
        <p:spPr>
          <a:xfrm>
            <a:off x="11401425" y="3162300"/>
            <a:ext cx="247650" cy="24765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1" name="Text 45"/>
          <p:cNvSpPr txBox="1"/>
          <p:nvPr/>
        </p:nvSpPr>
        <p:spPr>
          <a:xfrm>
            <a:off x="8905875" y="1819275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</a:t>
            </a:r>
            <a:endParaRPr lang="en-US" sz="800" dirty="0"/>
          </a:p>
        </p:txBody>
      </p:sp>
      <p:sp>
        <p:nvSpPr>
          <p:cNvPr id="52" name="Text 46"/>
          <p:cNvSpPr txBox="1"/>
          <p:nvPr/>
        </p:nvSpPr>
        <p:spPr>
          <a:xfrm>
            <a:off x="8905875" y="3724275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GLN</a:t>
            </a:r>
            <a:endParaRPr lang="en-US" sz="800" dirty="0"/>
          </a:p>
        </p:txBody>
      </p:sp>
      <p:sp>
        <p:nvSpPr>
          <p:cNvPr id="53" name="Text 47"/>
          <p:cNvSpPr txBox="1"/>
          <p:nvPr/>
        </p:nvSpPr>
        <p:spPr>
          <a:xfrm>
            <a:off x="10029825" y="3724275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EPCIS</a:t>
            </a:r>
            <a:endParaRPr lang="en-US" sz="800" dirty="0"/>
          </a:p>
        </p:txBody>
      </p:sp>
      <p:sp>
        <p:nvSpPr>
          <p:cNvPr id="54" name="Tarjeta oscura"/>
          <p:cNvSpPr/>
          <p:nvPr/>
        </p:nvSpPr>
        <p:spPr>
          <a:xfrm>
            <a:off x="6667500" y="4143375"/>
            <a:ext cx="5067300" cy="1809750"/>
          </a:xfrm>
          <a:prstGeom prst="roundRect">
            <a:avLst>
              <a:gd name="adj" fmla="val 9095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6877050" y="4305300"/>
            <a:ext cx="381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IMPACTO DIRECTO EN VENEZUELA</a:t>
            </a:r>
            <a:endParaRPr lang="en-US" sz="900" dirty="0"/>
          </a:p>
        </p:txBody>
      </p:sp>
      <p:pic>
        <p:nvPicPr>
          <p:cNvPr id="56" name="Image 4" descr="Icono 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7050" y="4629150"/>
            <a:ext cx="209550" cy="209550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7200900" y="4610100"/>
            <a:ext cx="4286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Optimización de rutas logísticas entre laboratorios nacionales, droguerías y farmacias en todo el país.</a:t>
            </a:r>
            <a:endParaRPr lang="en-US" sz="1150" dirty="0"/>
          </a:p>
        </p:txBody>
      </p:sp>
      <p:pic>
        <p:nvPicPr>
          <p:cNvPr id="58" name="Image 5" descr="Icono Hourgla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050" y="5219700"/>
            <a:ext cx="209550" cy="209550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7200900" y="5200650"/>
            <a:ext cx="4286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Gestión de vencimientos </a:t>
            </a:r>
            <a:pPr algn="l"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FEFO</a:t>
            </a:r>
            <a:pPr algn="l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 (First Expired, First Out): menos mermas financieras por caducidad.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AGENDA · PUNTO 2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Seguridad del paciente: los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Correctos</a:t>
            </a:r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(BCMA)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668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Escaneo a pie de cama — Bedside Barcode Medication Administration</a:t>
            </a:r>
            <a:endParaRPr lang="en-US" sz="1100" dirty="0"/>
          </a:p>
        </p:txBody>
      </p:sp>
      <p:sp>
        <p:nvSpPr>
          <p:cNvPr id="5" name="FOTO (reemplazar): enfermera escaneando brazalete"/>
          <p:cNvSpPr/>
          <p:nvPr/>
        </p:nvSpPr>
        <p:spPr>
          <a:xfrm rot="-240000">
            <a:off x="571500" y="1524000"/>
            <a:ext cx="2381250" cy="3810000"/>
          </a:xfrm>
          <a:prstGeom prst="roundRect">
            <a:avLst>
              <a:gd name="adj" fmla="val 13440"/>
            </a:avLst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6" name="Image 0" descr="Icono Heart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9688" y="2976563"/>
            <a:ext cx="904875" cy="904875"/>
          </a:xfrm>
          <a:prstGeom prst="rect">
            <a:avLst/>
          </a:prstGeom>
        </p:spPr>
      </p:pic>
      <p:sp>
        <p:nvSpPr>
          <p:cNvPr id="7" name="Etiqueta foto"/>
          <p:cNvSpPr txBox="1"/>
          <p:nvPr/>
        </p:nvSpPr>
        <p:spPr>
          <a:xfrm>
            <a:off x="647700" y="5086350"/>
            <a:ext cx="2228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enfermera escaneando brazalete</a:t>
            </a:r>
            <a:endParaRPr lang="en-US" sz="800" dirty="0"/>
          </a:p>
        </p:txBody>
      </p:sp>
      <p:sp>
        <p:nvSpPr>
          <p:cNvPr id="8" name="FOTO (reemplazar): brazalete"/>
          <p:cNvSpPr/>
          <p:nvPr/>
        </p:nvSpPr>
        <p:spPr>
          <a:xfrm>
            <a:off x="1809750" y="4286250"/>
            <a:ext cx="1714500" cy="1714500"/>
          </a:xfrm>
          <a:prstGeom prst="ellipse">
            <a:avLst/>
          </a:prstGeom>
          <a:solidFill>
            <a:schemeClr val="accent6"/>
          </a:solidFill>
          <a:ln w="635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9" name="Image 1" descr="Icono Scan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45" y="4817745"/>
            <a:ext cx="651510" cy="651510"/>
          </a:xfrm>
          <a:prstGeom prst="rect">
            <a:avLst/>
          </a:prstGeom>
        </p:spPr>
      </p:pic>
      <p:sp>
        <p:nvSpPr>
          <p:cNvPr id="10" name="Etiqueta foto"/>
          <p:cNvSpPr txBox="1"/>
          <p:nvPr/>
        </p:nvSpPr>
        <p:spPr>
          <a:xfrm>
            <a:off x="1885950" y="5753100"/>
            <a:ext cx="15621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brazalete</a:t>
            </a:r>
            <a:endParaRPr lang="en-US" sz="800" dirty="0"/>
          </a:p>
        </p:txBody>
      </p:sp>
      <p:sp>
        <p:nvSpPr>
          <p:cNvPr id="11" name="Tarjeta"/>
          <p:cNvSpPr/>
          <p:nvPr/>
        </p:nvSpPr>
        <p:spPr>
          <a:xfrm>
            <a:off x="3905250" y="15240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2" name="Insignia 1"/>
          <p:cNvSpPr/>
          <p:nvPr/>
        </p:nvSpPr>
        <p:spPr>
          <a:xfrm>
            <a:off x="4095750" y="1685925"/>
            <a:ext cx="438150" cy="43815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095750" y="16859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24400" y="16192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Paciente correcto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4724400" y="18669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Escaneo del código GS1 del brazalete de identificación hospitalaria.</a:t>
            </a:r>
            <a:endParaRPr lang="en-US" sz="1100" dirty="0"/>
          </a:p>
        </p:txBody>
      </p:sp>
      <p:sp>
        <p:nvSpPr>
          <p:cNvPr id="16" name="Etiqueta GSRN"/>
          <p:cNvSpPr/>
          <p:nvPr/>
        </p:nvSpPr>
        <p:spPr>
          <a:xfrm>
            <a:off x="10668000" y="1771650"/>
            <a:ext cx="838200" cy="266700"/>
          </a:xfrm>
          <a:prstGeom prst="roundRect">
            <a:avLst>
              <a:gd name="adj" fmla="val 171429"/>
            </a:avLst>
          </a:prstGeom>
          <a:solidFill>
            <a:srgbClr val="F1F5F9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0668000" y="17716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97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GSRN</a:t>
            </a:r>
            <a:endParaRPr lang="en-US" sz="1000" dirty="0"/>
          </a:p>
        </p:txBody>
      </p:sp>
      <p:sp>
        <p:nvSpPr>
          <p:cNvPr id="18" name="Tarjeta"/>
          <p:cNvSpPr/>
          <p:nvPr/>
        </p:nvSpPr>
        <p:spPr>
          <a:xfrm>
            <a:off x="3905250" y="24003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9" name="Insignia 2"/>
          <p:cNvSpPr/>
          <p:nvPr/>
        </p:nvSpPr>
        <p:spPr>
          <a:xfrm>
            <a:off x="4095750" y="2562225"/>
            <a:ext cx="438150" cy="43815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095750" y="25622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724400" y="24955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Medicamento correcto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4724400" y="2743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Validación instantánea del GTIN contra la prescripción médica electrónica.</a:t>
            </a:r>
            <a:endParaRPr lang="en-US" sz="1100" dirty="0"/>
          </a:p>
        </p:txBody>
      </p:sp>
      <p:sp>
        <p:nvSpPr>
          <p:cNvPr id="23" name="Etiqueta GTIN"/>
          <p:cNvSpPr/>
          <p:nvPr/>
        </p:nvSpPr>
        <p:spPr>
          <a:xfrm>
            <a:off x="10668000" y="2647950"/>
            <a:ext cx="838200" cy="266700"/>
          </a:xfrm>
          <a:prstGeom prst="roundRect">
            <a:avLst>
              <a:gd name="adj" fmla="val 171429"/>
            </a:avLst>
          </a:prstGeom>
          <a:solidFill>
            <a:srgbClr val="F1F5F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10668000" y="26479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3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</a:t>
            </a:r>
            <a:endParaRPr lang="en-US" sz="1000" dirty="0"/>
          </a:p>
        </p:txBody>
      </p:sp>
      <p:sp>
        <p:nvSpPr>
          <p:cNvPr id="25" name="Tarjeta"/>
          <p:cNvSpPr/>
          <p:nvPr/>
        </p:nvSpPr>
        <p:spPr>
          <a:xfrm>
            <a:off x="3905250" y="32766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6" name="Insignia 3"/>
          <p:cNvSpPr/>
          <p:nvPr/>
        </p:nvSpPr>
        <p:spPr>
          <a:xfrm>
            <a:off x="4095750" y="3438525"/>
            <a:ext cx="438150" cy="43815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095750" y="34385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4724400" y="33718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Dosis correcta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4724400" y="3619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Confirma la concentración (500 mg vs 1000 mg) y evita errores LASA (Look-Alike, Sound-Alike).</a:t>
            </a:r>
            <a:endParaRPr lang="en-US" sz="1100" dirty="0"/>
          </a:p>
        </p:txBody>
      </p:sp>
      <p:sp>
        <p:nvSpPr>
          <p:cNvPr id="30" name="Etiqueta LASA"/>
          <p:cNvSpPr/>
          <p:nvPr/>
        </p:nvSpPr>
        <p:spPr>
          <a:xfrm>
            <a:off x="10668000" y="3524250"/>
            <a:ext cx="838200" cy="266700"/>
          </a:xfrm>
          <a:prstGeom prst="roundRect">
            <a:avLst>
              <a:gd name="adj" fmla="val 171429"/>
            </a:avLst>
          </a:prstGeom>
          <a:solidFill>
            <a:srgbClr val="F1F5F9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10668000" y="35242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LASA</a:t>
            </a:r>
            <a:endParaRPr lang="en-US" sz="1000" dirty="0"/>
          </a:p>
        </p:txBody>
      </p:sp>
      <p:sp>
        <p:nvSpPr>
          <p:cNvPr id="32" name="Tarjeta"/>
          <p:cNvSpPr/>
          <p:nvPr/>
        </p:nvSpPr>
        <p:spPr>
          <a:xfrm>
            <a:off x="3905250" y="41529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3" name="Insignia 4"/>
          <p:cNvSpPr/>
          <p:nvPr/>
        </p:nvSpPr>
        <p:spPr>
          <a:xfrm>
            <a:off x="4095750" y="4314825"/>
            <a:ext cx="438150" cy="43815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4095750" y="43148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4724400" y="42481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Vía y hora correctas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4724400" y="44958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Registro automático en la Historia Clínica Electrónica.</a:t>
            </a:r>
            <a:endParaRPr lang="en-US" sz="1100" dirty="0"/>
          </a:p>
        </p:txBody>
      </p:sp>
      <p:sp>
        <p:nvSpPr>
          <p:cNvPr id="37" name="Etiqueta HCE"/>
          <p:cNvSpPr/>
          <p:nvPr/>
        </p:nvSpPr>
        <p:spPr>
          <a:xfrm>
            <a:off x="10668000" y="4400550"/>
            <a:ext cx="838200" cy="266700"/>
          </a:xfrm>
          <a:prstGeom prst="roundRect">
            <a:avLst>
              <a:gd name="adj" fmla="val 171429"/>
            </a:avLst>
          </a:prstGeom>
          <a:solidFill>
            <a:srgbClr val="F1F5F9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10668000" y="4400550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7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HCE</a:t>
            </a:r>
            <a:endParaRPr lang="en-US" sz="1000" dirty="0"/>
          </a:p>
        </p:txBody>
      </p:sp>
      <p:sp>
        <p:nvSpPr>
          <p:cNvPr id="39" name="Tarjeta"/>
          <p:cNvSpPr/>
          <p:nvPr/>
        </p:nvSpPr>
        <p:spPr>
          <a:xfrm>
            <a:off x="3905250" y="5029200"/>
            <a:ext cx="7829550" cy="7620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0" name="Insignia 5"/>
          <p:cNvSpPr/>
          <p:nvPr/>
        </p:nvSpPr>
        <p:spPr>
          <a:xfrm>
            <a:off x="4095750" y="5191125"/>
            <a:ext cx="438150" cy="43815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4095750" y="5191125"/>
            <a:ext cx="438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4724400" y="5124450"/>
            <a:ext cx="533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Vigencia garantizada</a:t>
            </a:r>
            <a:endParaRPr lang="en-US" sz="1350" dirty="0"/>
          </a:p>
        </p:txBody>
      </p:sp>
      <p:sp>
        <p:nvSpPr>
          <p:cNvPr id="43" name="Text 39"/>
          <p:cNvSpPr txBox="1"/>
          <p:nvPr/>
        </p:nvSpPr>
        <p:spPr>
          <a:xfrm>
            <a:off x="4724400" y="53721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El sistema bloquea la dosis si (17) indica vencido o si el lote (10) tiene alerta de retiro.</a:t>
            </a:r>
            <a:endParaRPr lang="en-US" sz="1100" dirty="0"/>
          </a:p>
        </p:txBody>
      </p:sp>
      <p:pic>
        <p:nvPicPr>
          <p:cNvPr id="44" name="Image 2" descr="Icono B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5200" y="5276850"/>
            <a:ext cx="285750" cy="2857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ANATOMÍA TÉCNICA DEL ESTÁNDAR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la barra tradicional al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estándar 2D en salud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Etapa"/>
          <p:cNvSpPr/>
          <p:nvPr/>
        </p:nvSpPr>
        <p:spPr>
          <a:xfrm>
            <a:off x="800100" y="1371600"/>
            <a:ext cx="2857500" cy="247650"/>
          </a:xfrm>
          <a:prstGeom prst="roundRect">
            <a:avLst>
              <a:gd name="adj" fmla="val 184615"/>
            </a:avLst>
          </a:prstGeom>
          <a:solidFill>
            <a:srgbClr val="F1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01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</a:rPr>
              <a:t>1973 – 2022 · Hasta ahora</a:t>
            </a:r>
            <a:endParaRPr lang="en-US" sz="1000" dirty="0"/>
          </a:p>
        </p:txBody>
      </p:sp>
      <p:pic>
        <p:nvPicPr>
          <p:cNvPr id="7" name="Image 0" descr="Caja Acetaminofén 500 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350" y="1676400"/>
            <a:ext cx="1905000" cy="152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24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EAN-13 · código 1D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96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Solo identifica el GTIN, de forma estática.</a:t>
            </a:r>
            <a:endParaRPr lang="en-US" sz="1000" dirty="0"/>
          </a:p>
        </p:txBody>
      </p:sp>
      <p:sp>
        <p:nvSpPr>
          <p:cNvPr id="10" name="Tarjeta"/>
          <p:cNvSpPr/>
          <p:nvPr/>
        </p:nvSpPr>
        <p:spPr>
          <a:xfrm>
            <a:off x="43053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1" name="Etapa"/>
          <p:cNvSpPr/>
          <p:nvPr/>
        </p:nvSpPr>
        <p:spPr>
          <a:xfrm>
            <a:off x="4648200" y="1371600"/>
            <a:ext cx="2857500" cy="247650"/>
          </a:xfrm>
          <a:prstGeom prst="roundRect">
            <a:avLst>
              <a:gd name="adj" fmla="val 184615"/>
            </a:avLst>
          </a:prstGeom>
          <a:solidFill>
            <a:srgbClr val="FDE9E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482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2023 – 2026 · Transición dual</a:t>
            </a:r>
            <a:endParaRPr lang="en-US" sz="1000" dirty="0"/>
          </a:p>
        </p:txBody>
      </p:sp>
      <p:pic>
        <p:nvPicPr>
          <p:cNvPr id="13" name="Image 1" descr="Caja Acetaminofén 500 m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790700"/>
            <a:ext cx="1638300" cy="1314450"/>
          </a:xfrm>
          <a:prstGeom prst="rect">
            <a:avLst/>
          </a:prstGeom>
        </p:spPr>
      </p:pic>
      <p:pic>
        <p:nvPicPr>
          <p:cNvPr id="14" name="Image 2" descr="Caja Acetaminofén 500 m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90700"/>
            <a:ext cx="1638300" cy="13144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4005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Coexisten 1D + 2D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4577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Se preparan lectores ópticos en farmacias y centros de salud.</a:t>
            </a:r>
            <a:endParaRPr lang="en-US" sz="1000" dirty="0"/>
          </a:p>
        </p:txBody>
      </p:sp>
      <p:sp>
        <p:nvSpPr>
          <p:cNvPr id="17" name="Tarjeta"/>
          <p:cNvSpPr/>
          <p:nvPr/>
        </p:nvSpPr>
        <p:spPr>
          <a:xfrm>
            <a:off x="8153400" y="1238250"/>
            <a:ext cx="3543300" cy="2495550"/>
          </a:xfrm>
          <a:prstGeom prst="roundRect">
            <a:avLst>
              <a:gd name="adj" fmla="val 7328"/>
            </a:avLst>
          </a:prstGeom>
          <a:solidFill>
            <a:schemeClr val="bg1"/>
          </a:solidFill>
          <a:ln w="19050">
            <a:solidFill>
              <a:srgbClr val="1CA9C9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8" name="Etapa"/>
          <p:cNvSpPr/>
          <p:nvPr/>
        </p:nvSpPr>
        <p:spPr>
          <a:xfrm>
            <a:off x="8496300" y="1371600"/>
            <a:ext cx="2857500" cy="247650"/>
          </a:xfrm>
          <a:prstGeom prst="roundRect">
            <a:avLst>
              <a:gd name="adj" fmla="val 184615"/>
            </a:avLst>
          </a:prstGeom>
          <a:solidFill>
            <a:srgbClr val="1CA9C9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496300" y="13716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2027+ · Ambición global y Healthcare</a:t>
            </a:r>
            <a:endParaRPr lang="en-US" sz="1000" dirty="0"/>
          </a:p>
        </p:txBody>
      </p:sp>
      <p:pic>
        <p:nvPicPr>
          <p:cNvPr id="20" name="Image 3" descr="Caja Acetaminofén 500 m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800" y="1790700"/>
            <a:ext cx="1638300" cy="1314450"/>
          </a:xfrm>
          <a:prstGeom prst="rect">
            <a:avLst/>
          </a:prstGeom>
        </p:spPr>
      </p:pic>
      <p:pic>
        <p:nvPicPr>
          <p:cNvPr id="21" name="Image 4" descr="Caja Acetaminofén 500 m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0" y="1790700"/>
            <a:ext cx="1638300" cy="131445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248650" y="3219450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GS1 DataMatrix + QR Digital Link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8305800" y="34290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Trazabilidad clínica/regulatoria + interacción con el paciente.</a:t>
            </a:r>
            <a:endParaRPr lang="en-US" sz="1000" dirty="0"/>
          </a:p>
        </p:txBody>
      </p:sp>
      <p:sp>
        <p:nvSpPr>
          <p:cNvPr id="24" name="Flecha"/>
          <p:cNvSpPr/>
          <p:nvPr/>
        </p:nvSpPr>
        <p:spPr>
          <a:xfrm>
            <a:off x="4038600" y="2362200"/>
            <a:ext cx="247650" cy="24765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Flecha"/>
          <p:cNvSpPr/>
          <p:nvPr/>
        </p:nvSpPr>
        <p:spPr>
          <a:xfrm>
            <a:off x="7886700" y="2362200"/>
            <a:ext cx="247650" cy="24765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6" name="Tarjeta"/>
          <p:cNvSpPr/>
          <p:nvPr/>
        </p:nvSpPr>
        <p:spPr>
          <a:xfrm>
            <a:off x="457200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590550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(01)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07591196014853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90550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GTIN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ID único del medicamento (prefijo 759 GS1 Venezuela)</a:t>
            </a:r>
            <a:endParaRPr lang="en-US" sz="1050" dirty="0"/>
          </a:p>
        </p:txBody>
      </p:sp>
      <p:sp>
        <p:nvSpPr>
          <p:cNvPr id="29" name="Tarjeta"/>
          <p:cNvSpPr/>
          <p:nvPr/>
        </p:nvSpPr>
        <p:spPr>
          <a:xfrm>
            <a:off x="3327368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3460718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(17)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281231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3460718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Vencimiento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31 Dic 2028</a:t>
            </a:r>
            <a:endParaRPr lang="en-US" sz="1050" dirty="0"/>
          </a:p>
        </p:txBody>
      </p:sp>
      <p:sp>
        <p:nvSpPr>
          <p:cNvPr id="32" name="Tarjeta"/>
          <p:cNvSpPr/>
          <p:nvPr/>
        </p:nvSpPr>
        <p:spPr>
          <a:xfrm>
            <a:off x="6197537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6330886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LOTE-VE26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6330886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Lote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trazabilidad de producción</a:t>
            </a:r>
            <a:endParaRPr lang="en-US" sz="1050" dirty="0"/>
          </a:p>
        </p:txBody>
      </p:sp>
      <p:sp>
        <p:nvSpPr>
          <p:cNvPr id="35" name="Tarjeta"/>
          <p:cNvSpPr/>
          <p:nvPr/>
        </p:nvSpPr>
        <p:spPr>
          <a:xfrm>
            <a:off x="9067705" y="3924300"/>
            <a:ext cx="2667000" cy="876300"/>
          </a:xfrm>
          <a:prstGeom prst="roundRect">
            <a:avLst>
              <a:gd name="adj" fmla="val 2087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9201055" y="401955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(21)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SN998877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9201055" y="4286250"/>
            <a:ext cx="24193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Serie · 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autenticación unitaria anti-falsificación</a:t>
            </a:r>
            <a:endParaRPr lang="en-US" sz="105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953000"/>
            <a:ext cx="381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</a:rPr>
              <a:t>ESTRUCTURA GS1 DIGITAL LINK</a:t>
            </a:r>
            <a:endParaRPr lang="en-US" sz="900" dirty="0"/>
          </a:p>
        </p:txBody>
      </p:sp>
      <p:sp>
        <p:nvSpPr>
          <p:cNvPr id="39" name="Tarjeta"/>
          <p:cNvSpPr/>
          <p:nvPr/>
        </p:nvSpPr>
        <p:spPr>
          <a:xfrm>
            <a:off x="457200" y="5162550"/>
            <a:ext cx="11277600" cy="571500"/>
          </a:xfrm>
          <a:prstGeom prst="roundRect">
            <a:avLst>
              <a:gd name="adj" fmla="val 32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685800" y="5162550"/>
            <a:ext cx="1082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pPr algn="l" indent="0" marL="0">
              <a:buNone/>
            </a:pPr>
            <a:r>
              <a:rPr lang="en-US" sz="15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dl.gs1ve.org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/01/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07591196014853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/10/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LOTE-VE26</a:t>
            </a:r>
            <a:pPr algn="l" indent="0" marL="0">
              <a:buNone/>
            </a:pPr>
            <a:r>
              <a:rPr lang="en-US" sz="15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?17=</a:t>
            </a:r>
            <a:pPr algn="l" indent="0" marL="0">
              <a:buNone/>
            </a:pPr>
            <a:r>
              <a:rPr lang="en-US" sz="15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281231</a:t>
            </a:r>
            <a:endParaRPr lang="en-US" sz="1550" dirty="0"/>
          </a:p>
        </p:txBody>
      </p:sp>
      <p:sp>
        <p:nvSpPr>
          <p:cNvPr id="41" name="Text 34"/>
          <p:cNvSpPr txBox="1"/>
          <p:nvPr/>
        </p:nvSpPr>
        <p:spPr>
          <a:xfrm>
            <a:off x="457200" y="582930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● Dominio web     </a:t>
            </a:r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● Identificador de aplicación (AI)     </a:t>
            </a:r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● GTIN / Lote / Vencimiento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 izquierdo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3" name="Fondo derecho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38500" y="1905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ANALOGÍA CONCEPTUAL</a:t>
            </a:r>
            <a:endParaRPr lang="en-US" sz="900" dirty="0"/>
          </a:p>
        </p:txBody>
      </p:sp>
      <p:sp>
        <p:nvSpPr>
          <p:cNvPr id="5" name="Tarjeta"/>
          <p:cNvSpPr/>
          <p:nvPr/>
        </p:nvSpPr>
        <p:spPr>
          <a:xfrm>
            <a:off x="3143250" y="400050"/>
            <a:ext cx="5905500" cy="552450"/>
          </a:xfrm>
          <a:prstGeom prst="roundRect">
            <a:avLst>
              <a:gd name="adj" fmla="val 82759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143250" y="400050"/>
            <a:ext cx="5905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 Libro </a:t>
            </a:r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vs. </a:t>
            </a:r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 Televisor Clínico</a:t>
            </a:r>
            <a:endParaRPr lang="en-US" sz="2200" dirty="0"/>
          </a:p>
        </p:txBody>
      </p:sp>
      <p:sp>
        <p:nvSpPr>
          <p:cNvPr id="7" name="Icono TriangleAlert"/>
          <p:cNvSpPr/>
          <p:nvPr/>
        </p:nvSpPr>
        <p:spPr>
          <a:xfrm>
            <a:off x="457200" y="1238250"/>
            <a:ext cx="419100" cy="4191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Image 0" descr="Icono Triangle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338834"/>
            <a:ext cx="217932" cy="2179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0600" y="1219200"/>
            <a:ext cx="4191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3415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QR genérico / estático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990600" y="14859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Como un libro impreso</a:t>
            </a:r>
            <a:endParaRPr lang="en-US" sz="1050" dirty="0"/>
          </a:p>
        </p:txBody>
      </p:sp>
      <p:sp>
        <p:nvSpPr>
          <p:cNvPr id="11" name="Tarjeta"/>
          <p:cNvSpPr/>
          <p:nvPr/>
        </p:nvSpPr>
        <p:spPr>
          <a:xfrm>
            <a:off x="457200" y="1866900"/>
            <a:ext cx="1809750" cy="1809750"/>
          </a:xfrm>
          <a:prstGeom prst="roundRect">
            <a:avLst>
              <a:gd name="adj" fmla="val 1010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2" name="Image 1" descr="QR genéric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981200"/>
            <a:ext cx="1581150" cy="1581150"/>
          </a:xfrm>
          <a:prstGeom prst="rect">
            <a:avLst/>
          </a:prstGeom>
        </p:spPr>
      </p:pic>
      <p:sp>
        <p:nvSpPr>
          <p:cNvPr id="13" name="Tarjeta"/>
          <p:cNvSpPr/>
          <p:nvPr/>
        </p:nvSpPr>
        <p:spPr>
          <a:xfrm>
            <a:off x="2495550" y="2190750"/>
            <a:ext cx="285750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2628900" y="2286000"/>
            <a:ext cx="2590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http://mi-laboratorio.com/prospecto.pdf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2628900" y="2781300"/>
            <a:ext cx="2590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fija · no editable</a:t>
            </a:r>
            <a:endParaRPr lang="en-US" sz="950" dirty="0"/>
          </a:p>
        </p:txBody>
      </p:sp>
      <p:pic>
        <p:nvPicPr>
          <p:cNvPr id="16" name="Image 2" descr="Icono Circle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81450"/>
            <a:ext cx="209550" cy="20955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81050" y="3962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4155"/>
                </a:solidFill>
              </a:rPr>
              <a:t>La URL queda fija una vez impreso el empaque.</a:t>
            </a:r>
            <a:endParaRPr lang="en-US" sz="1200" dirty="0"/>
          </a:p>
        </p:txBody>
      </p:sp>
      <p:pic>
        <p:nvPicPr>
          <p:cNvPr id="18" name="Image 3" descr="Icono Circl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76750"/>
            <a:ext cx="209550" cy="2095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81050" y="44577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4155"/>
                </a:solidFill>
              </a:rPr>
              <a:t>No sirve para pasar por caja ni sistemas hospitalarios.</a:t>
            </a:r>
            <a:endParaRPr lang="en-US" sz="1200" dirty="0"/>
          </a:p>
        </p:txBody>
      </p:sp>
      <p:pic>
        <p:nvPicPr>
          <p:cNvPr id="20" name="Image 4" descr="Icono Circle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72050"/>
            <a:ext cx="209550" cy="20955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81050" y="49530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4155"/>
                </a:solidFill>
              </a:rPr>
              <a:t>Si cambia la normativa sanitaria, se desecha el material de empaque.</a:t>
            </a:r>
            <a:endParaRPr lang="en-US" sz="1200" dirty="0"/>
          </a:p>
        </p:txBody>
      </p:sp>
      <p:sp>
        <p:nvSpPr>
          <p:cNvPr id="22" name="Icono BadgeCheck"/>
          <p:cNvSpPr/>
          <p:nvPr/>
        </p:nvSpPr>
        <p:spPr>
          <a:xfrm>
            <a:off x="6572250" y="1238250"/>
            <a:ext cx="419100" cy="4191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Image 5" descr="Icono Badge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2834" y="1338834"/>
            <a:ext cx="217932" cy="2179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105650" y="1219200"/>
            <a:ext cx="4572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QR GS1 Digital Link</a:t>
            </a:r>
            <a:endParaRPr lang="en-US" sz="1650" dirty="0"/>
          </a:p>
        </p:txBody>
      </p:sp>
      <p:sp>
        <p:nvSpPr>
          <p:cNvPr id="25" name="Text 17"/>
          <p:cNvSpPr txBox="1"/>
          <p:nvPr/>
        </p:nvSpPr>
        <p:spPr>
          <a:xfrm>
            <a:off x="7105650" y="1485900"/>
            <a:ext cx="457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4"/>
                </a:solidFill>
              </a:rPr>
              <a:t>Como un televisor inteligente · Sello GS1 Venezuela</a:t>
            </a:r>
            <a:endParaRPr lang="en-US" sz="1050" dirty="0"/>
          </a:p>
        </p:txBody>
      </p:sp>
      <p:sp>
        <p:nvSpPr>
          <p:cNvPr id="26" name="Tarjeta"/>
          <p:cNvSpPr/>
          <p:nvPr/>
        </p:nvSpPr>
        <p:spPr>
          <a:xfrm>
            <a:off x="6572250" y="1866900"/>
            <a:ext cx="1809750" cy="1809750"/>
          </a:xfrm>
          <a:prstGeom prst="roundRect">
            <a:avLst>
              <a:gd name="adj" fmla="val 10105"/>
            </a:avLst>
          </a:prstGeom>
          <a:solidFill>
            <a:schemeClr val="bg1"/>
          </a:solidFill>
          <a:ln w="38100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7" name="Image 6" descr="QR GS1 Digital 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1981200"/>
            <a:ext cx="1581150" cy="1581150"/>
          </a:xfrm>
          <a:prstGeom prst="rect">
            <a:avLst/>
          </a:prstGeom>
        </p:spPr>
      </p:pic>
      <p:sp>
        <p:nvSpPr>
          <p:cNvPr id="28" name="Control remoto"/>
          <p:cNvSpPr/>
          <p:nvPr/>
        </p:nvSpPr>
        <p:spPr>
          <a:xfrm>
            <a:off x="8610600" y="2133600"/>
            <a:ext cx="2857500" cy="1047750"/>
          </a:xfrm>
          <a:prstGeom prst="roundRect">
            <a:avLst>
              <a:gd name="adj" fmla="val 10473"/>
            </a:avLst>
          </a:prstGeom>
          <a:solidFill>
            <a:srgbClr val="000000">
              <a:alpha val="30000"/>
            </a:srgbClr>
          </a:solidFill>
          <a:ln w="190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8763000" y="2247900"/>
            <a:ext cx="247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CAMBIAR EL CANAL</a:t>
            </a:r>
            <a:endParaRPr lang="en-US" sz="900" dirty="0"/>
          </a:p>
        </p:txBody>
      </p:sp>
      <p:sp>
        <p:nvSpPr>
          <p:cNvPr id="30" name="Text 21"/>
          <p:cNvSpPr txBox="1"/>
          <p:nvPr/>
        </p:nvSpPr>
        <p:spPr>
          <a:xfrm>
            <a:off x="8763000" y="2457450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dl.gs1ve.org/01/0759…</a:t>
            </a:r>
            <a:endParaRPr lang="en-US" sz="1000" dirty="0"/>
          </a:p>
        </p:txBody>
      </p:sp>
      <p:sp>
        <p:nvSpPr>
          <p:cNvPr id="31" name="Insignia 1"/>
          <p:cNvSpPr/>
          <p:nvPr/>
        </p:nvSpPr>
        <p:spPr>
          <a:xfrm>
            <a:off x="8763000" y="2743200"/>
            <a:ext cx="285750" cy="28575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2" name="Text 23"/>
          <p:cNvSpPr txBox="1"/>
          <p:nvPr/>
        </p:nvSpPr>
        <p:spPr>
          <a:xfrm>
            <a:off x="8763000" y="27432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Insignia 2"/>
          <p:cNvSpPr/>
          <p:nvPr/>
        </p:nvSpPr>
        <p:spPr>
          <a:xfrm>
            <a:off x="9124950" y="2743200"/>
            <a:ext cx="285750" cy="28575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25"/>
          <p:cNvSpPr txBox="1"/>
          <p:nvPr/>
        </p:nvSpPr>
        <p:spPr>
          <a:xfrm>
            <a:off x="9124950" y="27432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Insignia 3"/>
          <p:cNvSpPr/>
          <p:nvPr/>
        </p:nvSpPr>
        <p:spPr>
          <a:xfrm>
            <a:off x="9486900" y="2743200"/>
            <a:ext cx="285750" cy="28575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6" name="Text 27"/>
          <p:cNvSpPr txBox="1"/>
          <p:nvPr/>
        </p:nvSpPr>
        <p:spPr>
          <a:xfrm>
            <a:off x="9486900" y="27432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Canal 1"/>
          <p:cNvSpPr/>
          <p:nvPr/>
        </p:nvSpPr>
        <p:spPr>
          <a:xfrm>
            <a:off x="6572250" y="3924300"/>
            <a:ext cx="5143500" cy="628650"/>
          </a:xfrm>
          <a:prstGeom prst="roundRect">
            <a:avLst>
              <a:gd name="adj" fmla="val 17455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8" name="Insignia 1"/>
          <p:cNvSpPr/>
          <p:nvPr/>
        </p:nvSpPr>
        <p:spPr>
          <a:xfrm>
            <a:off x="6705600" y="4086225"/>
            <a:ext cx="304800" cy="304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6705600" y="4086225"/>
            <a:ext cx="30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7143750" y="3981450"/>
            <a:ext cx="4476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Farmacia / Hospital: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lectura de GTIN, lote y vencimiento en el punto de dispensación.</a:t>
            </a:r>
            <a:endParaRPr lang="en-US" sz="1100" dirty="0"/>
          </a:p>
        </p:txBody>
      </p:sp>
      <p:sp>
        <p:nvSpPr>
          <p:cNvPr id="41" name="Canal 2"/>
          <p:cNvSpPr/>
          <p:nvPr/>
        </p:nvSpPr>
        <p:spPr>
          <a:xfrm>
            <a:off x="6572250" y="4648200"/>
            <a:ext cx="5143500" cy="628650"/>
          </a:xfrm>
          <a:prstGeom prst="roundRect">
            <a:avLst>
              <a:gd name="adj" fmla="val 17455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2" name="Insignia 2"/>
          <p:cNvSpPr/>
          <p:nvPr/>
        </p:nvSpPr>
        <p:spPr>
          <a:xfrm>
            <a:off x="6705600" y="4810125"/>
            <a:ext cx="304800" cy="304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3" name="Text 34"/>
          <p:cNvSpPr txBox="1"/>
          <p:nvPr/>
        </p:nvSpPr>
        <p:spPr>
          <a:xfrm>
            <a:off x="6705600" y="4810125"/>
            <a:ext cx="30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7143750" y="4705350"/>
            <a:ext cx="4476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Paciente: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prospecto digital (e-PIL), video de aplicación y validación de originalidad.</a:t>
            </a:r>
            <a:endParaRPr lang="en-US" sz="1100" dirty="0"/>
          </a:p>
        </p:txBody>
      </p:sp>
      <p:sp>
        <p:nvSpPr>
          <p:cNvPr id="45" name="Canal 3"/>
          <p:cNvSpPr/>
          <p:nvPr/>
        </p:nvSpPr>
        <p:spPr>
          <a:xfrm>
            <a:off x="6572250" y="5372100"/>
            <a:ext cx="5143500" cy="628650"/>
          </a:xfrm>
          <a:prstGeom prst="roundRect">
            <a:avLst>
              <a:gd name="adj" fmla="val 17455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6" name="Insignia 3"/>
          <p:cNvSpPr/>
          <p:nvPr/>
        </p:nvSpPr>
        <p:spPr>
          <a:xfrm>
            <a:off x="6705600" y="5534025"/>
            <a:ext cx="304800" cy="3048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6705600" y="5534025"/>
            <a:ext cx="30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7143750" y="5429250"/>
            <a:ext cx="4476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Emergencia sanitaria: </a:t>
            </a:r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alerta de farmacovigilancia o retiro de lote (Recall) inmediata.</a:t>
            </a:r>
            <a:endParaRPr lang="en-US" sz="1100" dirty="0"/>
          </a:p>
        </p:txBody>
      </p:sp>
      <p:sp>
        <p:nvSpPr>
          <p:cNvPr id="49" name="VS"/>
          <p:cNvSpPr/>
          <p:nvPr/>
        </p:nvSpPr>
        <p:spPr>
          <a:xfrm>
            <a:off x="5838825" y="3143250"/>
            <a:ext cx="514350" cy="514350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0" name="Text 41"/>
          <p:cNvSpPr txBox="1"/>
          <p:nvPr/>
        </p:nvSpPr>
        <p:spPr>
          <a:xfrm>
            <a:off x="5838825" y="3143250"/>
            <a:ext cx="5143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VS</a:t>
            </a:r>
            <a:endParaRPr lang="en-US" sz="1500" dirty="0"/>
          </a:p>
        </p:txBody>
      </p:sp>
      <p:sp>
        <p:nvSpPr>
          <p:cNvPr id="51" name="Text 42"/>
          <p:cNvSpPr txBox="1"/>
          <p:nvPr/>
        </p:nvSpPr>
        <p:spPr>
          <a:xfrm>
            <a:off x="457200" y="657225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Comité Salud GS1 · 5 Nov 2026</a:t>
            </a:r>
            <a:endParaRPr lang="en-US" sz="900" dirty="0"/>
          </a:p>
        </p:txBody>
      </p:sp>
      <p:pic>
        <p:nvPicPr>
          <p:cNvPr id="52" name="Image 7" descr="Logo GS1 Venezuel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3250" y="6496050"/>
            <a:ext cx="952500" cy="266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CASOS DE ÉXITO INTERNACIONALES · PARTE 1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Estándares GS1 que salvan vidas: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NHS, UE y EE. UU.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190625"/>
            <a:ext cx="7048500" cy="4762500"/>
          </a:xfrm>
          <a:prstGeom prst="roundRect">
            <a:avLst>
              <a:gd name="adj" fmla="val 384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Insignia UK"/>
          <p:cNvSpPr/>
          <p:nvPr/>
        </p:nvSpPr>
        <p:spPr>
          <a:xfrm>
            <a:off x="685800" y="1390650"/>
            <a:ext cx="400050" cy="40005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90650"/>
            <a:ext cx="4000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UK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200150" y="1390650"/>
            <a:ext cx="4762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NHS Inglaterra · Scan4Safety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0150" y="1619250"/>
            <a:ext cx="476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Adopción integral de estándares GS1 en hospitales</a:t>
            </a:r>
            <a:endParaRPr lang="en-US" sz="1000" dirty="0"/>
          </a:p>
        </p:txBody>
      </p:sp>
      <p:sp>
        <p:nvSpPr>
          <p:cNvPr id="9" name="Etiqueta GTIN · productos"/>
          <p:cNvSpPr/>
          <p:nvPr/>
        </p:nvSpPr>
        <p:spPr>
          <a:xfrm>
            <a:off x="685800" y="1962150"/>
            <a:ext cx="1428750" cy="247650"/>
          </a:xfrm>
          <a:prstGeom prst="roundRect">
            <a:avLst>
              <a:gd name="adj" fmla="val 184615"/>
            </a:avLst>
          </a:prstGeom>
          <a:solidFill>
            <a:srgbClr val="FDE9E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1962150"/>
            <a:ext cx="1428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 · productos</a:t>
            </a:r>
            <a:endParaRPr lang="en-US" sz="950" dirty="0"/>
          </a:p>
        </p:txBody>
      </p:sp>
      <p:sp>
        <p:nvSpPr>
          <p:cNvPr id="11" name="Etiqueta GLN · ubicaciones"/>
          <p:cNvSpPr/>
          <p:nvPr/>
        </p:nvSpPr>
        <p:spPr>
          <a:xfrm>
            <a:off x="2209800" y="1962150"/>
            <a:ext cx="1428750" cy="247650"/>
          </a:xfrm>
          <a:prstGeom prst="roundRect">
            <a:avLst>
              <a:gd name="adj" fmla="val 184615"/>
            </a:avLst>
          </a:prstGeom>
          <a:solidFill>
            <a:srgbClr val="E0F4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09800" y="1962150"/>
            <a:ext cx="1428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GLN · ubicaciones</a:t>
            </a:r>
            <a:endParaRPr lang="en-US" sz="950" dirty="0"/>
          </a:p>
        </p:txBody>
      </p:sp>
      <p:sp>
        <p:nvSpPr>
          <p:cNvPr id="13" name="Etiqueta GSRN · pacientes/personal"/>
          <p:cNvSpPr/>
          <p:nvPr/>
        </p:nvSpPr>
        <p:spPr>
          <a:xfrm>
            <a:off x="3733800" y="1962150"/>
            <a:ext cx="2000250" cy="247650"/>
          </a:xfrm>
          <a:prstGeom prst="roundRect">
            <a:avLst>
              <a:gd name="adj" fmla="val 184615"/>
            </a:avLst>
          </a:prstGeom>
          <a:solidFill>
            <a:srgbClr val="E2E8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33800" y="19621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GSRN · pacientes/personal</a:t>
            </a:r>
            <a:endParaRPr lang="en-US" sz="950" dirty="0"/>
          </a:p>
        </p:txBody>
      </p:sp>
      <p:sp>
        <p:nvSpPr>
          <p:cNvPr id="15" name="Tarjeta"/>
          <p:cNvSpPr/>
          <p:nvPr/>
        </p:nvSpPr>
        <p:spPr>
          <a:xfrm>
            <a:off x="685800" y="2400300"/>
            <a:ext cx="2057400" cy="15240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533650"/>
            <a:ext cx="2057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76%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124200"/>
            <a:ext cx="18288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menos errores de medicación y de selección de implantes quirúrgicos</a:t>
            </a:r>
            <a:endParaRPr lang="en-US" sz="1100" dirty="0"/>
          </a:p>
        </p:txBody>
      </p:sp>
      <p:sp>
        <p:nvSpPr>
          <p:cNvPr id="18" name="Tarjeta"/>
          <p:cNvSpPr/>
          <p:nvPr/>
        </p:nvSpPr>
        <p:spPr>
          <a:xfrm>
            <a:off x="2895600" y="2400300"/>
            <a:ext cx="2057400" cy="15240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95600" y="2533650"/>
            <a:ext cx="2057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+140.000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009900" y="3124200"/>
            <a:ext cx="18288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horas de enfermería liberadas de conteos manuales para cuidado directo</a:t>
            </a:r>
            <a:endParaRPr lang="en-US" sz="1100" dirty="0"/>
          </a:p>
        </p:txBody>
      </p:sp>
      <p:sp>
        <p:nvSpPr>
          <p:cNvPr id="21" name="Tarjeta"/>
          <p:cNvSpPr/>
          <p:nvPr/>
        </p:nvSpPr>
        <p:spPr>
          <a:xfrm>
            <a:off x="5105400" y="2400300"/>
            <a:ext cx="2057400" cy="15240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05400" y="2533650"/>
            <a:ext cx="2057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&lt;30 min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5219700" y="3124200"/>
            <a:ext cx="18288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para retirar lotes defectuosos (recalls); antes tomaba días</a:t>
            </a:r>
            <a:endParaRPr lang="en-US" sz="1100" dirty="0"/>
          </a:p>
        </p:txBody>
      </p:sp>
      <p:sp>
        <p:nvSpPr>
          <p:cNvPr id="24" name="FOTO (reemplazar): hospital moderno"/>
          <p:cNvSpPr/>
          <p:nvPr/>
        </p:nvSpPr>
        <p:spPr>
          <a:xfrm>
            <a:off x="685800" y="4114800"/>
            <a:ext cx="6591300" cy="1619250"/>
          </a:xfrm>
          <a:prstGeom prst="roundRect">
            <a:avLst>
              <a:gd name="adj" fmla="val 19765"/>
            </a:avLst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5" name="Image 0" descr="Icono Hosp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3793" y="4616768"/>
            <a:ext cx="615315" cy="615315"/>
          </a:xfrm>
          <a:prstGeom prst="rect">
            <a:avLst/>
          </a:prstGeom>
        </p:spPr>
      </p:pic>
      <p:sp>
        <p:nvSpPr>
          <p:cNvPr id="26" name="Etiqueta foto"/>
          <p:cNvSpPr txBox="1"/>
          <p:nvPr/>
        </p:nvSpPr>
        <p:spPr>
          <a:xfrm>
            <a:off x="762000" y="5486400"/>
            <a:ext cx="6438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hospital moderno</a:t>
            </a:r>
            <a:endParaRPr lang="en-US" sz="800" dirty="0"/>
          </a:p>
        </p:txBody>
      </p:sp>
      <p:sp>
        <p:nvSpPr>
          <p:cNvPr id="27" name="Tarjeta"/>
          <p:cNvSpPr/>
          <p:nvPr/>
        </p:nvSpPr>
        <p:spPr>
          <a:xfrm>
            <a:off x="7734300" y="1190625"/>
            <a:ext cx="4000500" cy="47625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8" name="Insignia UE·US"/>
          <p:cNvSpPr/>
          <p:nvPr/>
        </p:nvSpPr>
        <p:spPr>
          <a:xfrm>
            <a:off x="7962900" y="139065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2900" y="13906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UE·US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534400" y="13906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Directiva FMD (UE) y DSCSA (EE. UU.)</a:t>
            </a:r>
            <a:endParaRPr lang="en-US" sz="1400" dirty="0"/>
          </a:p>
        </p:txBody>
      </p:sp>
      <p:pic>
        <p:nvPicPr>
          <p:cNvPr id="31" name="Image 1" descr="Caja con GS1 DataMatri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550" y="2047875"/>
            <a:ext cx="1905000" cy="1524000"/>
          </a:xfrm>
          <a:prstGeom prst="rect">
            <a:avLst/>
          </a:prstGeom>
        </p:spPr>
      </p:pic>
      <p:pic>
        <p:nvPicPr>
          <p:cNvPr id="32" name="Image 2" descr="Icono ScanBa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900" y="3905250"/>
            <a:ext cx="228600" cy="2286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8305800" y="3886200"/>
            <a:ext cx="320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Verificación </a:t>
            </a:r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unitaria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de cajas con </a:t>
            </a:r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GS1 DataMatrix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serializado antes de dispensar.</a:t>
            </a:r>
            <a:endParaRPr lang="en-US" sz="1150" dirty="0"/>
          </a:p>
        </p:txBody>
      </p:sp>
      <p:pic>
        <p:nvPicPr>
          <p:cNvPr id="34" name="Image 3" descr="Icono 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2900" y="4648200"/>
            <a:ext cx="228600" cy="22860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305800" y="4629150"/>
            <a:ext cx="320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e-PIL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(prospecto electrónico) mediante </a:t>
            </a:r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GS1 Digital Link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CASOS DE ÉXITO INTERNACIONALES · PARTE 2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Referentes en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América Latina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190625"/>
            <a:ext cx="3600450" cy="4762500"/>
          </a:xfrm>
          <a:prstGeom prst="roundRect">
            <a:avLst>
              <a:gd name="adj" fmla="val 5079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FOTO (reemplazar): Argentina"/>
          <p:cNvSpPr/>
          <p:nvPr/>
        </p:nvSpPr>
        <p:spPr>
          <a:xfrm>
            <a:off x="457200" y="1190625"/>
            <a:ext cx="3600450" cy="1238250"/>
          </a:xfrm>
          <a:prstGeom prst="round2SameRect">
            <a:avLst>
              <a:gd name="adj" fmla="val 13292"/>
            </a:avLst>
          </a:prstGeom>
          <a:solidFill>
            <a:schemeClr val="accent6"/>
          </a:solidFill>
          <a:ln/>
        </p:spPr>
      </p:sp>
      <p:pic>
        <p:nvPicPr>
          <p:cNvPr id="6" name="Image 0" descr="Icono FlaskConic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925" y="1552575"/>
            <a:ext cx="381000" cy="381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2450" y="2190750"/>
            <a:ext cx="3409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</a:t>
            </a:r>
            <a:endParaRPr lang="en-US" sz="800" dirty="0"/>
          </a:p>
        </p:txBody>
      </p:sp>
      <p:sp>
        <p:nvSpPr>
          <p:cNvPr id="8" name="Bandera Argentina"/>
          <p:cNvSpPr/>
          <p:nvPr/>
        </p:nvSpPr>
        <p:spPr>
          <a:xfrm>
            <a:off x="647700" y="2628900"/>
            <a:ext cx="342900" cy="76200"/>
          </a:xfrm>
          <a:prstGeom prst="rect">
            <a:avLst/>
          </a:prstGeom>
          <a:solidFill>
            <a:srgbClr val="74ACD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Bandera Argentina"/>
          <p:cNvSpPr/>
          <p:nvPr/>
        </p:nvSpPr>
        <p:spPr>
          <a:xfrm>
            <a:off x="647700" y="2705100"/>
            <a:ext cx="342900" cy="76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Bandera Argentina"/>
          <p:cNvSpPr/>
          <p:nvPr/>
        </p:nvSpPr>
        <p:spPr>
          <a:xfrm>
            <a:off x="647700" y="2781300"/>
            <a:ext cx="342900" cy="76200"/>
          </a:xfrm>
          <a:prstGeom prst="rect">
            <a:avLst/>
          </a:prstGeom>
          <a:solidFill>
            <a:srgbClr val="74ACD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85850" y="2590800"/>
            <a:ext cx="2762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Argentina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7700" y="291465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Sistema Nacional de Trazabilidad · ANMAT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47700" y="316230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GTIN + Serie + GLN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47700" y="34099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Cada movimiento se reporta en tiempo real, del laboratorio a la administración al paciente.</a:t>
            </a:r>
            <a:endParaRPr lang="en-US" sz="1100" dirty="0"/>
          </a:p>
        </p:txBody>
      </p:sp>
      <p:sp>
        <p:nvSpPr>
          <p:cNvPr id="15" name="Tarjeta"/>
          <p:cNvSpPr/>
          <p:nvPr/>
        </p:nvSpPr>
        <p:spPr>
          <a:xfrm>
            <a:off x="647700" y="4191000"/>
            <a:ext cx="3219450" cy="781050"/>
          </a:xfrm>
          <a:prstGeom prst="roundRect">
            <a:avLst>
              <a:gd name="adj" fmla="val 17561"/>
            </a:avLst>
          </a:prstGeom>
          <a:solidFill>
            <a:srgbClr val="E6F8F1"/>
          </a:solidFill>
          <a:ln w="9525">
            <a:solidFill>
              <a:srgbClr val="E6F8F1"/>
            </a:solidFill>
            <a:prstDash val="solid"/>
          </a:ln>
        </p:spPr>
      </p:sp>
      <p:pic>
        <p:nvPicPr>
          <p:cNvPr id="16" name="Image 1" descr="Icono 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400550"/>
            <a:ext cx="228600" cy="228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85850" y="4248150"/>
            <a:ext cx="26860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47857"/>
                </a:solidFill>
              </a:rPr>
              <a:t>Erradicó medicamentos robados o falsificados en el canal hospitalario y obras sociales.</a:t>
            </a:r>
            <a:endParaRPr lang="en-US" sz="1050" dirty="0"/>
          </a:p>
        </p:txBody>
      </p:sp>
      <p:sp>
        <p:nvSpPr>
          <p:cNvPr id="18" name="Tarjeta"/>
          <p:cNvSpPr/>
          <p:nvPr/>
        </p:nvSpPr>
        <p:spPr>
          <a:xfrm>
            <a:off x="4286250" y="1190625"/>
            <a:ext cx="3600450" cy="4762500"/>
          </a:xfrm>
          <a:prstGeom prst="roundRect">
            <a:avLst>
              <a:gd name="adj" fmla="val 5079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9" name="FOTO (reemplazar): Brasil"/>
          <p:cNvSpPr/>
          <p:nvPr/>
        </p:nvSpPr>
        <p:spPr>
          <a:xfrm>
            <a:off x="4286250" y="1190625"/>
            <a:ext cx="3600450" cy="1238250"/>
          </a:xfrm>
          <a:prstGeom prst="round2SameRect">
            <a:avLst>
              <a:gd name="adj" fmla="val 13292"/>
            </a:avLst>
          </a:prstGeom>
          <a:solidFill>
            <a:schemeClr val="tx2"/>
          </a:solidFill>
          <a:ln/>
        </p:spPr>
      </p:sp>
      <p:pic>
        <p:nvPicPr>
          <p:cNvPr id="20" name="Image 2" descr="Icono 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5975" y="1552575"/>
            <a:ext cx="381000" cy="3810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381500" y="2190750"/>
            <a:ext cx="3409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</a:t>
            </a:r>
            <a:endParaRPr lang="en-US" sz="800" dirty="0"/>
          </a:p>
        </p:txBody>
      </p:sp>
      <p:sp>
        <p:nvSpPr>
          <p:cNvPr id="22" name="Bandera Brasil"/>
          <p:cNvSpPr/>
          <p:nvPr/>
        </p:nvSpPr>
        <p:spPr>
          <a:xfrm>
            <a:off x="4476750" y="2628900"/>
            <a:ext cx="342900" cy="228600"/>
          </a:xfrm>
          <a:prstGeom prst="rect">
            <a:avLst/>
          </a:prstGeom>
          <a:solidFill>
            <a:srgbClr val="009C3B"/>
          </a:solidFill>
          <a:ln/>
        </p:spPr>
      </p:sp>
      <p:sp>
        <p:nvSpPr>
          <p:cNvPr id="23" name="Rombo"/>
          <p:cNvSpPr/>
          <p:nvPr/>
        </p:nvSpPr>
        <p:spPr>
          <a:xfrm>
            <a:off x="4533900" y="2667000"/>
            <a:ext cx="228600" cy="152400"/>
          </a:xfrm>
          <a:prstGeom prst="diamond">
            <a:avLst/>
          </a:prstGeom>
          <a:solidFill>
            <a:srgbClr val="FFDF00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4914900" y="2590800"/>
            <a:ext cx="2762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Brasil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4476750" y="291465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ANVISA · Sírio-Libanês / Albert Einstein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4476750" y="3162300"/>
            <a:ext cx="3238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99.9%</a:t>
            </a:r>
            <a:endParaRPr lang="en-US" sz="4000" dirty="0"/>
          </a:p>
        </p:txBody>
      </p:sp>
      <p:sp>
        <p:nvSpPr>
          <p:cNvPr id="27" name="Text 22"/>
          <p:cNvSpPr txBox="1"/>
          <p:nvPr/>
        </p:nvSpPr>
        <p:spPr>
          <a:xfrm>
            <a:off x="4476750" y="371475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trazabilidad en oncológicos y alto costo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4476750" y="4000500"/>
            <a:ext cx="3238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Farmacias hospitalarias automatizadas: dosis unitarias con GS1 DataMatrix e IA para control de dispensación robótica.</a:t>
            </a:r>
            <a:endParaRPr lang="en-US" sz="1100" dirty="0"/>
          </a:p>
        </p:txBody>
      </p:sp>
      <p:sp>
        <p:nvSpPr>
          <p:cNvPr id="29" name="Tarjeta"/>
          <p:cNvSpPr/>
          <p:nvPr/>
        </p:nvSpPr>
        <p:spPr>
          <a:xfrm>
            <a:off x="8115300" y="1190625"/>
            <a:ext cx="3600450" cy="4762500"/>
          </a:xfrm>
          <a:prstGeom prst="roundRect">
            <a:avLst>
              <a:gd name="adj" fmla="val 5079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30" name="FOTO (reemplazar): Colombia"/>
          <p:cNvSpPr/>
          <p:nvPr/>
        </p:nvSpPr>
        <p:spPr>
          <a:xfrm>
            <a:off x="8115300" y="1190625"/>
            <a:ext cx="3600450" cy="1238250"/>
          </a:xfrm>
          <a:prstGeom prst="round2SameRect">
            <a:avLst>
              <a:gd name="adj" fmla="val 13292"/>
            </a:avLst>
          </a:prstGeom>
          <a:solidFill>
            <a:schemeClr val="accent6"/>
          </a:solidFill>
          <a:ln/>
        </p:spPr>
      </p:sp>
      <p:pic>
        <p:nvPicPr>
          <p:cNvPr id="31" name="Image 3" descr="Icono Micr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5025" y="1552575"/>
            <a:ext cx="381000" cy="38100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210550" y="2190750"/>
            <a:ext cx="3409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</a:t>
            </a:r>
            <a:endParaRPr lang="en-US" sz="800" dirty="0"/>
          </a:p>
        </p:txBody>
      </p:sp>
      <p:sp>
        <p:nvSpPr>
          <p:cNvPr id="33" name="Bandera Colombia"/>
          <p:cNvSpPr/>
          <p:nvPr/>
        </p:nvSpPr>
        <p:spPr>
          <a:xfrm>
            <a:off x="8305800" y="2628900"/>
            <a:ext cx="342900" cy="114300"/>
          </a:xfrm>
          <a:prstGeom prst="rect">
            <a:avLst/>
          </a:prstGeom>
          <a:solidFill>
            <a:srgbClr val="FCD11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Bandera Colombia"/>
          <p:cNvSpPr/>
          <p:nvPr/>
        </p:nvSpPr>
        <p:spPr>
          <a:xfrm>
            <a:off x="8305800" y="2743200"/>
            <a:ext cx="342900" cy="57150"/>
          </a:xfrm>
          <a:prstGeom prst="rect">
            <a:avLst/>
          </a:prstGeom>
          <a:solidFill>
            <a:srgbClr val="003893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Bandera Colombia"/>
          <p:cNvSpPr/>
          <p:nvPr/>
        </p:nvSpPr>
        <p:spPr>
          <a:xfrm>
            <a:off x="8305800" y="2800350"/>
            <a:ext cx="342900" cy="57150"/>
          </a:xfrm>
          <a:prstGeom prst="rect">
            <a:avLst/>
          </a:prstGeom>
          <a:solidFill>
            <a:srgbClr val="CE112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8743950" y="2590800"/>
            <a:ext cx="2762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Colombia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8305800" y="291465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Pilotos GS1 Healthcare · Unidosis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8305800" y="3162300"/>
            <a:ext cx="3238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−40%</a:t>
            </a:r>
            <a:endParaRPr lang="en-US" sz="4000" dirty="0"/>
          </a:p>
        </p:txBody>
      </p:sp>
      <p:sp>
        <p:nvSpPr>
          <p:cNvPr id="39" name="Text 33"/>
          <p:cNvSpPr txBox="1"/>
          <p:nvPr/>
        </p:nvSpPr>
        <p:spPr>
          <a:xfrm>
            <a:off x="8305800" y="3714750"/>
            <a:ext cx="3238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discrepancias en órdenes de compra y facturación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8305800" y="4000500"/>
            <a:ext cx="3238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Catálogos electrónicos sincronizados (GDSN) entre laboratorios y clínicas privadas.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APLICACIÓN PRÁCTICA EN VENEZUELA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“Control Remoto QR” para el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sector salud</a:t>
            </a:r>
            <a:endParaRPr lang="en-US" sz="2600" dirty="0"/>
          </a:p>
        </p:txBody>
      </p:sp>
      <p:sp>
        <p:nvSpPr>
          <p:cNvPr id="4" name="Tarjeta"/>
          <p:cNvSpPr/>
          <p:nvPr/>
        </p:nvSpPr>
        <p:spPr>
          <a:xfrm>
            <a:off x="457200" y="1238250"/>
            <a:ext cx="3810000" cy="1314450"/>
          </a:xfrm>
          <a:prstGeom prst="roundRect">
            <a:avLst>
              <a:gd name="adj" fmla="val 13913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5" name="Insignia 1"/>
          <p:cNvSpPr/>
          <p:nvPr/>
        </p:nvSpPr>
        <p:spPr>
          <a:xfrm>
            <a:off x="628650" y="1409700"/>
            <a:ext cx="419100" cy="4191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8650" y="140970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1100" y="139065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Registra el GTIN 0759…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1100" y="1809750"/>
            <a:ext cx="2952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Vinculación automática con el catálogo de GS1 Venezuela.</a:t>
            </a:r>
            <a:endParaRPr lang="en-US" sz="1100" dirty="0"/>
          </a:p>
        </p:txBody>
      </p:sp>
      <p:sp>
        <p:nvSpPr>
          <p:cNvPr id="9" name="Tarjeta"/>
          <p:cNvSpPr/>
          <p:nvPr/>
        </p:nvSpPr>
        <p:spPr>
          <a:xfrm>
            <a:off x="457200" y="2686050"/>
            <a:ext cx="3810000" cy="1314450"/>
          </a:xfrm>
          <a:prstGeom prst="roundRect">
            <a:avLst>
              <a:gd name="adj" fmla="val 13913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0" name="Insignia 2"/>
          <p:cNvSpPr/>
          <p:nvPr/>
        </p:nvSpPr>
        <p:spPr>
          <a:xfrm>
            <a:off x="628650" y="2857500"/>
            <a:ext cx="419100" cy="4191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8650" y="285750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1100" y="283845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Configura la experiencia sanitaria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81100" y="3257550"/>
            <a:ext cx="2952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Redirección inteligente, landing page aprobada por dirección médica o Pasaporte Digital del Producto (DPP).</a:t>
            </a:r>
            <a:endParaRPr lang="en-US" sz="1100" dirty="0"/>
          </a:p>
        </p:txBody>
      </p:sp>
      <p:sp>
        <p:nvSpPr>
          <p:cNvPr id="14" name="Tarjeta"/>
          <p:cNvSpPr/>
          <p:nvPr/>
        </p:nvSpPr>
        <p:spPr>
          <a:xfrm>
            <a:off x="457200" y="4133850"/>
            <a:ext cx="3810000" cy="1314450"/>
          </a:xfrm>
          <a:prstGeom prst="roundRect">
            <a:avLst>
              <a:gd name="adj" fmla="val 13913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5" name="Insignia 3"/>
          <p:cNvSpPr/>
          <p:nvPr/>
        </p:nvSpPr>
        <p:spPr>
          <a:xfrm>
            <a:off x="628650" y="4305300"/>
            <a:ext cx="419100" cy="4191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8650" y="430530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1100" y="428625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Analítica en tiempo real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1100" y="4705350"/>
            <a:ext cx="2952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Escaneos por estado, tasa de verificación de autenticidad y grupos terapéuticos.</a:t>
            </a:r>
            <a:endParaRPr lang="en-US" sz="1100" dirty="0"/>
          </a:p>
        </p:txBody>
      </p:sp>
      <p:sp>
        <p:nvSpPr>
          <p:cNvPr id="19" name="Tarjeta"/>
          <p:cNvSpPr/>
          <p:nvPr/>
        </p:nvSpPr>
        <p:spPr>
          <a:xfrm>
            <a:off x="4572000" y="1190625"/>
            <a:ext cx="7162800" cy="4762500"/>
          </a:xfrm>
          <a:prstGeom prst="roundRect">
            <a:avLst>
              <a:gd name="adj" fmla="val 19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0" name="Barra navegador"/>
          <p:cNvSpPr/>
          <p:nvPr/>
        </p:nvSpPr>
        <p:spPr>
          <a:xfrm>
            <a:off x="4572000" y="1190625"/>
            <a:ext cx="7162800" cy="342900"/>
          </a:xfrm>
          <a:prstGeom prst="round2SameRect">
            <a:avLst>
              <a:gd name="adj" fmla="val 26667"/>
            </a:avLst>
          </a:prstGeom>
          <a:solidFill>
            <a:srgbClr val="F1F5F9"/>
          </a:solidFill>
          <a:ln/>
        </p:spPr>
      </p:sp>
      <p:sp>
        <p:nvSpPr>
          <p:cNvPr id="21" name="Botón ventana"/>
          <p:cNvSpPr/>
          <p:nvPr/>
        </p:nvSpPr>
        <p:spPr>
          <a:xfrm>
            <a:off x="4743450" y="1304925"/>
            <a:ext cx="114300" cy="1143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2" name="Botón ventana"/>
          <p:cNvSpPr/>
          <p:nvPr/>
        </p:nvSpPr>
        <p:spPr>
          <a:xfrm>
            <a:off x="4914900" y="1304925"/>
            <a:ext cx="114300" cy="11430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3" name="Botón ventana"/>
          <p:cNvSpPr/>
          <p:nvPr/>
        </p:nvSpPr>
        <p:spPr>
          <a:xfrm>
            <a:off x="5086350" y="1304925"/>
            <a:ext cx="114300" cy="1143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URL"/>
          <p:cNvSpPr/>
          <p:nvPr/>
        </p:nvSpPr>
        <p:spPr>
          <a:xfrm>
            <a:off x="5334000" y="1276350"/>
            <a:ext cx="1905000" cy="17145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34000" y="127635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app.gs1digitallink.lat</a:t>
            </a:r>
            <a:endParaRPr lang="en-US" sz="850" dirty="0"/>
          </a:p>
        </p:txBody>
      </p:sp>
      <p:sp>
        <p:nvSpPr>
          <p:cNvPr id="26" name="Tarjeta"/>
          <p:cNvSpPr/>
          <p:nvPr/>
        </p:nvSpPr>
        <p:spPr>
          <a:xfrm>
            <a:off x="4724400" y="1676400"/>
            <a:ext cx="1609725" cy="723900"/>
          </a:xfrm>
          <a:prstGeom prst="roundRect">
            <a:avLst>
              <a:gd name="adj" fmla="val 15158"/>
            </a:avLst>
          </a:prstGeom>
          <a:solidFill>
            <a:schemeClr val="tx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38700" y="1752600"/>
            <a:ext cx="14287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Escaneos totales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838700" y="1905000"/>
            <a:ext cx="1428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48.213</a:t>
            </a:r>
            <a:endParaRPr lang="en-US" sz="2200" dirty="0"/>
          </a:p>
        </p:txBody>
      </p:sp>
      <p:sp>
        <p:nvSpPr>
          <p:cNvPr id="29" name="Tarjeta"/>
          <p:cNvSpPr/>
          <p:nvPr/>
        </p:nvSpPr>
        <p:spPr>
          <a:xfrm>
            <a:off x="6448425" y="1676400"/>
            <a:ext cx="1609725" cy="723900"/>
          </a:xfrm>
          <a:prstGeom prst="roundRect">
            <a:avLst>
              <a:gd name="adj" fmla="val 15158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62725" y="1752600"/>
            <a:ext cx="14287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Verificados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562725" y="1905000"/>
            <a:ext cx="1428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100%</a:t>
            </a:r>
            <a:endParaRPr lang="en-US" sz="2200" dirty="0"/>
          </a:p>
        </p:txBody>
      </p:sp>
      <p:sp>
        <p:nvSpPr>
          <p:cNvPr id="32" name="Tarjeta"/>
          <p:cNvSpPr/>
          <p:nvPr/>
        </p:nvSpPr>
        <p:spPr>
          <a:xfrm>
            <a:off x="8172450" y="1676400"/>
            <a:ext cx="1609725" cy="723900"/>
          </a:xfrm>
          <a:prstGeom prst="roundRect">
            <a:avLst>
              <a:gd name="adj" fmla="val 15158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86750" y="1752600"/>
            <a:ext cx="14287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GTIN activos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86750" y="1905000"/>
            <a:ext cx="1428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126</a:t>
            </a:r>
            <a:endParaRPr lang="en-US" sz="2200" dirty="0"/>
          </a:p>
        </p:txBody>
      </p:sp>
      <p:sp>
        <p:nvSpPr>
          <p:cNvPr id="35" name="Tarjeta"/>
          <p:cNvSpPr/>
          <p:nvPr/>
        </p:nvSpPr>
        <p:spPr>
          <a:xfrm>
            <a:off x="9896475" y="1676400"/>
            <a:ext cx="1609725" cy="723900"/>
          </a:xfrm>
          <a:prstGeom prst="roundRect">
            <a:avLst>
              <a:gd name="adj" fmla="val 15158"/>
            </a:avLst>
          </a:prstGeom>
          <a:solidFill>
            <a:schemeClr val="bg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10775" y="1752600"/>
            <a:ext cx="14287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Alertas de lote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010775" y="1905000"/>
            <a:ext cx="1428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</a:t>
            </a:r>
            <a:endParaRPr lang="en-US" sz="2200" dirty="0"/>
          </a:p>
        </p:txBody>
      </p:sp>
      <p:sp>
        <p:nvSpPr>
          <p:cNvPr id="38" name="Tarjeta"/>
          <p:cNvSpPr/>
          <p:nvPr/>
        </p:nvSpPr>
        <p:spPr>
          <a:xfrm>
            <a:off x="4724400" y="2495550"/>
            <a:ext cx="4095750" cy="175260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57750" y="257175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Tendencia de escaneos (30 días)</a:t>
            </a:r>
            <a:endParaRPr lang="en-US" sz="10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4800600" y="2743200"/>
          <a:ext cx="3943350" cy="1447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arjeta"/>
          <p:cNvSpPr/>
          <p:nvPr/>
        </p:nvSpPr>
        <p:spPr>
          <a:xfrm>
            <a:off x="8934450" y="2495550"/>
            <a:ext cx="2647950" cy="175260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067800" y="2571750"/>
            <a:ext cx="2286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Escaneos por estado</a:t>
            </a:r>
            <a:endParaRPr lang="en-US" sz="1000" dirty="0"/>
          </a:p>
        </p:txBody>
      </p:sp>
      <p:graphicFrame>
        <p:nvGraphicFramePr>
          <p:cNvPr id="43" name="Chart 1" descr=""/>
          <p:cNvGraphicFramePr/>
          <p:nvPr/>
        </p:nvGraphicFramePr>
        <p:xfrm>
          <a:off x="9010650" y="2743200"/>
          <a:ext cx="2514600" cy="1447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4" name="Tarjeta"/>
          <p:cNvSpPr/>
          <p:nvPr/>
        </p:nvSpPr>
        <p:spPr>
          <a:xfrm>
            <a:off x="4724400" y="4362450"/>
            <a:ext cx="6858000" cy="9525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4857750" y="443865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Grupos terapéuticos</a:t>
            </a:r>
            <a:endParaRPr lang="en-US" sz="1000" dirty="0"/>
          </a:p>
        </p:txBody>
      </p:sp>
      <p:sp>
        <p:nvSpPr>
          <p:cNvPr id="46" name="Grupo Analgésicos"/>
          <p:cNvSpPr/>
          <p:nvPr/>
        </p:nvSpPr>
        <p:spPr>
          <a:xfrm>
            <a:off x="4857750" y="4705350"/>
            <a:ext cx="1562100" cy="457200"/>
          </a:xfrm>
          <a:prstGeom prst="roundRect">
            <a:avLst>
              <a:gd name="adj" fmla="val 30000"/>
            </a:avLst>
          </a:prstGeom>
          <a:solidFill>
            <a:srgbClr val="E0F4F9"/>
          </a:solidFill>
          <a:ln/>
        </p:spPr>
      </p:sp>
      <p:pic>
        <p:nvPicPr>
          <p:cNvPr id="47" name="Image 0" descr="Icono 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4838700"/>
            <a:ext cx="190500" cy="190500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5238750" y="470535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97B2"/>
                </a:solidFill>
              </a:rPr>
              <a:t>Analgésicos</a:t>
            </a:r>
            <a:endParaRPr lang="en-US" sz="1100" dirty="0"/>
          </a:p>
        </p:txBody>
      </p:sp>
      <p:sp>
        <p:nvSpPr>
          <p:cNvPr id="49" name="Grupo Antibióticos"/>
          <p:cNvSpPr/>
          <p:nvPr/>
        </p:nvSpPr>
        <p:spPr>
          <a:xfrm>
            <a:off x="6534150" y="4705350"/>
            <a:ext cx="1562100" cy="457200"/>
          </a:xfrm>
          <a:prstGeom prst="roundRect">
            <a:avLst>
              <a:gd name="adj" fmla="val 30000"/>
            </a:avLst>
          </a:prstGeom>
          <a:solidFill>
            <a:srgbClr val="FDE9E2"/>
          </a:solidFill>
          <a:ln/>
        </p:spPr>
      </p:sp>
      <p:pic>
        <p:nvPicPr>
          <p:cNvPr id="50" name="Image 1" descr="Icono B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450" y="4838700"/>
            <a:ext cx="190500" cy="190500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6915150" y="470535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334"/>
                </a:solidFill>
              </a:rPr>
              <a:t>Antibióticos</a:t>
            </a:r>
            <a:endParaRPr lang="en-US" sz="1100" dirty="0"/>
          </a:p>
        </p:txBody>
      </p:sp>
      <p:sp>
        <p:nvSpPr>
          <p:cNvPr id="52" name="Grupo Cadena de frío"/>
          <p:cNvSpPr/>
          <p:nvPr/>
        </p:nvSpPr>
        <p:spPr>
          <a:xfrm>
            <a:off x="8210550" y="4705350"/>
            <a:ext cx="1562100" cy="457200"/>
          </a:xfrm>
          <a:prstGeom prst="roundRect">
            <a:avLst>
              <a:gd name="adj" fmla="val 30000"/>
            </a:avLst>
          </a:prstGeom>
          <a:solidFill>
            <a:srgbClr val="E2E8F0"/>
          </a:solidFill>
          <a:ln/>
        </p:spPr>
      </p:sp>
      <p:pic>
        <p:nvPicPr>
          <p:cNvPr id="53" name="Image 2" descr="Icono 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4850" y="4838700"/>
            <a:ext cx="190500" cy="190500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8591550" y="470535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C6C"/>
                </a:solidFill>
              </a:rPr>
              <a:t>Cadena de frío</a:t>
            </a:r>
            <a:endParaRPr lang="en-US" sz="1100" dirty="0"/>
          </a:p>
        </p:txBody>
      </p:sp>
      <p:sp>
        <p:nvSpPr>
          <p:cNvPr id="55" name="Grupo Disp. médicos"/>
          <p:cNvSpPr/>
          <p:nvPr/>
        </p:nvSpPr>
        <p:spPr>
          <a:xfrm>
            <a:off x="9886950" y="4705350"/>
            <a:ext cx="1562100" cy="457200"/>
          </a:xfrm>
          <a:prstGeom prst="roundRect">
            <a:avLst>
              <a:gd name="adj" fmla="val 30000"/>
            </a:avLst>
          </a:prstGeom>
          <a:solidFill>
            <a:srgbClr val="D9F2F0"/>
          </a:solidFill>
          <a:ln/>
        </p:spPr>
      </p:sp>
      <p:pic>
        <p:nvPicPr>
          <p:cNvPr id="56" name="Image 3" descr="Icono Syrin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250" y="4838700"/>
            <a:ext cx="190500" cy="190500"/>
          </a:xfrm>
          <a:prstGeom prst="rect">
            <a:avLst/>
          </a:prstGeom>
        </p:spPr>
      </p:pic>
      <p:sp>
        <p:nvSpPr>
          <p:cNvPr id="57" name="Text 49"/>
          <p:cNvSpPr txBox="1"/>
          <p:nvPr/>
        </p:nvSpPr>
        <p:spPr>
          <a:xfrm>
            <a:off x="10267950" y="470535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A79D"/>
                </a:solidFill>
              </a:rPr>
              <a:t>Disp. médicos</a:t>
            </a:r>
            <a:endParaRPr lang="en-US" sz="1100" dirty="0"/>
          </a:p>
        </p:txBody>
      </p:sp>
      <p:sp>
        <p:nvSpPr>
          <p:cNvPr id="58" name="Text 50"/>
          <p:cNvSpPr txBox="1"/>
          <p:nvPr/>
        </p:nvSpPr>
        <p:spPr>
          <a:xfrm>
            <a:off x="4724400" y="5391150"/>
            <a:ext cx="3810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* Datos ilustrativos de maqueta.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GS1 NEWS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52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Novedades globales y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hoja de ruta 2026–2027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1500" y="2266950"/>
            <a:ext cx="11049000" cy="0"/>
          </a:xfrm>
          <a:prstGeom prst="line">
            <a:avLst/>
          </a:prstGeom>
          <a:noFill/>
          <a:ln w="38100">
            <a:solidFill>
              <a:srgbClr val="1CA9C9"/>
            </a:solidFill>
            <a:prstDash val="solid"/>
          </a:ln>
        </p:spPr>
      </p:sp>
      <p:sp>
        <p:nvSpPr>
          <p:cNvPr id="5" name="Tarjeta oscura"/>
          <p:cNvSpPr/>
          <p:nvPr/>
        </p:nvSpPr>
        <p:spPr>
          <a:xfrm>
            <a:off x="457200" y="2609850"/>
            <a:ext cx="2667000" cy="3238500"/>
          </a:xfrm>
          <a:prstGeom prst="roundRect">
            <a:avLst>
              <a:gd name="adj" fmla="val 61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Insignia 1"/>
          <p:cNvSpPr/>
          <p:nvPr/>
        </p:nvSpPr>
        <p:spPr>
          <a:xfrm>
            <a:off x="1600200" y="2076450"/>
            <a:ext cx="381000" cy="38100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00200" y="20764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pic>
        <p:nvPicPr>
          <p:cNvPr id="8" name="Image 0" descr="Icono 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700" y="2781300"/>
            <a:ext cx="304800" cy="304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7700" y="3181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Rumbo a GS1 Sunrise 2027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7700" y="369570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647700" y="41148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países en pilotos activos (88% del PIB mundial)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7700" y="4495800"/>
            <a:ext cx="2324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Puntos de venta y farmacias avanzan hacia la lectura nativa de códigos 2D.</a:t>
            </a:r>
            <a:endParaRPr lang="en-US" sz="1100" dirty="0"/>
          </a:p>
        </p:txBody>
      </p:sp>
      <p:sp>
        <p:nvSpPr>
          <p:cNvPr id="13" name="Tarjeta oscura"/>
          <p:cNvSpPr/>
          <p:nvPr/>
        </p:nvSpPr>
        <p:spPr>
          <a:xfrm>
            <a:off x="3327368" y="2609850"/>
            <a:ext cx="2667000" cy="3238500"/>
          </a:xfrm>
          <a:prstGeom prst="roundRect">
            <a:avLst>
              <a:gd name="adj" fmla="val 61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4" name="Insignia 2"/>
          <p:cNvSpPr/>
          <p:nvPr/>
        </p:nvSpPr>
        <p:spPr>
          <a:xfrm>
            <a:off x="4470368" y="2076450"/>
            <a:ext cx="381000" cy="38100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70368" y="20764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pic>
        <p:nvPicPr>
          <p:cNvPr id="16" name="Image 1" descr="Icono 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7868" y="2781300"/>
            <a:ext cx="304800" cy="3048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17868" y="3181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Plataforma GS1 Digital Link Latam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517868" y="36957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Disponible para afiliados de GS1 Venezuela.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517868" y="4095750"/>
            <a:ext cx="23241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app.gs1digitallink.lat</a:t>
            </a:r>
            <a:endParaRPr lang="en-US" sz="950" dirty="0"/>
          </a:p>
        </p:txBody>
      </p:sp>
      <p:sp>
        <p:nvSpPr>
          <p:cNvPr id="20" name="Formato SVG"/>
          <p:cNvSpPr/>
          <p:nvPr/>
        </p:nvSpPr>
        <p:spPr>
          <a:xfrm>
            <a:off x="3517868" y="4343400"/>
            <a:ext cx="438150" cy="228600"/>
          </a:xfrm>
          <a:prstGeom prst="roundRect">
            <a:avLst>
              <a:gd name="adj" fmla="val 4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517868" y="4343400"/>
            <a:ext cx="43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SVG</a:t>
            </a:r>
            <a:endParaRPr lang="en-US" sz="950" dirty="0"/>
          </a:p>
        </p:txBody>
      </p:sp>
      <p:sp>
        <p:nvSpPr>
          <p:cNvPr id="22" name="Formato PNG"/>
          <p:cNvSpPr/>
          <p:nvPr/>
        </p:nvSpPr>
        <p:spPr>
          <a:xfrm>
            <a:off x="4032218" y="4343400"/>
            <a:ext cx="438150" cy="228600"/>
          </a:xfrm>
          <a:prstGeom prst="roundRect">
            <a:avLst>
              <a:gd name="adj" fmla="val 4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032218" y="4343400"/>
            <a:ext cx="43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PNG</a:t>
            </a:r>
            <a:endParaRPr lang="en-US" sz="950" dirty="0"/>
          </a:p>
        </p:txBody>
      </p:sp>
      <p:sp>
        <p:nvSpPr>
          <p:cNvPr id="24" name="Formato PDF"/>
          <p:cNvSpPr/>
          <p:nvPr/>
        </p:nvSpPr>
        <p:spPr>
          <a:xfrm>
            <a:off x="4546568" y="4343400"/>
            <a:ext cx="438150" cy="228600"/>
          </a:xfrm>
          <a:prstGeom prst="roundRect">
            <a:avLst>
              <a:gd name="adj" fmla="val 4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546568" y="4343400"/>
            <a:ext cx="43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950" dirty="0"/>
          </a:p>
        </p:txBody>
      </p:sp>
      <p:sp>
        <p:nvSpPr>
          <p:cNvPr id="26" name="Formato EPS"/>
          <p:cNvSpPr/>
          <p:nvPr/>
        </p:nvSpPr>
        <p:spPr>
          <a:xfrm>
            <a:off x="5060918" y="4343400"/>
            <a:ext cx="438150" cy="228600"/>
          </a:xfrm>
          <a:prstGeom prst="roundRect">
            <a:avLst>
              <a:gd name="adj" fmla="val 4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060918" y="4343400"/>
            <a:ext cx="43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3517868" y="4686300"/>
            <a:ext cx="2324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Arte para QR Digital Link y GS1 DataMatrix.</a:t>
            </a:r>
            <a:endParaRPr lang="en-US" sz="1100" dirty="0"/>
          </a:p>
        </p:txBody>
      </p:sp>
      <p:sp>
        <p:nvSpPr>
          <p:cNvPr id="29" name="Tarjeta oscura"/>
          <p:cNvSpPr/>
          <p:nvPr/>
        </p:nvSpPr>
        <p:spPr>
          <a:xfrm>
            <a:off x="6197537" y="2609850"/>
            <a:ext cx="2667000" cy="3238500"/>
          </a:xfrm>
          <a:prstGeom prst="roundRect">
            <a:avLst>
              <a:gd name="adj" fmla="val 61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0" name="Insignia 3"/>
          <p:cNvSpPr/>
          <p:nvPr/>
        </p:nvSpPr>
        <p:spPr>
          <a:xfrm>
            <a:off x="7340537" y="2076450"/>
            <a:ext cx="381000" cy="381000"/>
          </a:xfrm>
          <a:prstGeom prst="ellipse">
            <a:avLst/>
          </a:prstGeom>
          <a:solidFill>
            <a:srgbClr val="00A79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340537" y="20764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pic>
        <p:nvPicPr>
          <p:cNvPr id="32" name="Image 2" descr="Icono Share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36" y="2781300"/>
            <a:ext cx="304800" cy="3048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388036" y="3181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EPCIS 2.0 e interoperabilidad con IA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6388036" y="3695700"/>
            <a:ext cx="2324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Nuevo estándar global para compartir eventos de visibilidad en cadenas de suministro de salud con máxima ciberseguridad.</a:t>
            </a:r>
            <a:endParaRPr lang="en-US" sz="1100" dirty="0"/>
          </a:p>
        </p:txBody>
      </p:sp>
      <p:sp>
        <p:nvSpPr>
          <p:cNvPr id="35" name="Tarjeta oscura"/>
          <p:cNvSpPr/>
          <p:nvPr/>
        </p:nvSpPr>
        <p:spPr>
          <a:xfrm>
            <a:off x="9067705" y="2609850"/>
            <a:ext cx="2667000" cy="3238500"/>
          </a:xfrm>
          <a:prstGeom prst="roundRect">
            <a:avLst>
              <a:gd name="adj" fmla="val 617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6" name="Insignia 4"/>
          <p:cNvSpPr/>
          <p:nvPr/>
        </p:nvSpPr>
        <p:spPr>
          <a:xfrm>
            <a:off x="10210705" y="2076450"/>
            <a:ext cx="381000" cy="38100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10210705" y="20764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pic>
        <p:nvPicPr>
          <p:cNvPr id="38" name="Image 3" descr="Icono 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205" y="2781300"/>
            <a:ext cx="304800" cy="3048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258205" y="3181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Formación y acompañamiento técnico</a:t>
            </a:r>
            <a:endParaRPr lang="en-US" sz="1300" dirty="0"/>
          </a:p>
        </p:txBody>
      </p:sp>
      <p:sp>
        <p:nvSpPr>
          <p:cNvPr id="40" name="Text 34"/>
          <p:cNvSpPr txBox="1"/>
          <p:nvPr/>
        </p:nvSpPr>
        <p:spPr>
          <a:xfrm>
            <a:off x="9258205" y="3695700"/>
            <a:ext cx="2324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Consultoría del Departamento de Estándares de GS1 Venezuela para adecuar líneas de empaque y catalogación.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667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MESA DE TRABAJO DEL COMITÉ SALUD GS1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495300"/>
            <a:ext cx="9144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Ronda </a:t>
            </a:r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Abierta</a:t>
            </a:r>
            <a:endParaRPr lang="en-US" sz="2600" dirty="0"/>
          </a:p>
        </p:txBody>
      </p:sp>
      <p:sp>
        <p:nvSpPr>
          <p:cNvPr id="4" name="FOTO (reemplazar): comité"/>
          <p:cNvSpPr/>
          <p:nvPr/>
        </p:nvSpPr>
        <p:spPr>
          <a:xfrm>
            <a:off x="9715500" y="323850"/>
            <a:ext cx="1181100" cy="1181100"/>
          </a:xfrm>
          <a:prstGeom prst="ellipse">
            <a:avLst/>
          </a:prstGeom>
          <a:solidFill>
            <a:schemeClr val="accent6"/>
          </a:solidFill>
          <a:ln w="635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5" name="Image 0" descr="Icono 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1641" y="689991"/>
            <a:ext cx="448818" cy="448818"/>
          </a:xfrm>
          <a:prstGeom prst="rect">
            <a:avLst/>
          </a:prstGeom>
        </p:spPr>
      </p:pic>
      <p:sp>
        <p:nvSpPr>
          <p:cNvPr id="6" name="Etiqueta foto"/>
          <p:cNvSpPr txBox="1"/>
          <p:nvPr/>
        </p:nvSpPr>
        <p:spPr>
          <a:xfrm>
            <a:off x="9791700" y="1257300"/>
            <a:ext cx="10287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Insertar foto: comité</a:t>
            </a:r>
            <a:endParaRPr lang="en-US" sz="800" dirty="0"/>
          </a:p>
        </p:txBody>
      </p:sp>
      <p:sp>
        <p:nvSpPr>
          <p:cNvPr id="7" name="Tarjeta"/>
          <p:cNvSpPr/>
          <p:nvPr/>
        </p:nvSpPr>
        <p:spPr>
          <a:xfrm>
            <a:off x="457200" y="1676400"/>
            <a:ext cx="5505450" cy="1962150"/>
          </a:xfrm>
          <a:prstGeom prst="roundRect">
            <a:avLst>
              <a:gd name="adj" fmla="val 93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8" name="Insignia 1"/>
          <p:cNvSpPr/>
          <p:nvPr/>
        </p:nvSpPr>
        <p:spPr>
          <a:xfrm>
            <a:off x="666750" y="1885950"/>
            <a:ext cx="476250" cy="476250"/>
          </a:xfrm>
          <a:prstGeom prst="ellipse">
            <a:avLst/>
          </a:prstGeom>
          <a:solidFill>
            <a:srgbClr val="002C6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6750" y="188595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314450" y="18859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Retos en empaque primario y secundario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314450" y="2476500"/>
            <a:ext cx="438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¿Cómo preparan los laboratorios nacionales sus líneas de impresión para códigos 2D variables (lote / vencimiento)?</a:t>
            </a:r>
            <a:endParaRPr lang="en-US" sz="1250" dirty="0"/>
          </a:p>
        </p:txBody>
      </p:sp>
      <p:sp>
        <p:nvSpPr>
          <p:cNvPr id="12" name="Tarjeta"/>
          <p:cNvSpPr/>
          <p:nvPr/>
        </p:nvSpPr>
        <p:spPr>
          <a:xfrm>
            <a:off x="6229350" y="1676400"/>
            <a:ext cx="5505450" cy="1962150"/>
          </a:xfrm>
          <a:prstGeom prst="roundRect">
            <a:avLst>
              <a:gd name="adj" fmla="val 93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3" name="Insignia 2"/>
          <p:cNvSpPr/>
          <p:nvPr/>
        </p:nvSpPr>
        <p:spPr>
          <a:xfrm>
            <a:off x="6438900" y="1885950"/>
            <a:ext cx="476250" cy="476250"/>
          </a:xfrm>
          <a:prstGeom prst="ellipse">
            <a:avLst/>
          </a:prstGeom>
          <a:solidFill>
            <a:srgbClr val="1CA9C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8900" y="188595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18859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Integración con farmacias y clínicas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086600" y="2476500"/>
            <a:ext cx="438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Homologación de lectores ópticos 2D y de sistemas ERP / HIS en Venezuela.</a:t>
            </a:r>
            <a:endParaRPr lang="en-US" sz="1250" dirty="0"/>
          </a:p>
        </p:txBody>
      </p:sp>
      <p:sp>
        <p:nvSpPr>
          <p:cNvPr id="17" name="Tarjeta"/>
          <p:cNvSpPr/>
          <p:nvPr/>
        </p:nvSpPr>
        <p:spPr>
          <a:xfrm>
            <a:off x="457200" y="3829050"/>
            <a:ext cx="5505450" cy="1962150"/>
          </a:xfrm>
          <a:prstGeom prst="roundRect">
            <a:avLst>
              <a:gd name="adj" fmla="val 93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18" name="Insignia 3"/>
          <p:cNvSpPr/>
          <p:nvPr/>
        </p:nvSpPr>
        <p:spPr>
          <a:xfrm>
            <a:off x="666750" y="4038600"/>
            <a:ext cx="476250" cy="476250"/>
          </a:xfrm>
          <a:prstGeom prst="ellipse">
            <a:avLst/>
          </a:prstGeom>
          <a:solidFill>
            <a:srgbClr val="F2633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6750" y="40386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314450" y="40386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Educación al médico y al paciente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314450" y="4629150"/>
            <a:ext cx="438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Estrategias conjuntas para impulsar el escaneo de verificación de autenticidad y la lectura del prospecto digital.</a:t>
            </a:r>
            <a:endParaRPr lang="en-US" sz="1250" dirty="0"/>
          </a:p>
        </p:txBody>
      </p:sp>
      <p:sp>
        <p:nvSpPr>
          <p:cNvPr id="22" name="Tarjeta"/>
          <p:cNvSpPr/>
          <p:nvPr/>
        </p:nvSpPr>
        <p:spPr>
          <a:xfrm>
            <a:off x="6229350" y="3829050"/>
            <a:ext cx="5505450" cy="1962150"/>
          </a:xfrm>
          <a:prstGeom prst="roundRect">
            <a:avLst>
              <a:gd name="adj" fmla="val 932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sp>
        <p:nvSpPr>
          <p:cNvPr id="23" name="Insignia 4"/>
          <p:cNvSpPr/>
          <p:nvPr/>
        </p:nvSpPr>
        <p:spPr>
          <a:xfrm>
            <a:off x="6438900" y="4038600"/>
            <a:ext cx="476250" cy="476250"/>
          </a:xfrm>
          <a:prstGeom prst="ellipse">
            <a:avLst/>
          </a:prstGeom>
          <a:solidFill>
            <a:srgbClr val="00A79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8900" y="40386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086600" y="40386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Próximos pilotos 2026–2027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629150"/>
            <a:ext cx="438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Definición de las mesas técnicas de trabajo del Comité Salud.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4250" y="6515100"/>
            <a:ext cx="5715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6334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ndas corporativ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go GS1 Venezue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23850"/>
            <a:ext cx="1905000" cy="533400"/>
          </a:xfrm>
          <a:prstGeom prst="rect">
            <a:avLst/>
          </a:prstGeom>
        </p:spPr>
      </p:pic>
      <p:sp>
        <p:nvSpPr>
          <p:cNvPr id="4" name="Título"/>
          <p:cNvSpPr txBox="1"/>
          <p:nvPr/>
        </p:nvSpPr>
        <p:spPr>
          <a:xfrm>
            <a:off x="4953000" y="990600"/>
            <a:ext cx="685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Únete al </a:t>
            </a:r>
            <a:pPr algn="l" indent="0" marL="0">
              <a:buNone/>
            </a:pPr>
            <a:r>
              <a:rPr lang="en-US" sz="3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Comité Salud GS1</a:t>
            </a:r>
            <a:endParaRPr lang="en-US" sz="3300" dirty="0"/>
          </a:p>
        </p:txBody>
      </p:sp>
      <p:sp>
        <p:nvSpPr>
          <p:cNvPr id="5" name="Text 1"/>
          <p:cNvSpPr txBox="1"/>
          <p:nvPr/>
        </p:nvSpPr>
        <p:spPr>
          <a:xfrm>
            <a:off x="4953000" y="1562100"/>
            <a:ext cx="666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Solicita tu acceso a la plataforma Digital Link.</a:t>
            </a:r>
            <a:endParaRPr lang="en-US" sz="1250" dirty="0"/>
          </a:p>
        </p:txBody>
      </p:sp>
      <p:sp>
        <p:nvSpPr>
          <p:cNvPr id="6" name="Tarjeta"/>
          <p:cNvSpPr/>
          <p:nvPr/>
        </p:nvSpPr>
        <p:spPr>
          <a:xfrm>
            <a:off x="1238250" y="2381250"/>
            <a:ext cx="2857500" cy="28575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7" name="Image 2" descr="Código QR ilustrativ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850" y="2609850"/>
            <a:ext cx="2400300" cy="240030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123950" y="2266950"/>
            <a:ext cx="419100" cy="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123950" y="2266950"/>
            <a:ext cx="0" cy="41910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790950" y="2266950"/>
            <a:ext cx="419100" cy="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4210050" y="2266950"/>
            <a:ext cx="0" cy="41910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3950" y="5353050"/>
            <a:ext cx="419100" cy="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23950" y="4933950"/>
            <a:ext cx="0" cy="419100"/>
          </a:xfrm>
          <a:prstGeom prst="line">
            <a:avLst/>
          </a:prstGeom>
          <a:noFill/>
          <a:ln w="63500">
            <a:solidFill>
              <a:srgbClr val="1CA9C9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790950" y="5353050"/>
            <a:ext cx="419100" cy="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210050" y="4933950"/>
            <a:ext cx="0" cy="419100"/>
          </a:xfrm>
          <a:prstGeom prst="line">
            <a:avLst/>
          </a:prstGeom>
          <a:noFill/>
          <a:ln w="63500">
            <a:solidFill>
              <a:srgbClr val="002C6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238250" y="5562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ESCANEA · SOLICITA ACCESO</a:t>
            </a:r>
            <a:endParaRPr lang="en-US" sz="900" dirty="0"/>
          </a:p>
        </p:txBody>
      </p:sp>
      <p:sp>
        <p:nvSpPr>
          <p:cNvPr id="17" name="Tarjeta"/>
          <p:cNvSpPr/>
          <p:nvPr/>
        </p:nvSpPr>
        <p:spPr>
          <a:xfrm>
            <a:off x="4953000" y="2038350"/>
            <a:ext cx="6781800" cy="552450"/>
          </a:xfrm>
          <a:prstGeom prst="roundRect">
            <a:avLst>
              <a:gd name="adj" fmla="val 4965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18" name="Image 3" descr="Icono MapP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2209800"/>
            <a:ext cx="209550" cy="2095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86400" y="2038350"/>
            <a:ext cx="6096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Oficina GS1 Venezuela. 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Los Ruices, Calle Los Laboratorios, Edf. Quorum, Piso 1, Oficina K, Caracas, Venezuela.</a:t>
            </a:r>
            <a:endParaRPr lang="en-US" sz="1150" dirty="0"/>
          </a:p>
        </p:txBody>
      </p:sp>
      <p:sp>
        <p:nvSpPr>
          <p:cNvPr id="20" name="Tarjeta"/>
          <p:cNvSpPr/>
          <p:nvPr/>
        </p:nvSpPr>
        <p:spPr>
          <a:xfrm>
            <a:off x="4953000" y="2724150"/>
            <a:ext cx="6781800" cy="419100"/>
          </a:xfrm>
          <a:prstGeom prst="roundRect">
            <a:avLst>
              <a:gd name="adj" fmla="val 6545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1" name="Image 4" descr="Icono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0" y="2828925"/>
            <a:ext cx="209550" cy="20955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86400" y="27241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+58 414-2771877  /  +58 412-628-3276</a:t>
            </a:r>
            <a:endParaRPr lang="en-US" sz="1100" dirty="0"/>
          </a:p>
        </p:txBody>
      </p:sp>
      <p:sp>
        <p:nvSpPr>
          <p:cNvPr id="23" name="Tarjeta"/>
          <p:cNvSpPr/>
          <p:nvPr/>
        </p:nvSpPr>
        <p:spPr>
          <a:xfrm>
            <a:off x="4953000" y="3276600"/>
            <a:ext cx="6781800" cy="628650"/>
          </a:xfrm>
          <a:prstGeom prst="roundRect">
            <a:avLst>
              <a:gd name="adj" fmla="val 43636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4" name="Image 5" descr="Icono 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3486150"/>
            <a:ext cx="209550" cy="20955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486400" y="32766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Solicituddecodigo@gs1ve.org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Glabrador@gs1ve.org · Acastro@gs1ve.org</a:t>
            </a:r>
            <a:endParaRPr lang="en-US" sz="1100" dirty="0"/>
          </a:p>
        </p:txBody>
      </p:sp>
      <p:sp>
        <p:nvSpPr>
          <p:cNvPr id="26" name="Tarjeta"/>
          <p:cNvSpPr/>
          <p:nvPr/>
        </p:nvSpPr>
        <p:spPr>
          <a:xfrm>
            <a:off x="4953000" y="4038600"/>
            <a:ext cx="6781800" cy="419100"/>
          </a:xfrm>
          <a:prstGeom prst="roundRect">
            <a:avLst>
              <a:gd name="adj" fmla="val 6545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1E3A8A">
                <a:alpha val="14000"/>
              </a:srgbClr>
            </a:outerShdw>
          </a:effectLst>
        </p:spPr>
      </p:sp>
      <p:pic>
        <p:nvPicPr>
          <p:cNvPr id="27" name="Image 6" descr="Icono Glob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0" y="4143375"/>
            <a:ext cx="209550" cy="20955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40386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www.gs1ve.org  ·  Instagram @GS1Venezuela  ·  RIF J-00336360-0</a:t>
            </a:r>
            <a:endParaRPr lang="en-US" sz="1150" dirty="0"/>
          </a:p>
        </p:txBody>
      </p:sp>
      <p:sp>
        <p:nvSpPr>
          <p:cNvPr id="29" name="Text 20"/>
          <p:cNvSpPr txBox="1"/>
          <p:nvPr/>
        </p:nvSpPr>
        <p:spPr>
          <a:xfrm>
            <a:off x="4953000" y="51435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Datos estándar, </a:t>
            </a:r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decisiones seguras.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S1 Healthcare">
  <a:themeElements>
    <a:clrScheme name="GS1 Healthcare">
      <a:dk1>
        <a:srgbClr val="0B132B"/>
      </a:dk1>
      <a:lt1>
        <a:srgbClr val="FFFFFF"/>
      </a:lt1>
      <a:dk2>
        <a:srgbClr val="002C6C"/>
      </a:dk2>
      <a:lt2>
        <a:srgbClr val="F8FAFC"/>
      </a:lt2>
      <a:accent1>
        <a:srgbClr val="1CA9C9"/>
      </a:accent1>
      <a:accent2>
        <a:srgbClr val="F26334"/>
      </a:accent2>
      <a:accent3>
        <a:srgbClr val="00A79D"/>
      </a:accent3>
      <a:accent4>
        <a:srgbClr val="10B981"/>
      </a:accent4>
      <a:accent5>
        <a:srgbClr val="EF4444"/>
      </a:accent5>
      <a:accent6>
        <a:srgbClr val="0097B2"/>
      </a:accent6>
      <a:hlink>
        <a:srgbClr val="0097B2"/>
      </a:hlink>
      <a:folHlink>
        <a:srgbClr val="002C6C"/>
      </a:folHlink>
    </a:clrScheme>
    <a:fontScheme name="GS1 Healthcar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GS1 Venezuela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Salud GS1</dc:title>
  <dc:subject>PptxGenJS Presentation</dc:subject>
  <dc:creator>GS1 Venezuela</dc:creator>
  <cp:lastModifiedBy>GS1 Venezuela</cp:lastModifiedBy>
  <cp:revision>1</cp:revision>
  <dcterms:created xsi:type="dcterms:W3CDTF">2026-10-29T13:58:47Z</dcterms:created>
  <dcterms:modified xsi:type="dcterms:W3CDTF">2026-10-29T13:58:47Z</dcterms:modified>
</cp:coreProperties>
</file>